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62"/>
  </p:notesMasterIdLst>
  <p:handoutMasterIdLst>
    <p:handoutMasterId r:id="rId63"/>
  </p:handoutMasterIdLst>
  <p:sldIdLst>
    <p:sldId id="374" r:id="rId2"/>
    <p:sldId id="677" r:id="rId3"/>
    <p:sldId id="678" r:id="rId4"/>
    <p:sldId id="679" r:id="rId5"/>
    <p:sldId id="680" r:id="rId6"/>
    <p:sldId id="681" r:id="rId7"/>
    <p:sldId id="682" r:id="rId8"/>
    <p:sldId id="683" r:id="rId9"/>
    <p:sldId id="684" r:id="rId10"/>
    <p:sldId id="691" r:id="rId11"/>
    <p:sldId id="685" r:id="rId12"/>
    <p:sldId id="686" r:id="rId13"/>
    <p:sldId id="687" r:id="rId14"/>
    <p:sldId id="688" r:id="rId15"/>
    <p:sldId id="689" r:id="rId16"/>
    <p:sldId id="690" r:id="rId17"/>
    <p:sldId id="635" r:id="rId18"/>
    <p:sldId id="695" r:id="rId19"/>
    <p:sldId id="654" r:id="rId20"/>
    <p:sldId id="655" r:id="rId21"/>
    <p:sldId id="656" r:id="rId22"/>
    <p:sldId id="658" r:id="rId23"/>
    <p:sldId id="659" r:id="rId24"/>
    <p:sldId id="660" r:id="rId25"/>
    <p:sldId id="696" r:id="rId26"/>
    <p:sldId id="697" r:id="rId27"/>
    <p:sldId id="698" r:id="rId28"/>
    <p:sldId id="699" r:id="rId29"/>
    <p:sldId id="700" r:id="rId30"/>
    <p:sldId id="664" r:id="rId31"/>
    <p:sldId id="665" r:id="rId32"/>
    <p:sldId id="666" r:id="rId33"/>
    <p:sldId id="667" r:id="rId34"/>
    <p:sldId id="670" r:id="rId35"/>
    <p:sldId id="701" r:id="rId36"/>
    <p:sldId id="702" r:id="rId37"/>
    <p:sldId id="675" r:id="rId38"/>
    <p:sldId id="703" r:id="rId39"/>
    <p:sldId id="676" r:id="rId40"/>
    <p:sldId id="704" r:id="rId41"/>
    <p:sldId id="705" r:id="rId42"/>
    <p:sldId id="706" r:id="rId43"/>
    <p:sldId id="707" r:id="rId44"/>
    <p:sldId id="708" r:id="rId45"/>
    <p:sldId id="709" r:id="rId46"/>
    <p:sldId id="710" r:id="rId47"/>
    <p:sldId id="711" r:id="rId48"/>
    <p:sldId id="712" r:id="rId49"/>
    <p:sldId id="713" r:id="rId50"/>
    <p:sldId id="714" r:id="rId51"/>
    <p:sldId id="715" r:id="rId52"/>
    <p:sldId id="716" r:id="rId53"/>
    <p:sldId id="717" r:id="rId54"/>
    <p:sldId id="718" r:id="rId55"/>
    <p:sldId id="719" r:id="rId56"/>
    <p:sldId id="720" r:id="rId57"/>
    <p:sldId id="721" r:id="rId58"/>
    <p:sldId id="722" r:id="rId59"/>
    <p:sldId id="723" r:id="rId60"/>
    <p:sldId id="724" r:id="rId61"/>
  </p:sldIdLst>
  <p:sldSz cx="9906000" cy="6858000" type="A4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Clr>
        <a:schemeClr val="tx1"/>
      </a:buClr>
      <a:buFont typeface="Wingdings" pitchFamily="2" charset="2"/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urier New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18">
          <p15:clr>
            <a:srgbClr val="A4A3A4"/>
          </p15:clr>
        </p15:guide>
        <p15:guide id="2" pos="1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FF99"/>
    <a:srgbClr val="FFFFCC"/>
    <a:srgbClr val="FF9966"/>
    <a:srgbClr val="CCFFCC"/>
    <a:srgbClr val="FF7C80"/>
    <a:srgbClr val="99FF66"/>
    <a:srgbClr val="FFCC99"/>
    <a:srgbClr val="CC33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7" autoAdjust="0"/>
    <p:restoredTop sz="74975" autoAdjust="0"/>
  </p:normalViewPr>
  <p:slideViewPr>
    <p:cSldViewPr snapToGrid="0">
      <p:cViewPr varScale="1">
        <p:scale>
          <a:sx n="84" d="100"/>
          <a:sy n="84" d="100"/>
        </p:scale>
        <p:origin x="2118" y="90"/>
      </p:cViewPr>
      <p:guideLst>
        <p:guide orient="horz" pos="1318"/>
        <p:guide pos="180"/>
      </p:guideLst>
    </p:cSldViewPr>
  </p:slideViewPr>
  <p:outlineViewPr>
    <p:cViewPr>
      <p:scale>
        <a:sx n="33" d="100"/>
        <a:sy n="33" d="100"/>
      </p:scale>
      <p:origin x="0" y="80436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66" d="100"/>
          <a:sy n="66" d="100"/>
        </p:scale>
        <p:origin x="-2304" y="-330"/>
      </p:cViewPr>
      <p:guideLst>
        <p:guide orient="horz" pos="3224"/>
        <p:guide pos="22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5" tIns="48142" rIns="96285" bIns="48142" numCol="1" anchor="t" anchorCtr="0" compatLnSpc="1">
            <a:prstTxWarp prst="textNoShape">
              <a:avLst/>
            </a:prstTxWarp>
          </a:bodyPr>
          <a:lstStyle>
            <a:lvl1pPr defTabSz="962025">
              <a:buClrTx/>
              <a:buFontTx/>
              <a:buNone/>
              <a:defRPr sz="1300" smtClean="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5" tIns="48142" rIns="96285" bIns="48142" numCol="1" anchor="t" anchorCtr="0" compatLnSpc="1">
            <a:prstTxWarp prst="textNoShape">
              <a:avLst/>
            </a:prstTxWarp>
          </a:bodyPr>
          <a:lstStyle>
            <a:lvl1pPr algn="r" defTabSz="962025">
              <a:buClrTx/>
              <a:buFontTx/>
              <a:buNone/>
              <a:defRPr sz="1300" smtClean="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5" tIns="48142" rIns="96285" bIns="48142" numCol="1" anchor="b" anchorCtr="0" compatLnSpc="1">
            <a:prstTxWarp prst="textNoShape">
              <a:avLst/>
            </a:prstTxWarp>
          </a:bodyPr>
          <a:lstStyle>
            <a:lvl1pPr defTabSz="962025">
              <a:buClrTx/>
              <a:buFontTx/>
              <a:buNone/>
              <a:defRPr sz="1300" smtClean="0">
                <a:latin typeface="Times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285" tIns="48142" rIns="96285" bIns="48142" numCol="1" anchor="b" anchorCtr="0" compatLnSpc="1">
            <a:prstTxWarp prst="textNoShape">
              <a:avLst/>
            </a:prstTxWarp>
          </a:bodyPr>
          <a:lstStyle>
            <a:lvl1pPr algn="r" defTabSz="962025">
              <a:buClrTx/>
              <a:buFontTx/>
              <a:buNone/>
              <a:defRPr sz="1300" smtClean="0">
                <a:latin typeface="Times" charset="0"/>
              </a:defRPr>
            </a:lvl1pPr>
          </a:lstStyle>
          <a:p>
            <a:pPr>
              <a:defRPr/>
            </a:pPr>
            <a:fld id="{BAD3F0AD-45F5-4D7F-980A-98F9C1364F7F}" type="slidenum">
              <a:rPr lang="en-US" altLang="en-US"/>
              <a:pPr>
                <a:defRPr/>
              </a:pPr>
              <a:t>‹Nr.›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13997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ctr" anchorCtr="0" compatLnSpc="1">
            <a:prstTxWarp prst="textNoShape">
              <a:avLst/>
            </a:prstTxWarp>
          </a:bodyPr>
          <a:lstStyle>
            <a:lvl1pPr defTabSz="962025">
              <a:spcBef>
                <a:spcPct val="50000"/>
              </a:spcBef>
              <a:buClr>
                <a:srgbClr val="6699FF"/>
              </a:buClr>
              <a:buFont typeface="Zapf Dingbats" charset="2"/>
              <a:buChar char="n"/>
              <a:defRPr sz="1300" b="1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ctr" anchorCtr="0" compatLnSpc="1">
            <a:prstTxWarp prst="textNoShape">
              <a:avLst/>
            </a:prstTxWarp>
          </a:bodyPr>
          <a:lstStyle>
            <a:lvl1pPr algn="r" defTabSz="962025">
              <a:spcBef>
                <a:spcPct val="50000"/>
              </a:spcBef>
              <a:buClr>
                <a:srgbClr val="6699FF"/>
              </a:buClr>
              <a:buFont typeface="Zapf Dingbats" charset="2"/>
              <a:buChar char="n"/>
              <a:defRPr sz="1300" b="1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9463" y="768350"/>
            <a:ext cx="5541962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87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104900" y="5116513"/>
            <a:ext cx="5203825" cy="43497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b" anchorCtr="0" compatLnSpc="1">
            <a:prstTxWarp prst="textNoShape">
              <a:avLst/>
            </a:prstTxWarp>
          </a:bodyPr>
          <a:lstStyle>
            <a:lvl1pPr defTabSz="962025">
              <a:spcBef>
                <a:spcPct val="50000"/>
              </a:spcBef>
              <a:buClr>
                <a:srgbClr val="6699FF"/>
              </a:buClr>
              <a:buFont typeface="Zapf Dingbats" charset="2"/>
              <a:buChar char="n"/>
              <a:defRPr sz="1300" b="1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87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6575" cy="512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none" lIns="96285" tIns="48142" rIns="96285" bIns="48142" numCol="1" anchor="b" anchorCtr="0" compatLnSpc="1">
            <a:prstTxWarp prst="textNoShape">
              <a:avLst/>
            </a:prstTxWarp>
          </a:bodyPr>
          <a:lstStyle>
            <a:lvl1pPr algn="r" defTabSz="962025">
              <a:spcBef>
                <a:spcPct val="50000"/>
              </a:spcBef>
              <a:buClr>
                <a:srgbClr val="6699FF"/>
              </a:buClr>
              <a:buFont typeface="Zapf Dingbats" charset="2"/>
              <a:buChar char="n"/>
              <a:defRPr sz="1300" b="1" smtClean="0">
                <a:latin typeface="Arial" pitchFamily="34" charset="0"/>
              </a:defRPr>
            </a:lvl1pPr>
          </a:lstStyle>
          <a:p>
            <a:pPr>
              <a:defRPr/>
            </a:pPr>
            <a:fld id="{6B0022A2-3F7F-4A57-AEC3-FF68DC5EDC8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8414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buClr>
        <a:srgbClr val="003366"/>
      </a:buClr>
      <a:buSzPct val="90000"/>
      <a:buFont typeface="Wingdings" pitchFamily="2" charset="2"/>
      <a:buChar char="l"/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31B576-75B7-4EF8-BEE2-43928A40DE4B}" type="slidenum">
              <a:rPr lang="en-US"/>
              <a:pPr>
                <a:defRPr/>
              </a:pPr>
              <a:t>1</a:t>
            </a:fld>
            <a:endParaRPr lang="en-US"/>
          </a:p>
        </p:txBody>
      </p:sp>
      <p:sp>
        <p:nvSpPr>
          <p:cNvPr id="409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ffectLst>
            <a:outerShdw dist="17961" dir="2700000" algn="ctr" rotWithShape="0">
              <a:srgbClr val="007A5C"/>
            </a:outerShdw>
          </a:effectLst>
        </p:spPr>
        <p:txBody>
          <a:bodyPr/>
          <a:lstStyle/>
          <a:p>
            <a:endParaRPr lang="de-DE" dirty="0" smtClean="0"/>
          </a:p>
        </p:txBody>
      </p:sp>
    </p:spTree>
    <p:extLst>
      <p:ext uri="{BB962C8B-B14F-4D97-AF65-F5344CB8AC3E}">
        <p14:creationId xmlns:p14="http://schemas.microsoft.com/office/powerpoint/2010/main" val="3244034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28031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9121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Erklärungsversuche</a:t>
            </a:r>
            <a:r>
              <a:rPr lang="de-DE" baseline="0" dirty="0" smtClean="0"/>
              <a:t> aber keine Rechtfertigung</a:t>
            </a:r>
          </a:p>
          <a:p>
            <a:endParaRPr lang="de-DE" baseline="0" dirty="0" smtClean="0"/>
          </a:p>
          <a:p>
            <a:r>
              <a:rPr lang="de-DE" baseline="0" dirty="0" smtClean="0"/>
              <a:t>Alle Code-Beispiele stammen aus zwei prominenten Projekten an denen die </a:t>
            </a:r>
            <a:r>
              <a:rPr lang="de-DE" baseline="0" dirty="0" err="1" smtClean="0"/>
              <a:t>QAware</a:t>
            </a:r>
            <a:r>
              <a:rPr lang="de-DE" baseline="0" dirty="0" smtClean="0"/>
              <a:t> (mit)-gearbeitet hat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032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59599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Diese Namen sind generiert von www.classnamer.com</a:t>
            </a:r>
          </a:p>
          <a:p>
            <a:pPr defTabSz="495239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de-DE" dirty="0" smtClean="0"/>
              <a:t>Namen sind nicht</a:t>
            </a:r>
            <a:r>
              <a:rPr lang="de-DE" baseline="0" dirty="0" smtClean="0"/>
              <a:t> Schall und Rauch! </a:t>
            </a:r>
          </a:p>
          <a:p>
            <a:pPr defTabSz="495239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de-DE" baseline="0" dirty="0" smtClean="0"/>
              <a:t>Machen 90% der Lesbarkeit des Code aus und sind die Substantive und Verben der Software.</a:t>
            </a:r>
          </a:p>
          <a:p>
            <a:pPr defTabSz="495239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endParaRPr lang="de-DE" baseline="0" dirty="0" smtClean="0"/>
          </a:p>
          <a:p>
            <a:pPr defTabSz="495239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de-DE" baseline="0" dirty="0" smtClean="0"/>
              <a:t>Benutze etablierte Standards bei der Namensgebung, z.B. bei Patterns (</a:t>
            </a:r>
            <a:r>
              <a:rPr lang="de-DE" baseline="0" dirty="0" err="1" smtClean="0"/>
              <a:t>Observer</a:t>
            </a:r>
            <a:r>
              <a:rPr lang="de-DE" baseline="0" dirty="0" smtClean="0"/>
              <a:t>, Controller, </a:t>
            </a:r>
            <a:r>
              <a:rPr lang="de-DE" baseline="0" dirty="0" err="1" smtClean="0"/>
              <a:t>Visitor</a:t>
            </a:r>
            <a:r>
              <a:rPr lang="de-DE" baseline="0" dirty="0" smtClean="0"/>
              <a:t>, …)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8531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Diese Klassen-Namen sind aus dem ISPI Projekt … haben die Kommunikation unter den Entwicklern durch ihre länge negativ beeinflusst</a:t>
            </a:r>
          </a:p>
          <a:p>
            <a:endParaRPr lang="de-DE" baseline="0" dirty="0" smtClean="0"/>
          </a:p>
          <a:p>
            <a:r>
              <a:rPr lang="de-DE" baseline="0" dirty="0" smtClean="0"/>
              <a:t>Nicht jede Abstract Klasse muss mit Abstract beginnen</a:t>
            </a:r>
          </a:p>
          <a:p>
            <a:r>
              <a:rPr lang="de-DE" baseline="0" dirty="0" smtClean="0"/>
              <a:t>Nicht jede Basis Klasse braucht Base</a:t>
            </a:r>
          </a:p>
          <a:p>
            <a:r>
              <a:rPr lang="de-DE" baseline="0" dirty="0" smtClean="0"/>
              <a:t>Nicht alle implementierten Interfaces müssen im Klassenamen verwendet werden</a:t>
            </a:r>
          </a:p>
          <a:p>
            <a:r>
              <a:rPr lang="de-DE" baseline="0" dirty="0" smtClean="0"/>
              <a:t>Verwende keine Implementierungs-Details im Namen (z.B. </a:t>
            </a:r>
            <a:r>
              <a:rPr lang="de-DE" baseline="0" dirty="0" err="1" smtClean="0"/>
              <a:t>Atomic</a:t>
            </a:r>
            <a:r>
              <a:rPr lang="de-DE" baseline="0" dirty="0" smtClean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6823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 (Quelle: Meine Dienste Portalserver)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06024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Selten so gelacht. Andere lachen wahrscheinlich nicht, denn der Sinn und Hintergrund ist später nicht mehr erkenntlich.</a:t>
            </a:r>
          </a:p>
          <a:p>
            <a:endParaRPr lang="de-DE" baseline="0" dirty="0" smtClean="0"/>
          </a:p>
          <a:p>
            <a:r>
              <a:rPr lang="de-DE" baseline="0" dirty="0" err="1" smtClean="0"/>
              <a:t>schnulli</a:t>
            </a:r>
            <a:r>
              <a:rPr lang="de-DE" baseline="0" dirty="0" smtClean="0"/>
              <a:t> == </a:t>
            </a:r>
            <a:r>
              <a:rPr lang="de-DE" baseline="0" dirty="0" err="1" smtClean="0"/>
              <a:t>character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schnulli</a:t>
            </a:r>
            <a:r>
              <a:rPr lang="de-DE" baseline="0" dirty="0" smtClean="0"/>
              <a:t> == </a:t>
            </a:r>
            <a:r>
              <a:rPr lang="de-DE" baseline="0" dirty="0" err="1" smtClean="0"/>
              <a:t>ascii</a:t>
            </a:r>
            <a:endParaRPr lang="de-DE" baseline="0" dirty="0" smtClean="0"/>
          </a:p>
          <a:p>
            <a:r>
              <a:rPr lang="de-DE" baseline="0" dirty="0" err="1" smtClean="0"/>
              <a:t>CharUtils.isAsciiNumeric</a:t>
            </a:r>
            <a:r>
              <a:rPr lang="de-DE" baseline="0" dirty="0" smtClean="0"/>
              <a:t>(</a:t>
            </a:r>
            <a:r>
              <a:rPr lang="de-DE" baseline="0" dirty="0" err="1" smtClean="0"/>
              <a:t>char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ch</a:t>
            </a:r>
            <a:r>
              <a:rPr lang="de-DE" baseline="0" dirty="0" smtClean="0"/>
              <a:t>), </a:t>
            </a:r>
            <a:r>
              <a:rPr lang="de-DE" baseline="0" dirty="0" err="1" smtClean="0"/>
              <a:t>CharUtils.isAsciiAlpha</a:t>
            </a:r>
            <a:r>
              <a:rPr lang="de-DE" baseline="0" dirty="0" smtClean="0"/>
              <a:t>(</a:t>
            </a:r>
            <a:r>
              <a:rPr lang="de-DE" baseline="0" dirty="0" err="1" smtClean="0"/>
              <a:t>char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ch</a:t>
            </a:r>
            <a:r>
              <a:rPr lang="de-DE" baseline="0" dirty="0" smtClean="0"/>
              <a:t>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70655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9810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37261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TODO sind OK, aber nicht vergessen und aufräumen</a:t>
            </a:r>
          </a:p>
          <a:p>
            <a:r>
              <a:rPr lang="de-DE" dirty="0" smtClean="0"/>
              <a:t>Dinge die entfernt werden</a:t>
            </a:r>
            <a:r>
              <a:rPr lang="de-DE" baseline="0" dirty="0" smtClean="0"/>
              <a:t> sollen, lieber gleich entfernen, dafür gibt es SVN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124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TODOs</a:t>
            </a:r>
            <a:r>
              <a:rPr lang="de-DE" baseline="0" dirty="0" smtClean="0"/>
              <a:t> sind negativ bei Code Audit aufgefallen </a:t>
            </a:r>
            <a:r>
              <a:rPr lang="de-DE" baseline="0" dirty="0" smtClean="0">
                <a:sym typeface="Wingdings" pitchFamily="2" charset="2"/>
              </a:rPr>
              <a:t> durch PRIO 1-3 wurde CheckStyle einfach ausgetrickst</a:t>
            </a:r>
          </a:p>
          <a:p>
            <a:endParaRPr lang="de-DE" baseline="0" dirty="0" smtClean="0">
              <a:sym typeface="Wingdings" pitchFamily="2" charset="2"/>
            </a:endParaRPr>
          </a:p>
          <a:p>
            <a:r>
              <a:rPr lang="de-DE" dirty="0" smtClean="0"/>
              <a:t>Sinnlose</a:t>
            </a:r>
            <a:r>
              <a:rPr lang="de-DE" baseline="0" dirty="0" smtClean="0"/>
              <a:t> Kommentare sind überflüssig und behindern das Code-Verständnis</a:t>
            </a:r>
          </a:p>
          <a:p>
            <a:r>
              <a:rPr lang="de-DE" baseline="0" dirty="0" smtClean="0"/>
              <a:t>Prosa-Kommentare sollten lieber in Code ausgedrückt werden, sind ein Zeichen für nötiges </a:t>
            </a:r>
            <a:r>
              <a:rPr lang="de-DE" baseline="0" dirty="0" err="1" smtClean="0"/>
              <a:t>Refactoring</a:t>
            </a:r>
            <a:r>
              <a:rPr lang="de-DE" baseline="0" dirty="0" smtClean="0"/>
              <a:t> (?)</a:t>
            </a:r>
          </a:p>
          <a:p>
            <a:r>
              <a:rPr lang="de-DE" baseline="0" dirty="0" smtClean="0"/>
              <a:t>Kommentare sind wichtig, aber zu viel des Guten ist auch wieder störend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4482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Lässt sich das noch einfach Lesen?</a:t>
            </a:r>
          </a:p>
          <a:p>
            <a:endParaRPr lang="de-DE" baseline="0" dirty="0" smtClean="0"/>
          </a:p>
          <a:p>
            <a:r>
              <a:rPr lang="de-DE" baseline="0" dirty="0" smtClean="0"/>
              <a:t>Formatierung und Strukturierung sind wie der Satzbau und die Absätze eines Zeitungsartikels: Sie dienen der Leserlichkeit</a:t>
            </a:r>
          </a:p>
          <a:p>
            <a:endParaRPr lang="de-DE" baseline="0" dirty="0" smtClean="0"/>
          </a:p>
          <a:p>
            <a:r>
              <a:rPr lang="de-DE" baseline="0" dirty="0" smtClean="0"/>
              <a:t>Es gibt viele „Standards“ für das Formatierung von Java Code </a:t>
            </a:r>
            <a:r>
              <a:rPr lang="de-DE" baseline="0" dirty="0" smtClean="0">
                <a:sym typeface="Wingdings" pitchFamily="2" charset="2"/>
              </a:rPr>
              <a:t> </a:t>
            </a:r>
          </a:p>
          <a:p>
            <a:r>
              <a:rPr lang="de-DE" baseline="0" dirty="0" smtClean="0">
                <a:sym typeface="Wingdings" pitchFamily="2" charset="2"/>
              </a:rPr>
              <a:t>- Einen definieren und sich </a:t>
            </a:r>
            <a:r>
              <a:rPr lang="de-DE" b="1" baseline="0" dirty="0" smtClean="0">
                <a:sym typeface="Wingdings" pitchFamily="2" charset="2"/>
              </a:rPr>
              <a:t>daran halten</a:t>
            </a:r>
            <a:r>
              <a:rPr lang="de-DE" baseline="0" dirty="0" smtClean="0">
                <a:sym typeface="Wingdings" pitchFamily="2" charset="2"/>
              </a:rPr>
              <a:t>, auch wenn es nicht der persönliche Favorit ist</a:t>
            </a:r>
          </a:p>
          <a:p>
            <a:r>
              <a:rPr lang="de-DE" baseline="0" dirty="0" smtClean="0">
                <a:sym typeface="Wingdings" pitchFamily="2" charset="2"/>
              </a:rPr>
              <a:t>- Auch mal eine Leerzeile spendieren um den Lesefluss aufzulockern</a:t>
            </a:r>
          </a:p>
          <a:p>
            <a:pPr>
              <a:buFontTx/>
              <a:buChar char="-"/>
            </a:pPr>
            <a:r>
              <a:rPr lang="de-DE" baseline="0" dirty="0" smtClean="0">
                <a:sym typeface="Wingdings" pitchFamily="2" charset="2"/>
              </a:rPr>
              <a:t> Keine langen Zeilen …</a:t>
            </a:r>
          </a:p>
          <a:p>
            <a:pPr>
              <a:buFontTx/>
              <a:buNone/>
            </a:pPr>
            <a:endParaRPr lang="de-DE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5075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1862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="1" dirty="0" smtClean="0"/>
              <a:t>(Quelle: Meine Dienste Portalserver)</a:t>
            </a:r>
            <a:endParaRPr lang="de-DE" dirty="0" smtClean="0"/>
          </a:p>
          <a:p>
            <a:r>
              <a:rPr lang="de-DE" dirty="0" smtClean="0"/>
              <a:t>Berührt auch das Thema der Namensgebung</a:t>
            </a:r>
          </a:p>
          <a:p>
            <a:r>
              <a:rPr lang="de-DE" dirty="0" smtClean="0"/>
              <a:t>Entweder</a:t>
            </a:r>
            <a:r>
              <a:rPr lang="de-DE" baseline="0" dirty="0" smtClean="0"/>
              <a:t> „save“ oder „</a:t>
            </a:r>
            <a:r>
              <a:rPr lang="de-DE" baseline="0" dirty="0" err="1" smtClean="0"/>
              <a:t>persist</a:t>
            </a:r>
            <a:r>
              <a:rPr lang="de-DE" baseline="0" dirty="0" smtClean="0"/>
              <a:t>“ wenn das gleiche gemeint ist</a:t>
            </a:r>
          </a:p>
          <a:p>
            <a:r>
              <a:rPr lang="de-DE" baseline="0" dirty="0" smtClean="0"/>
              <a:t>Konsistente Parameter Reihenfolge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00078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Ausschnitt aus der zentralen Replikations-Methode der ISPI Plattform.</a:t>
            </a:r>
          </a:p>
          <a:p>
            <a:endParaRPr lang="de-DE" baseline="0" dirty="0" smtClean="0"/>
          </a:p>
          <a:p>
            <a:r>
              <a:rPr lang="de-DE" baseline="0" dirty="0" smtClean="0"/>
              <a:t>Absichtlich so klein, ins Detail möchte ich hier nicht gehen! Die Kennzahlen sprechen für sich.</a:t>
            </a:r>
          </a:p>
          <a:p>
            <a:r>
              <a:rPr lang="de-DE" baseline="0" dirty="0" smtClean="0"/>
              <a:t>Die Fehlermeldung kommt von meinem </a:t>
            </a:r>
            <a:r>
              <a:rPr lang="de-DE" baseline="0" dirty="0" err="1" smtClean="0"/>
              <a:t>IntelliJ</a:t>
            </a:r>
            <a:r>
              <a:rPr lang="de-DE" baseline="0" dirty="0" smtClean="0"/>
              <a:t>!</a:t>
            </a:r>
          </a:p>
          <a:p>
            <a:endParaRPr lang="de-DE" baseline="0" dirty="0" smtClean="0"/>
          </a:p>
          <a:p>
            <a:r>
              <a:rPr lang="de-DE" baseline="0" dirty="0" smtClean="0"/>
              <a:t>Dieser Code wurde im nächsten Release komplett entfernt und neu geschrieben!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79855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baseline="0" dirty="0" smtClean="0"/>
          </a:p>
          <a:p>
            <a:r>
              <a:rPr lang="de-DE" dirty="0" smtClean="0"/>
              <a:t>Man muss den gesamten Code Verfolgen um zu Verstehen</a:t>
            </a:r>
            <a:r>
              <a:rPr lang="de-DE" baseline="0" dirty="0" smtClean="0"/>
              <a:t> was hier gemeint ist. Denn in der Praxis fanden sich keine Kommentare und</a:t>
            </a:r>
          </a:p>
          <a:p>
            <a:r>
              <a:rPr lang="de-DE" baseline="0" dirty="0" smtClean="0"/>
              <a:t>die Methodennamen sind …..</a:t>
            </a:r>
          </a:p>
          <a:p>
            <a:endParaRPr lang="de-DE" baseline="0" dirty="0" smtClean="0"/>
          </a:p>
          <a:p>
            <a:r>
              <a:rPr lang="de-DE" baseline="0" dirty="0" smtClean="0"/>
              <a:t>Beabsichtigt wurde hier übrigens, das der Anwendungsdesigner das Standardregelwerk (in diesem Fall für das Blockieren von HTML-Elementen) des Frameworks überstimmen kann. </a:t>
            </a:r>
          </a:p>
          <a:p>
            <a:r>
              <a:rPr lang="de-DE" baseline="0" dirty="0" smtClean="0"/>
              <a:t>Und in kritischen Situationen soll das überstimmte Verhalten nochmal überstimmt werden.</a:t>
            </a:r>
          </a:p>
          <a:p>
            <a:r>
              <a:rPr lang="de-DE" baseline="0" dirty="0" smtClean="0"/>
              <a:t>Für wen oder was der </a:t>
            </a:r>
            <a:r>
              <a:rPr lang="de-DE" baseline="0" dirty="0" err="1" smtClean="0"/>
              <a:t>Dummy</a:t>
            </a:r>
            <a:r>
              <a:rPr lang="de-DE" baseline="0" dirty="0" smtClean="0"/>
              <a:t> zuständig ist, konnte bis Redaktionsschluss nicht geklärt werden.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98760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90690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Mischung aus Interfaces und Klasse (in 673 Zeilen)</a:t>
            </a:r>
          </a:p>
          <a:p>
            <a:r>
              <a:rPr lang="de-DE" baseline="0" dirty="0" smtClean="0"/>
              <a:t>Klasse sind voll ausimplementiert</a:t>
            </a:r>
          </a:p>
          <a:p>
            <a:r>
              <a:rPr lang="de-DE" baseline="0" dirty="0" smtClean="0"/>
              <a:t>Alles Interfaces und Klassen sind </a:t>
            </a:r>
            <a:r>
              <a:rPr lang="de-DE" baseline="0" dirty="0" err="1" smtClean="0"/>
              <a:t>public</a:t>
            </a:r>
            <a:r>
              <a:rPr lang="de-DE" baseline="0" dirty="0" smtClean="0"/>
              <a:t>, könnten also auch in separaten Source-Files liegen</a:t>
            </a:r>
          </a:p>
          <a:p>
            <a:r>
              <a:rPr lang="de-DE" baseline="0" dirty="0" smtClean="0"/>
              <a:t>„Interne“ Klasse und Interfaces werden „extern“ für Vererbung benutzt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32527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Nichts gegen </a:t>
            </a:r>
            <a:r>
              <a:rPr lang="de-DE" baseline="0" dirty="0" err="1" smtClean="0"/>
              <a:t>Generics</a:t>
            </a:r>
            <a:r>
              <a:rPr lang="de-DE" baseline="0" dirty="0" smtClean="0"/>
              <a:t>, aber man kann es auch übertreiben!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95922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Es gibt viele Wege in Java Objekte zu kopieren: </a:t>
            </a:r>
            <a:r>
              <a:rPr lang="de-DE" baseline="0" dirty="0" err="1" smtClean="0"/>
              <a:t>Copy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Constructoren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clone</a:t>
            </a:r>
            <a:r>
              <a:rPr lang="de-DE" baseline="0" dirty="0" smtClean="0"/>
              <a:t>() und </a:t>
            </a:r>
            <a:r>
              <a:rPr lang="de-DE" baseline="0" dirty="0" err="1" smtClean="0"/>
              <a:t>Clonable</a:t>
            </a:r>
            <a:endParaRPr lang="de-DE" baseline="0" dirty="0" smtClean="0"/>
          </a:p>
          <a:p>
            <a:r>
              <a:rPr lang="de-DE" baseline="0" dirty="0" smtClean="0"/>
              <a:t>Der </a:t>
            </a:r>
            <a:r>
              <a:rPr lang="de-DE" baseline="0" dirty="0" err="1" smtClean="0"/>
              <a:t>Generic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Deep</a:t>
            </a:r>
            <a:r>
              <a:rPr lang="de-DE" baseline="0" dirty="0" smtClean="0"/>
              <a:t> </a:t>
            </a:r>
            <a:r>
              <a:rPr lang="de-DE" baseline="0" dirty="0" err="1" smtClean="0"/>
              <a:t>Clone</a:t>
            </a:r>
            <a:r>
              <a:rPr lang="de-DE" baseline="0" dirty="0" smtClean="0"/>
              <a:t> mittels </a:t>
            </a:r>
            <a:r>
              <a:rPr lang="de-DE" baseline="0" dirty="0" err="1" smtClean="0"/>
              <a:t>Serialisierung</a:t>
            </a:r>
            <a:r>
              <a:rPr lang="de-DE" baseline="0" dirty="0" smtClean="0"/>
              <a:t> ist der faulste und schlimmste!</a:t>
            </a:r>
          </a:p>
          <a:p>
            <a:endParaRPr lang="de-DE" baseline="0" dirty="0" smtClean="0"/>
          </a:p>
          <a:p>
            <a:r>
              <a:rPr lang="de-DE" baseline="0" dirty="0" smtClean="0"/>
              <a:t>Absolut schlechte Performance, teilweise „</a:t>
            </a:r>
            <a:r>
              <a:rPr lang="de-DE" baseline="0" dirty="0" err="1" smtClean="0"/>
              <a:t>synchonized</a:t>
            </a:r>
            <a:r>
              <a:rPr lang="de-DE" baseline="0" dirty="0" smtClean="0"/>
              <a:t>“ Ausführung und Class-Caches, transient Felder werde nicht kopiert …</a:t>
            </a:r>
          </a:p>
          <a:p>
            <a:endParaRPr lang="de-DE" baseline="0" dirty="0" smtClean="0"/>
          </a:p>
          <a:p>
            <a:r>
              <a:rPr lang="de-DE" baseline="0" dirty="0" smtClean="0"/>
              <a:t>Und zur Kompensation der schlechten Performance wurde dann eine eigene </a:t>
            </a:r>
            <a:r>
              <a:rPr lang="de-DE" baseline="0" dirty="0" err="1" smtClean="0"/>
              <a:t>Buffer</a:t>
            </a:r>
            <a:r>
              <a:rPr lang="de-DE" baseline="0" dirty="0" smtClean="0"/>
              <a:t>-Implementierung spendiert!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22162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9200 LOC, 29 </a:t>
            </a:r>
            <a:r>
              <a:rPr lang="de-DE" baseline="0" dirty="0" err="1" smtClean="0"/>
              <a:t>Direct</a:t>
            </a:r>
            <a:r>
              <a:rPr lang="de-DE" baseline="0" dirty="0" smtClean="0"/>
              <a:t> </a:t>
            </a:r>
            <a:r>
              <a:rPr lang="de-DE" baseline="0" dirty="0" err="1" smtClean="0"/>
              <a:t>Dependencies</a:t>
            </a:r>
            <a:r>
              <a:rPr lang="de-DE" baseline="0" dirty="0" smtClean="0"/>
              <a:t>,  410 implementierte Methoden (ohne Getter und Setter!), aber nicht nur mittels Delegation sondern auch ausprogrammiert.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91658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66871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98048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590937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Sauber codiert und dennoch unschön. Den </a:t>
            </a:r>
            <a:r>
              <a:rPr lang="de-DE" baseline="0" dirty="0" err="1" smtClean="0"/>
              <a:t>prinzipbedingt</a:t>
            </a:r>
            <a:r>
              <a:rPr lang="de-DE" baseline="0" dirty="0" smtClean="0"/>
              <a:t> muss man folgende Negativpunkte einkalkulieren:</a:t>
            </a:r>
          </a:p>
          <a:p>
            <a:endParaRPr lang="de-DE" baseline="0" dirty="0" smtClean="0"/>
          </a:p>
          <a:p>
            <a:pPr>
              <a:spcAft>
                <a:spcPts val="650"/>
              </a:spcAft>
              <a:buFontTx/>
              <a:buChar char="-"/>
            </a:pPr>
            <a:r>
              <a:rPr lang="de-DE" baseline="0" dirty="0" smtClean="0"/>
              <a:t> Date-APIs zu codieren bringt viel Implementierungs- und evtl. auch Pflegeaufwand mit sich </a:t>
            </a:r>
            <a:br>
              <a:rPr lang="de-DE" baseline="0" dirty="0" smtClean="0"/>
            </a:br>
            <a:endParaRPr lang="de-DE" baseline="0" dirty="0" smtClean="0"/>
          </a:p>
          <a:p>
            <a:pPr>
              <a:spcAft>
                <a:spcPts val="650"/>
              </a:spcAft>
              <a:buFontTx/>
              <a:buChar char="-"/>
            </a:pPr>
            <a:r>
              <a:rPr lang="de-DE" baseline="0" dirty="0" smtClean="0"/>
              <a:t> Der Code ist Fehleranfällig und muss gut getestet werden. (Stichwort Schaltjahre, </a:t>
            </a:r>
            <a:r>
              <a:rPr lang="de-DE" baseline="0" dirty="0" err="1" smtClean="0"/>
              <a:t>Localisierung</a:t>
            </a:r>
            <a:r>
              <a:rPr lang="de-DE" baseline="0" dirty="0" smtClean="0"/>
              <a:t>….) </a:t>
            </a:r>
            <a:br>
              <a:rPr lang="de-DE" baseline="0" dirty="0" smtClean="0"/>
            </a:br>
            <a:r>
              <a:rPr lang="de-DE" baseline="0" dirty="0" smtClean="0"/>
              <a:t>  Fehler können sich nicht nur auf Stabilität sondern auch die Sicherheit der Anwendung drastisch auswirken</a:t>
            </a:r>
            <a:br>
              <a:rPr lang="de-DE" baseline="0" dirty="0" smtClean="0"/>
            </a:br>
            <a:endParaRPr lang="de-DE" baseline="0" dirty="0" smtClean="0"/>
          </a:p>
          <a:p>
            <a:pPr>
              <a:spcAft>
                <a:spcPts val="650"/>
              </a:spcAft>
              <a:buFontTx/>
              <a:buChar char="-"/>
            </a:pPr>
            <a:r>
              <a:rPr lang="de-DE" baseline="0" dirty="0" smtClean="0"/>
              <a:t> Die </a:t>
            </a:r>
            <a:r>
              <a:rPr lang="de-DE" baseline="0" dirty="0" err="1" smtClean="0"/>
              <a:t>propäritären</a:t>
            </a:r>
            <a:r>
              <a:rPr lang="de-DE" baseline="0" dirty="0" smtClean="0"/>
              <a:t> Date-Objekte müssen </a:t>
            </a:r>
            <a:r>
              <a:rPr lang="de-DE" baseline="0" dirty="0" err="1" smtClean="0"/>
              <a:t>stehts</a:t>
            </a:r>
            <a:r>
              <a:rPr lang="de-DE" baseline="0" dirty="0" smtClean="0"/>
              <a:t> hin und her transformiert werden, wo die Anwendung Schnittstellen zu</a:t>
            </a:r>
          </a:p>
          <a:p>
            <a:pPr>
              <a:spcAft>
                <a:spcPts val="650"/>
              </a:spcAft>
              <a:buNone/>
            </a:pPr>
            <a:r>
              <a:rPr lang="de-DE" baseline="0" dirty="0" smtClean="0"/>
              <a:t>  anderen  Bibliotheken oder Anwendungen/Komponenten hat die nicht auf dieser Daten-API basieren.</a:t>
            </a:r>
          </a:p>
          <a:p>
            <a:pPr>
              <a:buFontTx/>
              <a:buNone/>
            </a:pPr>
            <a:endParaRPr lang="de-DE" baseline="0" dirty="0" smtClean="0"/>
          </a:p>
          <a:p>
            <a:pPr>
              <a:buFontTx/>
              <a:buNone/>
            </a:pPr>
            <a:r>
              <a:rPr lang="de-DE" baseline="0" dirty="0" smtClean="0"/>
              <a:t>- Oft ist eine API schlechter design als jene von ausgereiften Alternativen aus dem Open-Source-Umfeld, wie auch hier bei der WSM Variante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45744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46427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51465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Byte-weises</a:t>
            </a:r>
            <a:r>
              <a:rPr lang="de-DE" baseline="0" dirty="0" smtClean="0"/>
              <a:t> Auslesen von großen Dateien extrem </a:t>
            </a:r>
            <a:r>
              <a:rPr lang="de-DE" baseline="0" dirty="0" err="1" smtClean="0"/>
              <a:t>inperformant</a:t>
            </a:r>
            <a:r>
              <a:rPr lang="de-DE" baseline="0" dirty="0" smtClean="0"/>
              <a:t>, danach </a:t>
            </a:r>
            <a:r>
              <a:rPr lang="de-DE" baseline="0" dirty="0" err="1" smtClean="0"/>
              <a:t>byte</a:t>
            </a:r>
            <a:r>
              <a:rPr lang="de-DE" baseline="0" dirty="0" smtClean="0"/>
              <a:t>[] und erneutes zeilenweises Einlesen.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83359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Besser mittels 3rd Party Library (</a:t>
            </a:r>
            <a:r>
              <a:rPr lang="de-DE" dirty="0" err="1" smtClean="0"/>
              <a:t>Commons</a:t>
            </a:r>
            <a:r>
              <a:rPr lang="de-DE" dirty="0" smtClean="0"/>
              <a:t> IO) gelöst. </a:t>
            </a:r>
            <a:r>
              <a:rPr lang="de-DE" dirty="0" err="1" smtClean="0"/>
              <a:t>Buffering</a:t>
            </a:r>
            <a:r>
              <a:rPr lang="de-DE" dirty="0" smtClean="0"/>
              <a:t> + Zeilenweises</a:t>
            </a:r>
            <a:r>
              <a:rPr lang="de-DE" baseline="0" dirty="0" smtClean="0"/>
              <a:t> auslesen</a:t>
            </a:r>
          </a:p>
          <a:p>
            <a:endParaRPr lang="de-DE" baseline="0" dirty="0" smtClean="0"/>
          </a:p>
          <a:p>
            <a:pPr>
              <a:buNone/>
            </a:pPr>
            <a:r>
              <a:rPr lang="en-US" dirty="0" smtClean="0"/>
              <a:t>General IO stream manipulation utilities. </a:t>
            </a:r>
          </a:p>
          <a:p>
            <a:pPr>
              <a:buNone/>
            </a:pPr>
            <a:r>
              <a:rPr lang="en-US" dirty="0" smtClean="0"/>
              <a:t>This class provides static utility methods for input/output operations. </a:t>
            </a:r>
          </a:p>
          <a:p>
            <a:pPr>
              <a:buNone/>
            </a:pPr>
            <a:r>
              <a:rPr lang="en-US" dirty="0" err="1" smtClean="0"/>
              <a:t>closeQuietly</a:t>
            </a:r>
            <a:r>
              <a:rPr lang="en-US" dirty="0" smtClean="0"/>
              <a:t> - these methods close a stream ignoring nulls and exceptions </a:t>
            </a:r>
          </a:p>
          <a:p>
            <a:pPr>
              <a:buNone/>
            </a:pPr>
            <a:r>
              <a:rPr lang="en-US" dirty="0" err="1" smtClean="0"/>
              <a:t>toXxx</a:t>
            </a:r>
            <a:r>
              <a:rPr lang="en-US" dirty="0" smtClean="0"/>
              <a:t>/read - these methods read data from a stream </a:t>
            </a:r>
          </a:p>
          <a:p>
            <a:pPr>
              <a:buNone/>
            </a:pPr>
            <a:r>
              <a:rPr lang="en-US" dirty="0" smtClean="0"/>
              <a:t>write - these methods write data to a stream </a:t>
            </a:r>
          </a:p>
          <a:p>
            <a:pPr>
              <a:buNone/>
            </a:pPr>
            <a:r>
              <a:rPr lang="en-US" dirty="0" smtClean="0"/>
              <a:t>copy - these methods copy all the data from one stream to another </a:t>
            </a:r>
          </a:p>
          <a:p>
            <a:pPr>
              <a:buNone/>
            </a:pPr>
            <a:r>
              <a:rPr lang="en-US" dirty="0" err="1" smtClean="0"/>
              <a:t>contentEquals</a:t>
            </a:r>
            <a:r>
              <a:rPr lang="en-US" dirty="0" smtClean="0"/>
              <a:t> - these methods compare the content of two streams </a:t>
            </a:r>
          </a:p>
          <a:p>
            <a:endParaRPr lang="de-DE" dirty="0" smtClean="0"/>
          </a:p>
          <a:p>
            <a:pPr>
              <a:buNone/>
            </a:pPr>
            <a:r>
              <a:rPr lang="en-US" dirty="0" smtClean="0"/>
              <a:t>All the methods in this class that read a stream are buffered internally. This means that there is no cause to use a </a:t>
            </a:r>
            <a:r>
              <a:rPr lang="en-US" dirty="0" err="1" smtClean="0"/>
              <a:t>BufferedInputStream</a:t>
            </a:r>
            <a:r>
              <a:rPr lang="en-US" dirty="0" smtClean="0"/>
              <a:t> or </a:t>
            </a:r>
            <a:r>
              <a:rPr lang="en-US" dirty="0" err="1" smtClean="0"/>
              <a:t>BufferedReader</a:t>
            </a:r>
            <a:r>
              <a:rPr lang="en-US" dirty="0" smtClean="0"/>
              <a:t>. The default buffer size of 4K has been shown to be efficient in tests. </a:t>
            </a:r>
          </a:p>
          <a:p>
            <a:pPr>
              <a:buNone/>
            </a:pPr>
            <a:r>
              <a:rPr lang="en-US" dirty="0" smtClean="0"/>
              <a:t>Wherever possible, the methods in this class do </a:t>
            </a:r>
            <a:r>
              <a:rPr lang="en-US" i="1" dirty="0" smtClean="0"/>
              <a:t>not</a:t>
            </a:r>
            <a:r>
              <a:rPr lang="en-US" dirty="0" smtClean="0"/>
              <a:t> flush or close the stream. This is to avoid making non-portable assumptions about the streams' origin and further use. Thus the caller is still responsible for closing streams after use. </a:t>
            </a:r>
          </a:p>
          <a:p>
            <a:pPr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1564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Immer wieder</a:t>
            </a:r>
            <a:r>
              <a:rPr lang="de-DE" baseline="0" dirty="0" smtClean="0"/>
              <a:t> Code-Stellen zur Prüfung auf leeren String verstreut durch den kompletten Code; extrem anfällig gegen NULL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32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05842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Besser mittels 3rd Party Library (</a:t>
            </a:r>
            <a:r>
              <a:rPr lang="de-DE" dirty="0" err="1" smtClean="0"/>
              <a:t>Commons</a:t>
            </a:r>
            <a:r>
              <a:rPr lang="de-DE" dirty="0" smtClean="0"/>
              <a:t> Lang) gelöst. Hat</a:t>
            </a:r>
            <a:r>
              <a:rPr lang="de-DE" baseline="0" dirty="0" smtClean="0"/>
              <a:t> man meistens als </a:t>
            </a:r>
            <a:r>
              <a:rPr lang="de-DE" baseline="0" dirty="0" err="1" smtClean="0"/>
              <a:t>Dependency</a:t>
            </a:r>
            <a:r>
              <a:rPr lang="de-DE" baseline="0" dirty="0" smtClean="0"/>
              <a:t>, dann sollte man es auch besser nutzen.</a:t>
            </a:r>
          </a:p>
          <a:p>
            <a:endParaRPr lang="de-DE" baseline="0" dirty="0" smtClean="0"/>
          </a:p>
          <a:p>
            <a:pPr>
              <a:buNone/>
            </a:pPr>
            <a:r>
              <a:rPr lang="en-US" b="1" dirty="0" err="1" smtClean="0"/>
              <a:t>IsEmpty</a:t>
            </a:r>
            <a:r>
              <a:rPr lang="en-US" b="1" dirty="0" smtClean="0"/>
              <a:t>/</a:t>
            </a:r>
            <a:r>
              <a:rPr lang="en-US" b="1" dirty="0" err="1" smtClean="0"/>
              <a:t>IsBlank</a:t>
            </a:r>
            <a:r>
              <a:rPr lang="en-US" dirty="0" smtClean="0"/>
              <a:t> - checks if a String contains text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Operations on String that are null safe.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err="1" smtClean="0"/>
              <a:t>StringUtils</a:t>
            </a:r>
            <a:r>
              <a:rPr lang="en-US" dirty="0" smtClean="0"/>
              <a:t> handles null input Strings quietly. That is to say that a null input will return null. Where a </a:t>
            </a:r>
            <a:r>
              <a:rPr lang="en-US" dirty="0" err="1" smtClean="0"/>
              <a:t>boolean</a:t>
            </a:r>
            <a:r>
              <a:rPr lang="en-US" dirty="0" smtClean="0"/>
              <a:t> or </a:t>
            </a:r>
            <a:r>
              <a:rPr lang="en-US" dirty="0" err="1" smtClean="0"/>
              <a:t>int</a:t>
            </a:r>
            <a:r>
              <a:rPr lang="en-US" dirty="0" smtClean="0"/>
              <a:t> is being returned details vary by method.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81426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So kann man es auch machen, sollte man aber nicht. Vorsichtig</a:t>
            </a:r>
            <a:r>
              <a:rPr lang="de-DE" baseline="0" dirty="0" smtClean="0"/>
              <a:t> mit </a:t>
            </a:r>
            <a:r>
              <a:rPr lang="de-DE" baseline="0" dirty="0" err="1" smtClean="0"/>
              <a:t>return</a:t>
            </a:r>
            <a:r>
              <a:rPr lang="de-DE" baseline="0" dirty="0" smtClean="0"/>
              <a:t> NULL, lieber leere Listen und „Special Case Objects“.</a:t>
            </a:r>
          </a:p>
          <a:p>
            <a:r>
              <a:rPr lang="de-DE" baseline="0" dirty="0" smtClean="0"/>
              <a:t>Auch hier kann man wieder die guten </a:t>
            </a:r>
            <a:r>
              <a:rPr lang="de-DE" baseline="0" dirty="0" err="1" smtClean="0"/>
              <a:t>StringUtils</a:t>
            </a:r>
            <a:r>
              <a:rPr lang="de-DE" baseline="0" dirty="0" smtClean="0"/>
              <a:t> verwenden.</a:t>
            </a:r>
          </a:p>
          <a:p>
            <a:r>
              <a:rPr lang="de-DE" baseline="0" dirty="0" smtClean="0"/>
              <a:t>Anti-Pattern: </a:t>
            </a:r>
            <a:r>
              <a:rPr lang="de-DE" baseline="0" dirty="0" err="1" smtClean="0"/>
              <a:t>Catching</a:t>
            </a:r>
            <a:r>
              <a:rPr lang="de-DE" baseline="0" dirty="0" smtClean="0"/>
              <a:t> </a:t>
            </a:r>
            <a:r>
              <a:rPr lang="de-DE" baseline="0" dirty="0" err="1" smtClean="0"/>
              <a:t>NullPointerException</a:t>
            </a:r>
            <a:r>
              <a:rPr lang="de-DE" baseline="0" dirty="0" smtClean="0"/>
              <a:t> </a:t>
            </a:r>
            <a:r>
              <a:rPr lang="de-DE" baseline="0" dirty="0" err="1" smtClean="0"/>
              <a:t>is</a:t>
            </a:r>
            <a:r>
              <a:rPr lang="de-DE" baseline="0" dirty="0" smtClean="0"/>
              <a:t> </a:t>
            </a:r>
            <a:r>
              <a:rPr lang="de-DE" baseline="0" dirty="0" err="1" smtClean="0"/>
              <a:t>faster</a:t>
            </a:r>
            <a:r>
              <a:rPr lang="de-DE" baseline="0" dirty="0" smtClean="0"/>
              <a:t> </a:t>
            </a:r>
            <a:r>
              <a:rPr lang="de-DE" baseline="0" dirty="0" err="1" smtClean="0"/>
              <a:t>than</a:t>
            </a:r>
            <a:r>
              <a:rPr lang="de-DE" baseline="0" dirty="0" smtClean="0"/>
              <a:t> explicit NULL check</a:t>
            </a:r>
          </a:p>
          <a:p>
            <a:r>
              <a:rPr lang="de-DE" dirty="0" smtClean="0"/>
              <a:t>http://stackoverflow.com/questions/3490770/try-catch-is-faster-or-if-else-in-java-w-r-t-performance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97954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Statt einen </a:t>
            </a:r>
            <a:r>
              <a:rPr lang="de-DE" baseline="0" dirty="0" err="1" smtClean="0"/>
              <a:t>Flag</a:t>
            </a:r>
            <a:r>
              <a:rPr lang="de-DE" baseline="0" dirty="0" smtClean="0"/>
              <a:t> mit drei Zustanden (z. B. über ENUMs Implementiert) wird hier die ‚etwas‘ kompliziertere Variante mit 3 </a:t>
            </a:r>
            <a:r>
              <a:rPr lang="de-DE" baseline="0" dirty="0" err="1" smtClean="0"/>
              <a:t>booleans</a:t>
            </a:r>
            <a:r>
              <a:rPr lang="de-DE" baseline="0" dirty="0" smtClean="0"/>
              <a:t> gewählt</a:t>
            </a:r>
          </a:p>
          <a:p>
            <a:r>
              <a:rPr lang="de-DE" baseline="0" dirty="0" smtClean="0"/>
              <a:t> Setter die drei Zustände ändern sind verwirrend -&gt; anderen Name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25884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Und wie schreibt man dafür Getter?</a:t>
            </a:r>
            <a:br>
              <a:rPr lang="de-DE" dirty="0" smtClean="0"/>
            </a:br>
            <a:r>
              <a:rPr lang="de-DE" dirty="0" smtClean="0"/>
              <a:t>Richtig: möglichst viele:</a:t>
            </a:r>
          </a:p>
          <a:p>
            <a:r>
              <a:rPr lang="de-DE" dirty="0" smtClean="0"/>
              <a:t>Jeweils für jeden der drei </a:t>
            </a:r>
            <a:r>
              <a:rPr lang="de-DE" dirty="0" err="1" smtClean="0"/>
              <a:t>Bools</a:t>
            </a:r>
            <a:r>
              <a:rPr lang="de-DE" dirty="0" smtClean="0"/>
              <a:t>:</a:t>
            </a:r>
            <a:br>
              <a:rPr lang="de-DE" dirty="0" smtClean="0"/>
            </a:br>
            <a:r>
              <a:rPr lang="de-DE" dirty="0" smtClean="0"/>
              <a:t>(Die </a:t>
            </a:r>
            <a:r>
              <a:rPr lang="de-DE" dirty="0" err="1" smtClean="0"/>
              <a:t>is</a:t>
            </a:r>
            <a:r>
              <a:rPr lang="de-DE" dirty="0" smtClean="0"/>
              <a:t>..Mode Methoden werden nur einmal als private innerhalb der Klasse verwendet und sind überflüssig.)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293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36871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Ein paar mögliche</a:t>
            </a:r>
            <a:r>
              <a:rPr lang="de-DE" baseline="0" dirty="0" smtClean="0"/>
              <a:t> Lösungsansätze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27483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Ein paar mögliche</a:t>
            </a:r>
            <a:r>
              <a:rPr lang="de-DE" baseline="0" dirty="0" smtClean="0"/>
              <a:t> Lösungsansätze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02531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4574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Was fällt negativ</a:t>
            </a:r>
            <a:r>
              <a:rPr lang="de-DE" baseline="0" dirty="0" smtClean="0"/>
              <a:t> auf:</a:t>
            </a:r>
          </a:p>
          <a:p>
            <a:pPr marL="247620" indent="-247620">
              <a:buFont typeface="+mj-lt"/>
              <a:buAutoNum type="arabicPeriod"/>
            </a:pPr>
            <a:r>
              <a:rPr lang="de-DE" baseline="0" dirty="0" smtClean="0"/>
              <a:t>Nichtssagende Variablennamen (</a:t>
            </a:r>
            <a:r>
              <a:rPr lang="de-DE" baseline="0" dirty="0" err="1" smtClean="0"/>
              <a:t>ac</a:t>
            </a:r>
            <a:r>
              <a:rPr lang="de-DE" baseline="0" dirty="0" smtClean="0"/>
              <a:t>, 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, d)</a:t>
            </a:r>
          </a:p>
          <a:p>
            <a:pPr marL="247620" indent="-247620">
              <a:buFont typeface="+mj-lt"/>
              <a:buAutoNum type="arabicPeriod"/>
            </a:pPr>
            <a:r>
              <a:rPr lang="de-DE" baseline="0" dirty="0" smtClean="0"/>
              <a:t>Mehrfache Verwendung von </a:t>
            </a:r>
            <a:r>
              <a:rPr lang="de-DE" baseline="0" dirty="0" err="1" smtClean="0"/>
              <a:t>d.getLoginList</a:t>
            </a:r>
            <a:r>
              <a:rPr lang="de-DE" baseline="0" dirty="0" smtClean="0"/>
              <a:t>().</a:t>
            </a:r>
            <a:r>
              <a:rPr lang="de-DE" baseline="0" dirty="0" err="1" smtClean="0"/>
              <a:t>get</a:t>
            </a:r>
            <a:r>
              <a:rPr lang="de-DE" baseline="0" dirty="0" smtClean="0"/>
              <a:t>(i)</a:t>
            </a:r>
          </a:p>
          <a:p>
            <a:pPr marL="247620" indent="-247620">
              <a:buFont typeface="+mj-lt"/>
              <a:buAutoNum type="arabicPeriod"/>
            </a:pPr>
            <a:r>
              <a:rPr lang="de-DE" baseline="0" dirty="0" smtClean="0"/>
              <a:t>Innerhalb der Schleife eine </a:t>
            </a:r>
            <a:r>
              <a:rPr lang="de-DE" baseline="0" dirty="0" err="1" smtClean="0"/>
              <a:t>if</a:t>
            </a:r>
            <a:r>
              <a:rPr lang="de-DE" baseline="0" dirty="0" smtClean="0"/>
              <a:t>-Abfrage, die von der Schleife unabhängig ist</a:t>
            </a:r>
          </a:p>
          <a:p>
            <a:pPr marL="247620" indent="-247620">
              <a:buFont typeface="+mj-lt"/>
              <a:buAutoNum type="arabicPeriod"/>
            </a:pPr>
            <a:r>
              <a:rPr lang="de-DE" baseline="0" dirty="0" smtClean="0"/>
              <a:t>Identische </a:t>
            </a:r>
            <a:r>
              <a:rPr lang="de-DE" baseline="0" dirty="0" err="1" smtClean="0"/>
              <a:t>if</a:t>
            </a:r>
            <a:r>
              <a:rPr lang="de-DE" baseline="0" dirty="0" smtClean="0"/>
              <a:t>-Abfragen</a:t>
            </a:r>
          </a:p>
          <a:p>
            <a:pPr marL="247620" indent="-247620">
              <a:buFont typeface="+mj-lt"/>
              <a:buAutoNum type="arabicPeriod"/>
            </a:pPr>
            <a:r>
              <a:rPr lang="de-DE" baseline="0" dirty="0" smtClean="0"/>
              <a:t>Unnötige </a:t>
            </a:r>
            <a:r>
              <a:rPr lang="de-DE" baseline="0" dirty="0" err="1" smtClean="0"/>
              <a:t>if</a:t>
            </a:r>
            <a:r>
              <a:rPr lang="de-DE" baseline="0" dirty="0" smtClean="0"/>
              <a:t>-Abfragen für Boolean-Zuweisung</a:t>
            </a:r>
          </a:p>
          <a:p>
            <a:pPr marL="247620" indent="-247620">
              <a:buFont typeface="+mj-lt"/>
              <a:buAutoNum type="arabicPeriod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70579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 pitchFamily="34" charset="0"/>
              <a:buNone/>
            </a:pPr>
            <a:r>
              <a:rPr lang="de-DE" dirty="0" smtClean="0"/>
              <a:t>Problem:</a:t>
            </a:r>
          </a:p>
          <a:p>
            <a:pPr>
              <a:buFont typeface="Arial" pitchFamily="34" charset="0"/>
              <a:buChar char="•"/>
            </a:pPr>
            <a:r>
              <a:rPr lang="de-DE" dirty="0" smtClean="0"/>
              <a:t> Iteration</a:t>
            </a:r>
            <a:r>
              <a:rPr lang="de-DE" baseline="0" dirty="0" smtClean="0"/>
              <a:t> über Indizes statt über Elemente der Liste</a:t>
            </a:r>
          </a:p>
          <a:p>
            <a:pPr>
              <a:buFont typeface="Arial" pitchFamily="34" charset="0"/>
              <a:buChar char="•"/>
            </a:pPr>
            <a:r>
              <a:rPr lang="de-DE" baseline="0" dirty="0" smtClean="0"/>
              <a:t> 5mal Zugriff auf das aktuelle Element über </a:t>
            </a:r>
            <a:r>
              <a:rPr lang="de-DE" baseline="0" dirty="0" err="1" smtClean="0"/>
              <a:t>d.getLoginList</a:t>
            </a:r>
            <a:r>
              <a:rPr lang="de-DE" baseline="0" dirty="0" smtClean="0"/>
              <a:t>().</a:t>
            </a:r>
            <a:r>
              <a:rPr lang="de-DE" baseline="0" dirty="0" err="1" smtClean="0"/>
              <a:t>get</a:t>
            </a:r>
            <a:r>
              <a:rPr lang="de-DE" baseline="0" dirty="0" smtClean="0"/>
              <a:t>(i)</a:t>
            </a:r>
          </a:p>
          <a:p>
            <a:pPr>
              <a:buFont typeface="Arial" pitchFamily="34" charset="0"/>
              <a:buChar char="•"/>
            </a:pPr>
            <a:r>
              <a:rPr lang="de-DE" baseline="0" dirty="0" smtClean="0"/>
              <a:t> Im Falle einer non-</a:t>
            </a:r>
            <a:r>
              <a:rPr lang="de-DE" baseline="0" dirty="0" err="1" smtClean="0"/>
              <a:t>RandomAccess</a:t>
            </a:r>
            <a:r>
              <a:rPr lang="de-DE" baseline="0" dirty="0" smtClean="0"/>
              <a:t>-Liste: 5mal linearer Zugriff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046033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Verbesserung:</a:t>
            </a:r>
          </a:p>
          <a:p>
            <a:pPr>
              <a:buFont typeface="Arial" pitchFamily="34" charset="0"/>
              <a:buChar char="•"/>
            </a:pPr>
            <a:r>
              <a:rPr lang="de-DE" dirty="0" smtClean="0"/>
              <a:t> einmal das Element aus der Liste holen und in</a:t>
            </a:r>
            <a:r>
              <a:rPr lang="de-DE" baseline="0" dirty="0" smtClean="0"/>
              <a:t> lokaler Variable speichern</a:t>
            </a:r>
          </a:p>
          <a:p>
            <a:pPr>
              <a:buFont typeface="Arial" pitchFamily="34" charset="0"/>
              <a:buChar char="•"/>
            </a:pPr>
            <a:r>
              <a:rPr lang="de-DE" baseline="0" dirty="0" smtClean="0"/>
              <a:t> seit Java 5.0: </a:t>
            </a:r>
            <a:r>
              <a:rPr lang="de-DE" dirty="0" err="1" smtClean="0"/>
              <a:t>for</a:t>
            </a:r>
            <a:r>
              <a:rPr lang="de-DE" dirty="0" smtClean="0"/>
              <a:t>-</a:t>
            </a:r>
            <a:r>
              <a:rPr lang="de-DE" dirty="0" err="1" smtClean="0"/>
              <a:t>each</a:t>
            </a:r>
            <a:r>
              <a:rPr lang="de-DE" dirty="0" smtClean="0"/>
              <a:t>-Schleife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788893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Problem:</a:t>
            </a:r>
          </a:p>
          <a:p>
            <a:pPr>
              <a:buFont typeface="Arial" pitchFamily="34" charset="0"/>
              <a:buChar char="•"/>
            </a:pPr>
            <a:r>
              <a:rPr lang="de-DE" dirty="0" smtClean="0"/>
              <a:t> Doppelte </a:t>
            </a:r>
            <a:r>
              <a:rPr lang="de-DE" dirty="0" err="1" smtClean="0"/>
              <a:t>if</a:t>
            </a:r>
            <a:r>
              <a:rPr lang="de-DE" dirty="0" smtClean="0"/>
              <a:t>-Abfrage ohne zusätzlichen Nutzen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1952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Verbesserung:</a:t>
            </a:r>
          </a:p>
          <a:p>
            <a:pPr>
              <a:buFont typeface="Arial" pitchFamily="34" charset="0"/>
              <a:buChar char="•"/>
            </a:pPr>
            <a:r>
              <a:rPr lang="de-DE" dirty="0" smtClean="0"/>
              <a:t> Entfernen der zweite Abfrage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805637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Problem:</a:t>
            </a:r>
          </a:p>
          <a:p>
            <a:pPr>
              <a:buFont typeface="Arial" pitchFamily="34" charset="0"/>
              <a:buChar char="•"/>
            </a:pPr>
            <a:r>
              <a:rPr lang="de-DE" dirty="0" smtClean="0"/>
              <a:t> Unnötige </a:t>
            </a:r>
            <a:r>
              <a:rPr lang="de-DE" dirty="0" err="1" smtClean="0"/>
              <a:t>if</a:t>
            </a:r>
            <a:r>
              <a:rPr lang="de-DE" dirty="0" smtClean="0"/>
              <a:t>-Abfrage, da</a:t>
            </a:r>
            <a:r>
              <a:rPr lang="de-DE" baseline="0" dirty="0" smtClean="0"/>
              <a:t> nur </a:t>
            </a:r>
            <a:r>
              <a:rPr lang="de-DE" baseline="0" dirty="0" err="1" smtClean="0"/>
              <a:t>boolean</a:t>
            </a:r>
            <a:r>
              <a:rPr lang="de-DE" baseline="0" dirty="0" smtClean="0"/>
              <a:t>-Wert gesetzt werden soll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46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47782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Verbesserung:</a:t>
            </a:r>
          </a:p>
          <a:p>
            <a:pPr>
              <a:buFont typeface="Arial" pitchFamily="34" charset="0"/>
              <a:buChar char="•"/>
            </a:pPr>
            <a:r>
              <a:rPr lang="de-DE" dirty="0" smtClean="0"/>
              <a:t> direktes Setzen der </a:t>
            </a:r>
            <a:r>
              <a:rPr lang="de-DE" dirty="0" err="1" smtClean="0"/>
              <a:t>boolean</a:t>
            </a:r>
            <a:r>
              <a:rPr lang="de-DE" dirty="0" smtClean="0"/>
              <a:t>-Variable anhand der </a:t>
            </a:r>
            <a:r>
              <a:rPr lang="de-DE" dirty="0" err="1" smtClean="0"/>
              <a:t>if</a:t>
            </a:r>
            <a:r>
              <a:rPr lang="de-DE" dirty="0" smtClean="0"/>
              <a:t>-Bedingung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47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95134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Problem:</a:t>
            </a:r>
          </a:p>
          <a:p>
            <a:pPr>
              <a:buFont typeface="Arial" pitchFamily="34" charset="0"/>
              <a:buChar char="•"/>
            </a:pPr>
            <a:r>
              <a:rPr lang="de-DE" dirty="0" smtClean="0"/>
              <a:t> Noch eine unnötige </a:t>
            </a:r>
            <a:r>
              <a:rPr lang="de-DE" dirty="0" err="1" smtClean="0"/>
              <a:t>if</a:t>
            </a:r>
            <a:r>
              <a:rPr lang="de-DE" dirty="0" smtClean="0"/>
              <a:t>-Abfrage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48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115302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Verbesserung:</a:t>
            </a:r>
          </a:p>
          <a:p>
            <a:pPr>
              <a:buFont typeface="Arial" pitchFamily="34" charset="0"/>
              <a:buChar char="•"/>
            </a:pPr>
            <a:r>
              <a:rPr lang="de-DE" dirty="0" smtClean="0"/>
              <a:t> wiederum Variable direkt setzen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533288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Problem:</a:t>
            </a:r>
          </a:p>
          <a:p>
            <a:pPr>
              <a:buFont typeface="Arial" pitchFamily="34" charset="0"/>
              <a:buChar char="•"/>
            </a:pPr>
            <a:r>
              <a:rPr lang="de-DE" dirty="0" smtClean="0"/>
              <a:t> Schönheitsfehler: doppelter Funktionsaufruf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821702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Verbesserung:</a:t>
            </a:r>
          </a:p>
          <a:p>
            <a:pPr defTabSz="495239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defRPr/>
            </a:pPr>
            <a:r>
              <a:rPr lang="de-DE" baseline="0" dirty="0" smtClean="0"/>
              <a:t> </a:t>
            </a:r>
            <a:r>
              <a:rPr lang="de-DE" dirty="0" smtClean="0"/>
              <a:t>Ergebnis des</a:t>
            </a:r>
            <a:r>
              <a:rPr lang="de-DE" baseline="0" dirty="0" smtClean="0"/>
              <a:t> Aufrufs kann in lokaler Variable gespeichert werden</a:t>
            </a:r>
            <a:endParaRPr lang="de-DE" dirty="0" smtClean="0"/>
          </a:p>
          <a:p>
            <a:pPr>
              <a:buFont typeface="Arial" pitchFamily="34" charset="0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51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162441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52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88184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Problem:</a:t>
            </a:r>
          </a:p>
          <a:p>
            <a:pPr>
              <a:buFont typeface="Arial" pitchFamily="34" charset="0"/>
              <a:buChar char="•"/>
            </a:pPr>
            <a:r>
              <a:rPr lang="de-DE" dirty="0" smtClean="0"/>
              <a:t> </a:t>
            </a:r>
            <a:r>
              <a:rPr lang="de-DE" dirty="0" err="1" smtClean="0"/>
              <a:t>if</a:t>
            </a:r>
            <a:r>
              <a:rPr lang="de-DE" dirty="0" smtClean="0"/>
              <a:t>-Abfrage</a:t>
            </a:r>
            <a:r>
              <a:rPr lang="de-DE" baseline="0" dirty="0" smtClean="0"/>
              <a:t> ist unabhängig von der Schleife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53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904172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Verbesserung:</a:t>
            </a:r>
          </a:p>
          <a:p>
            <a:pPr>
              <a:buFont typeface="Arial" pitchFamily="34" charset="0"/>
              <a:buChar char="•"/>
            </a:pPr>
            <a:r>
              <a:rPr lang="de-DE" baseline="0" dirty="0" smtClean="0"/>
              <a:t> </a:t>
            </a:r>
            <a:r>
              <a:rPr lang="de-DE" baseline="0" dirty="0" err="1" smtClean="0"/>
              <a:t>if</a:t>
            </a:r>
            <a:r>
              <a:rPr lang="de-DE" baseline="0" dirty="0" smtClean="0"/>
              <a:t>-Abfrage vor die Schleife ziehen</a:t>
            </a:r>
          </a:p>
          <a:p>
            <a:pPr>
              <a:buFont typeface="Arial" pitchFamily="34" charset="0"/>
              <a:buChar char="•"/>
            </a:pPr>
            <a:r>
              <a:rPr lang="de-DE" baseline="0" dirty="0" smtClean="0"/>
              <a:t> keine weitere Verbesserung möglich ohne Zusatzinformationen</a:t>
            </a:r>
          </a:p>
          <a:p>
            <a:pPr>
              <a:buFont typeface="Arial" pitchFamily="34" charset="0"/>
              <a:buChar char="•"/>
            </a:pPr>
            <a:endParaRPr lang="de-DE" baseline="0" dirty="0" smtClean="0"/>
          </a:p>
          <a:p>
            <a:r>
              <a:rPr lang="de-DE" dirty="0" smtClean="0"/>
              <a:t>Zusatzinformation:</a:t>
            </a:r>
          </a:p>
          <a:p>
            <a:pPr>
              <a:buFont typeface="Arial" pitchFamily="34" charset="0"/>
              <a:buChar char="•"/>
            </a:pPr>
            <a:r>
              <a:rPr lang="de-DE" dirty="0" smtClean="0"/>
              <a:t> "</a:t>
            </a:r>
            <a:r>
              <a:rPr lang="de-DE" dirty="0" err="1" smtClean="0"/>
              <a:t>ac</a:t>
            </a:r>
            <a:r>
              <a:rPr lang="de-DE" dirty="0" smtClean="0"/>
              <a:t>" gibt an, ob Authentifizierung nötig ist, um den Inhalt eines Moduls abzurufen</a:t>
            </a:r>
          </a:p>
          <a:p>
            <a:pPr>
              <a:buFont typeface="Arial" pitchFamily="34" charset="0"/>
              <a:buChar char="•"/>
            </a:pPr>
            <a:r>
              <a:rPr lang="de-DE" baseline="0" dirty="0" smtClean="0"/>
              <a:t> "</a:t>
            </a:r>
            <a:r>
              <a:rPr lang="de-DE" baseline="0" dirty="0" err="1" smtClean="0"/>
              <a:t>as</a:t>
            </a:r>
            <a:r>
              <a:rPr lang="de-DE" baseline="0" dirty="0" smtClean="0"/>
              <a:t>" gibt an, ob Authentifizierung nötig ist, um den Status eines Moduls abzurufen</a:t>
            </a:r>
            <a:endParaRPr lang="de-DE" dirty="0" smtClean="0"/>
          </a:p>
          <a:p>
            <a:pPr>
              <a:buFont typeface="Arial" pitchFamily="34" charset="0"/>
              <a:buChar char="•"/>
            </a:pPr>
            <a:r>
              <a:rPr lang="de-DE" dirty="0" smtClean="0"/>
              <a:t> Bonus: nahezu identischer Code liegt in zwei Funktionen namens "</a:t>
            </a:r>
            <a:r>
              <a:rPr lang="de-DE" dirty="0" err="1" smtClean="0"/>
              <a:t>isContentAuthenticationRequired</a:t>
            </a:r>
            <a:r>
              <a:rPr lang="de-DE" dirty="0" smtClean="0"/>
              <a:t>" und "</a:t>
            </a:r>
            <a:r>
              <a:rPr lang="de-DE" dirty="0" err="1" smtClean="0"/>
              <a:t>isStatusAuthenticationRequired</a:t>
            </a:r>
            <a:r>
              <a:rPr lang="de-DE" dirty="0" smtClean="0"/>
              <a:t>" vor</a:t>
            </a:r>
          </a:p>
          <a:p>
            <a:pPr>
              <a:buFont typeface="Arial" pitchFamily="34" charset="0"/>
              <a:buChar char="•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54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0131949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Grundidee des</a:t>
            </a:r>
            <a:r>
              <a:rPr lang="de-DE" baseline="0" dirty="0" smtClean="0"/>
              <a:t> Codes:</a:t>
            </a:r>
          </a:p>
          <a:p>
            <a:pPr marL="247620" indent="-247620">
              <a:buFont typeface="+mj-lt"/>
              <a:buAutoNum type="arabicPeriod"/>
            </a:pPr>
            <a:r>
              <a:rPr lang="de-DE" baseline="0" dirty="0" smtClean="0"/>
              <a:t>Es ist standardmäßig keine Authentifizierung nötig</a:t>
            </a:r>
          </a:p>
          <a:p>
            <a:pPr marL="247620" indent="-247620">
              <a:buFont typeface="+mj-lt"/>
              <a:buAutoNum type="arabicPeriod"/>
            </a:pPr>
            <a:r>
              <a:rPr lang="de-DE" baseline="0" dirty="0" smtClean="0"/>
              <a:t>Ist man schon eingeloggt, liegt sowieso Authentifizierung vor</a:t>
            </a:r>
          </a:p>
          <a:p>
            <a:pPr marL="247620" indent="-247620">
              <a:buFont typeface="+mj-lt"/>
              <a:buAutoNum type="arabicPeriod"/>
            </a:pPr>
            <a:r>
              <a:rPr lang="de-DE" baseline="0" dirty="0" smtClean="0"/>
              <a:t>Sonst schaut man nach, was das Modul über sich aussagt</a:t>
            </a:r>
          </a:p>
          <a:p>
            <a:pPr marL="247620" indent="-247620">
              <a:buFont typeface="+mj-lt"/>
              <a:buAutoNum type="arabicPeriod"/>
            </a:pPr>
            <a:r>
              <a:rPr lang="de-DE" baseline="0" dirty="0" smtClean="0"/>
              <a:t>Suche dafür den Eintrag im Moduldeskriptor, der sich auf nicht-eingeloggte Benutzer bezieht</a:t>
            </a:r>
          </a:p>
          <a:p>
            <a:pPr marL="247620" indent="-247620">
              <a:buFont typeface="+mj-lt"/>
              <a:buAutoNum type="arabicPeriod"/>
            </a:pPr>
            <a:r>
              <a:rPr lang="de-DE" baseline="0" dirty="0" smtClean="0"/>
              <a:t>Definiert dieser Eintrag </a:t>
            </a:r>
            <a:r>
              <a:rPr lang="de-DE" u="sng" baseline="0" dirty="0" smtClean="0"/>
              <a:t>keine</a:t>
            </a:r>
            <a:r>
              <a:rPr lang="de-DE" baseline="0" dirty="0" smtClean="0"/>
              <a:t> URLs (== </a:t>
            </a:r>
            <a:r>
              <a:rPr lang="de-DE" baseline="0" dirty="0" err="1" smtClean="0"/>
              <a:t>locations</a:t>
            </a:r>
            <a:r>
              <a:rPr lang="de-DE" baseline="0" dirty="0" smtClean="0"/>
              <a:t>) für Zugriffe auf das Modul ist Authentifizierung nötig</a:t>
            </a:r>
          </a:p>
          <a:p>
            <a:pPr marL="247620" indent="-247620">
              <a:buFont typeface="+mj-lt"/>
              <a:buAutoNum type="arabicPeriod"/>
            </a:pPr>
            <a:r>
              <a:rPr lang="de-DE" dirty="0" smtClean="0"/>
              <a:t>Definiert es URLs, dann hängt der Authentifizierungsbedarf</a:t>
            </a:r>
            <a:r>
              <a:rPr lang="de-DE" baseline="0" dirty="0" smtClean="0"/>
              <a:t> davon ab, ob die speziellen Inhalts- ("</a:t>
            </a:r>
            <a:r>
              <a:rPr lang="de-DE" baseline="0" dirty="0" err="1" smtClean="0"/>
              <a:t>isSetLoadmodule</a:t>
            </a:r>
            <a:r>
              <a:rPr lang="de-DE" baseline="0" dirty="0" smtClean="0"/>
              <a:t>") bzw. Status-URLs ("</a:t>
            </a:r>
            <a:r>
              <a:rPr lang="de-DE" baseline="0" dirty="0" err="1" smtClean="0"/>
              <a:t>isSetStatus</a:t>
            </a:r>
            <a:r>
              <a:rPr lang="de-DE" baseline="0" dirty="0" smtClean="0"/>
              <a:t>") gesetzt sind</a:t>
            </a:r>
          </a:p>
          <a:p>
            <a:pPr marL="247620" indent="-247620">
              <a:buFont typeface="+mj-lt"/>
              <a:buAutoNum type="arabicPeriod"/>
            </a:pPr>
            <a:endParaRPr lang="de-DE" baseline="0" dirty="0" smtClean="0"/>
          </a:p>
          <a:p>
            <a:pPr marL="247620" indent="-247620">
              <a:buNone/>
            </a:pPr>
            <a:r>
              <a:rPr lang="de-DE" baseline="0" dirty="0" smtClean="0"/>
              <a:t>Problem:</a:t>
            </a:r>
          </a:p>
          <a:p>
            <a:pPr marL="247620" indent="-247620">
              <a:buFont typeface="Arial" pitchFamily="34" charset="0"/>
              <a:buChar char="•"/>
            </a:pPr>
            <a:r>
              <a:rPr lang="de-DE" baseline="0" dirty="0" smtClean="0"/>
              <a:t>Was ist, wenn das Modul gar keinen Eintrag für nicht-eingeloggte Anwender definiert?</a:t>
            </a:r>
          </a:p>
          <a:p>
            <a:pPr marL="247620" indent="-247620">
              <a:buFont typeface="Arial" pitchFamily="34" charset="0"/>
              <a:buChar char="•"/>
            </a:pPr>
            <a:r>
              <a:rPr lang="de-DE" baseline="0" dirty="0" smtClean="0"/>
              <a:t>Es greift der Default: man braucht angeblich keine Authentifizierung =&gt; Bug!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55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132677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Verbesserung:</a:t>
            </a:r>
          </a:p>
          <a:p>
            <a:pPr>
              <a:buFont typeface="Arial" pitchFamily="34" charset="0"/>
              <a:buChar char="•"/>
            </a:pPr>
            <a:r>
              <a:rPr lang="de-DE" dirty="0" smtClean="0"/>
              <a:t> Gehe von neuem Standard</a:t>
            </a:r>
            <a:r>
              <a:rPr lang="de-DE" baseline="0" dirty="0" smtClean="0"/>
              <a:t> aus: man benötigt Authentifizierung!</a:t>
            </a:r>
          </a:p>
          <a:p>
            <a:pPr>
              <a:buFont typeface="Arial" pitchFamily="34" charset="0"/>
              <a:buChar char="•"/>
            </a:pPr>
            <a:r>
              <a:rPr lang="de-DE" baseline="0" dirty="0" smtClean="0"/>
              <a:t> Authentifizierung ist nicht nötig, wenn</a:t>
            </a:r>
            <a:br>
              <a:rPr lang="de-DE" baseline="0" dirty="0" smtClean="0"/>
            </a:br>
            <a:r>
              <a:rPr lang="de-DE" baseline="0" dirty="0" smtClean="0"/>
              <a:t>	man nicht eingeloggt ist</a:t>
            </a:r>
            <a:br>
              <a:rPr lang="de-DE" baseline="0" dirty="0" smtClean="0"/>
            </a:br>
            <a:r>
              <a:rPr lang="de-DE" baseline="0" dirty="0" smtClean="0"/>
              <a:t>	UND das Modul einen Eintrag für nicht-eingeloggte Benutzer definiert</a:t>
            </a:r>
            <a:br>
              <a:rPr lang="de-DE" baseline="0" dirty="0" smtClean="0"/>
            </a:br>
            <a:r>
              <a:rPr lang="de-DE" baseline="0" dirty="0" smtClean="0"/>
              <a:t>	UND dieser Eintrag URLs für den Modulzugriff enthält</a:t>
            </a:r>
            <a:br>
              <a:rPr lang="de-DE" baseline="0" dirty="0" smtClean="0"/>
            </a:br>
            <a:r>
              <a:rPr lang="de-DE" baseline="0" dirty="0" smtClean="0"/>
              <a:t>	UND spezielle URLs für Modulinhalt bzw. -status festgelegt sind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56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304658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Endgültige</a:t>
            </a:r>
            <a:r>
              <a:rPr lang="de-DE" baseline="0" dirty="0" smtClean="0"/>
              <a:t> Version mit Kommentaren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57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033266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58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875842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Diese Methode gibt unabhängig vom Benutzernamen immer FALSE zurück.</a:t>
            </a:r>
          </a:p>
          <a:p>
            <a:endParaRPr lang="de-DE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59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160899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 smtClean="0"/>
              <a:t>Die Methode gibt NULL zurück wenn sie erfolgreich durchläuft. Ansonsten eine Fehlermeldung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1250B5-9814-5240-95CB-F8E1F528E3B6}" type="slidenum">
              <a:rPr lang="de-DE" smtClean="0"/>
              <a:pPr/>
              <a:t>60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092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1"/>
          <p:cNvGrpSpPr>
            <a:grpSpLocks/>
          </p:cNvGrpSpPr>
          <p:nvPr userDrawn="1"/>
        </p:nvGrpSpPr>
        <p:grpSpPr bwMode="auto">
          <a:xfrm>
            <a:off x="1003300" y="6149975"/>
            <a:ext cx="363538" cy="334963"/>
            <a:chOff x="1306" y="3863"/>
            <a:chExt cx="229" cy="211"/>
          </a:xfrm>
        </p:grpSpPr>
        <p:sp>
          <p:nvSpPr>
            <p:cNvPr id="5" name="Freeform 6"/>
            <p:cNvSpPr>
              <a:spLocks/>
            </p:cNvSpPr>
            <p:nvPr/>
          </p:nvSpPr>
          <p:spPr bwMode="auto">
            <a:xfrm>
              <a:off x="1306" y="3863"/>
              <a:ext cx="229" cy="211"/>
            </a:xfrm>
            <a:custGeom>
              <a:avLst/>
              <a:gdLst/>
              <a:ahLst/>
              <a:cxnLst>
                <a:cxn ang="0">
                  <a:pos x="72" y="0"/>
                </a:cxn>
                <a:cxn ang="0">
                  <a:pos x="779" y="0"/>
                </a:cxn>
                <a:cxn ang="0">
                  <a:pos x="794" y="0"/>
                </a:cxn>
                <a:cxn ang="0">
                  <a:pos x="809" y="5"/>
                </a:cxn>
                <a:cxn ang="0">
                  <a:pos x="821" y="9"/>
                </a:cxn>
                <a:cxn ang="0">
                  <a:pos x="833" y="17"/>
                </a:cxn>
                <a:cxn ang="0">
                  <a:pos x="840" y="26"/>
                </a:cxn>
                <a:cxn ang="0">
                  <a:pos x="845" y="38"/>
                </a:cxn>
                <a:cxn ang="0">
                  <a:pos x="850" y="52"/>
                </a:cxn>
                <a:cxn ang="0">
                  <a:pos x="851" y="71"/>
                </a:cxn>
                <a:cxn ang="0">
                  <a:pos x="851" y="776"/>
                </a:cxn>
                <a:cxn ang="0">
                  <a:pos x="850" y="779"/>
                </a:cxn>
                <a:cxn ang="0">
                  <a:pos x="850" y="783"/>
                </a:cxn>
                <a:cxn ang="0">
                  <a:pos x="850" y="791"/>
                </a:cxn>
                <a:cxn ang="0">
                  <a:pos x="845" y="805"/>
                </a:cxn>
                <a:cxn ang="0">
                  <a:pos x="840" y="818"/>
                </a:cxn>
                <a:cxn ang="0">
                  <a:pos x="833" y="829"/>
                </a:cxn>
                <a:cxn ang="0">
                  <a:pos x="821" y="836"/>
                </a:cxn>
                <a:cxn ang="0">
                  <a:pos x="809" y="842"/>
                </a:cxn>
                <a:cxn ang="0">
                  <a:pos x="794" y="846"/>
                </a:cxn>
                <a:cxn ang="0">
                  <a:pos x="786" y="846"/>
                </a:cxn>
                <a:cxn ang="0">
                  <a:pos x="782" y="846"/>
                </a:cxn>
                <a:cxn ang="0">
                  <a:pos x="779" y="848"/>
                </a:cxn>
                <a:cxn ang="0">
                  <a:pos x="72" y="848"/>
                </a:cxn>
                <a:cxn ang="0">
                  <a:pos x="53" y="846"/>
                </a:cxn>
                <a:cxn ang="0">
                  <a:pos x="39" y="842"/>
                </a:cxn>
                <a:cxn ang="0">
                  <a:pos x="26" y="836"/>
                </a:cxn>
                <a:cxn ang="0">
                  <a:pos x="17" y="829"/>
                </a:cxn>
                <a:cxn ang="0">
                  <a:pos x="8" y="818"/>
                </a:cxn>
                <a:cxn ang="0">
                  <a:pos x="4" y="805"/>
                </a:cxn>
                <a:cxn ang="0">
                  <a:pos x="0" y="791"/>
                </a:cxn>
                <a:cxn ang="0">
                  <a:pos x="0" y="776"/>
                </a:cxn>
                <a:cxn ang="0">
                  <a:pos x="0" y="71"/>
                </a:cxn>
                <a:cxn ang="0">
                  <a:pos x="0" y="52"/>
                </a:cxn>
                <a:cxn ang="0">
                  <a:pos x="4" y="38"/>
                </a:cxn>
                <a:cxn ang="0">
                  <a:pos x="8" y="26"/>
                </a:cxn>
                <a:cxn ang="0">
                  <a:pos x="17" y="17"/>
                </a:cxn>
                <a:cxn ang="0">
                  <a:pos x="26" y="9"/>
                </a:cxn>
                <a:cxn ang="0">
                  <a:pos x="39" y="5"/>
                </a:cxn>
                <a:cxn ang="0">
                  <a:pos x="53" y="0"/>
                </a:cxn>
                <a:cxn ang="0">
                  <a:pos x="72" y="0"/>
                </a:cxn>
              </a:cxnLst>
              <a:rect l="0" t="0" r="r" b="b"/>
              <a:pathLst>
                <a:path w="851" h="848">
                  <a:moveTo>
                    <a:pt x="72" y="0"/>
                  </a:moveTo>
                  <a:lnTo>
                    <a:pt x="779" y="0"/>
                  </a:lnTo>
                  <a:lnTo>
                    <a:pt x="794" y="0"/>
                  </a:lnTo>
                  <a:lnTo>
                    <a:pt x="809" y="5"/>
                  </a:lnTo>
                  <a:lnTo>
                    <a:pt x="821" y="9"/>
                  </a:lnTo>
                  <a:lnTo>
                    <a:pt x="833" y="17"/>
                  </a:lnTo>
                  <a:lnTo>
                    <a:pt x="840" y="26"/>
                  </a:lnTo>
                  <a:lnTo>
                    <a:pt x="845" y="38"/>
                  </a:lnTo>
                  <a:lnTo>
                    <a:pt x="850" y="52"/>
                  </a:lnTo>
                  <a:lnTo>
                    <a:pt x="851" y="71"/>
                  </a:lnTo>
                  <a:lnTo>
                    <a:pt x="851" y="776"/>
                  </a:lnTo>
                  <a:lnTo>
                    <a:pt x="850" y="779"/>
                  </a:lnTo>
                  <a:lnTo>
                    <a:pt x="850" y="783"/>
                  </a:lnTo>
                  <a:lnTo>
                    <a:pt x="850" y="791"/>
                  </a:lnTo>
                  <a:lnTo>
                    <a:pt x="845" y="805"/>
                  </a:lnTo>
                  <a:lnTo>
                    <a:pt x="840" y="818"/>
                  </a:lnTo>
                  <a:lnTo>
                    <a:pt x="833" y="829"/>
                  </a:lnTo>
                  <a:lnTo>
                    <a:pt x="821" y="836"/>
                  </a:lnTo>
                  <a:lnTo>
                    <a:pt x="809" y="842"/>
                  </a:lnTo>
                  <a:lnTo>
                    <a:pt x="794" y="846"/>
                  </a:lnTo>
                  <a:lnTo>
                    <a:pt x="786" y="846"/>
                  </a:lnTo>
                  <a:lnTo>
                    <a:pt x="782" y="846"/>
                  </a:lnTo>
                  <a:lnTo>
                    <a:pt x="779" y="848"/>
                  </a:lnTo>
                  <a:lnTo>
                    <a:pt x="72" y="848"/>
                  </a:lnTo>
                  <a:lnTo>
                    <a:pt x="53" y="846"/>
                  </a:lnTo>
                  <a:lnTo>
                    <a:pt x="39" y="842"/>
                  </a:lnTo>
                  <a:lnTo>
                    <a:pt x="26" y="836"/>
                  </a:lnTo>
                  <a:lnTo>
                    <a:pt x="17" y="829"/>
                  </a:lnTo>
                  <a:lnTo>
                    <a:pt x="8" y="818"/>
                  </a:lnTo>
                  <a:lnTo>
                    <a:pt x="4" y="805"/>
                  </a:lnTo>
                  <a:lnTo>
                    <a:pt x="0" y="791"/>
                  </a:lnTo>
                  <a:lnTo>
                    <a:pt x="0" y="776"/>
                  </a:lnTo>
                  <a:lnTo>
                    <a:pt x="0" y="71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26"/>
                  </a:lnTo>
                  <a:lnTo>
                    <a:pt x="17" y="17"/>
                  </a:lnTo>
                  <a:lnTo>
                    <a:pt x="26" y="9"/>
                  </a:lnTo>
                  <a:lnTo>
                    <a:pt x="39" y="5"/>
                  </a:lnTo>
                  <a:lnTo>
                    <a:pt x="53" y="0"/>
                  </a:lnTo>
                  <a:lnTo>
                    <a:pt x="72" y="0"/>
                  </a:lnTo>
                </a:path>
              </a:pathLst>
            </a:custGeom>
            <a:solidFill>
              <a:srgbClr val="CC0000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  <p:sp>
          <p:nvSpPr>
            <p:cNvPr id="6" name="Freeform 7"/>
            <p:cNvSpPr>
              <a:spLocks/>
            </p:cNvSpPr>
            <p:nvPr/>
          </p:nvSpPr>
          <p:spPr bwMode="auto">
            <a:xfrm>
              <a:off x="1387" y="3906"/>
              <a:ext cx="68" cy="125"/>
            </a:xfrm>
            <a:custGeom>
              <a:avLst/>
              <a:gdLst/>
              <a:ahLst/>
              <a:cxnLst>
                <a:cxn ang="0">
                  <a:pos x="252" y="248"/>
                </a:cxn>
                <a:cxn ang="0">
                  <a:pos x="0" y="0"/>
                </a:cxn>
                <a:cxn ang="0">
                  <a:pos x="0" y="500"/>
                </a:cxn>
                <a:cxn ang="0">
                  <a:pos x="252" y="248"/>
                </a:cxn>
              </a:cxnLst>
              <a:rect l="0" t="0" r="r" b="b"/>
              <a:pathLst>
                <a:path w="252" h="500">
                  <a:moveTo>
                    <a:pt x="252" y="248"/>
                  </a:moveTo>
                  <a:lnTo>
                    <a:pt x="0" y="0"/>
                  </a:lnTo>
                  <a:lnTo>
                    <a:pt x="0" y="500"/>
                  </a:lnTo>
                  <a:lnTo>
                    <a:pt x="252" y="248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de-DE"/>
            </a:p>
          </p:txBody>
        </p:sp>
      </p:grp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1466850" y="6170613"/>
            <a:ext cx="7848600" cy="2905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rgbClr val="6699FF"/>
              </a:buClr>
              <a:buFont typeface="Zapf Dingbats" charset="2"/>
              <a:buNone/>
              <a:defRPr/>
            </a:pPr>
            <a:r>
              <a:rPr lang="de-DE" sz="1300" b="1" dirty="0">
                <a:latin typeface="Arial" pitchFamily="34" charset="0"/>
              </a:rPr>
              <a:t>Prof. Dr. Reiner Hüttl, FH Rosenheim, </a:t>
            </a:r>
            <a:r>
              <a:rPr lang="en-GB" sz="1300" b="1" dirty="0">
                <a:latin typeface="Arial" pitchFamily="34" charset="0"/>
              </a:rPr>
              <a:t>© </a:t>
            </a:r>
            <a:r>
              <a:rPr lang="de-DE" sz="1300" b="1" dirty="0" smtClean="0">
                <a:latin typeface="Arial" pitchFamily="34" charset="0"/>
              </a:rPr>
              <a:t>2013</a:t>
            </a:r>
            <a:endParaRPr lang="de-DE" sz="1300" b="1" dirty="0">
              <a:latin typeface="Arial" pitchFamily="34" charset="0"/>
            </a:endParaRPr>
          </a:p>
        </p:txBody>
      </p:sp>
      <p:sp>
        <p:nvSpPr>
          <p:cNvPr id="2734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57250" y="1381125"/>
            <a:ext cx="8780463" cy="366713"/>
          </a:xfrm>
          <a:ln w="12700">
            <a:headEnd type="none" w="sm" len="sm"/>
            <a:tailEnd type="none" w="sm" len="sm"/>
          </a:ln>
          <a:effectLst/>
        </p:spPr>
        <p:txBody>
          <a:bodyPr lIns="91440" tIns="45720" rIns="91440" bIns="45720">
            <a:spAutoFit/>
          </a:bodyPr>
          <a:lstStyle>
            <a:lvl1pPr marL="0" indent="0" defTabSz="914400">
              <a:spcBef>
                <a:spcPct val="50000"/>
              </a:spcBef>
              <a:buClr>
                <a:srgbClr val="6699FF"/>
              </a:buClr>
              <a:buSzTx/>
              <a:buFont typeface="Zapf Dingbats" charset="2"/>
              <a:buNone/>
              <a:tabLst/>
              <a:defRPr sz="180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edit</a:t>
            </a:r>
            <a:r>
              <a:rPr lang="de-DE" dirty="0"/>
              <a:t> Master </a:t>
            </a:r>
            <a:r>
              <a:rPr lang="de-DE" dirty="0" err="1"/>
              <a:t>subtitle</a:t>
            </a:r>
            <a:r>
              <a:rPr lang="de-DE" dirty="0"/>
              <a:t> style</a:t>
            </a:r>
          </a:p>
        </p:txBody>
      </p:sp>
      <p:sp>
        <p:nvSpPr>
          <p:cNvPr id="273417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857250" y="923925"/>
            <a:ext cx="8780463" cy="565150"/>
          </a:xfrm>
          <a:effectLst/>
        </p:spPr>
        <p:txBody>
          <a:bodyPr/>
          <a:lstStyle>
            <a:lvl1pPr>
              <a:defRPr sz="3100" b="1"/>
            </a:lvl1pPr>
          </a:lstStyle>
          <a:p>
            <a:r>
              <a:rPr lang="en-GB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xfrm>
            <a:off x="285750" y="6371506"/>
            <a:ext cx="9386888" cy="215444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Prof. Dr. Reiner Hüttl      FH Rosenheim                     Programmieren 3                              Wintersemester 2010                                   © 2010  • Stand 01.10.10 •   Kapitel 9        </a:t>
            </a:r>
            <a:endParaRPr lang="en-GB" sz="1000" dirty="0"/>
          </a:p>
        </p:txBody>
      </p:sp>
      <p:sp>
        <p:nvSpPr>
          <p:cNvPr id="6" name="Foliennummernplatzhalter 27"/>
          <p:cNvSpPr>
            <a:spLocks noGrp="1"/>
          </p:cNvSpPr>
          <p:nvPr userDrawn="1"/>
        </p:nvSpPr>
        <p:spPr bwMode="auto">
          <a:xfrm>
            <a:off x="8763001" y="6343650"/>
            <a:ext cx="819150" cy="319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9pPr>
          </a:lstStyle>
          <a:p>
            <a:fld id="{F0970F20-D3EB-47DD-9421-3892B2888F4A}" type="slidenum">
              <a:rPr lang="de-DE" sz="1000" smtClean="0"/>
              <a:pPr/>
              <a:t>‹Nr.›</a:t>
            </a:fld>
            <a:endParaRPr lang="de-DE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Prof. Dr. Reiner Hüttl      FH Rosenheim                     Programmieren 3                              Wintersemester 2010                                   © 2010  • Stand 01.10.10 •   Kapitel 9        </a:t>
            </a:r>
            <a:endParaRPr lang="en-GB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80988" y="1238250"/>
            <a:ext cx="4633912" cy="473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67300" y="1238250"/>
            <a:ext cx="4635500" cy="473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Prof. Dr. Reiner Hüttl      FH Rosenheim                     Programmieren 3                              Wintersemester 2010                                   © 2010  • Stand 01.10.10 •   Kapitel 9        </a:t>
            </a:r>
            <a:endParaRPr lang="en-GB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Prof. Dr. Reiner Hüttl      FH Rosenheim                     Programmieren 3                              Wintersemester 2010                                   © 2010  • Stand 01.10.10 •   Kapitel 9        </a:t>
            </a:r>
            <a:endParaRPr lang="en-GB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ftr" sz="quarter" idx="10"/>
          </p:nvPr>
        </p:nvSpPr>
        <p:spPr>
          <a:xfrm>
            <a:off x="285750" y="6292850"/>
            <a:ext cx="9386888" cy="215444"/>
          </a:xfrm>
          <a:ln/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Prof. Dr. Reiner Hüttl      FH Rosenheim                     Programmieren 3                              Wintersemester 2010                                   © 2010  • Stand 01.10.10 •   Kapitel 9        </a:t>
            </a:r>
            <a:endParaRPr lang="en-GB" sz="1000" dirty="0"/>
          </a:p>
        </p:txBody>
      </p:sp>
      <p:sp>
        <p:nvSpPr>
          <p:cNvPr id="4" name="Foliennummernplatzhalter 27"/>
          <p:cNvSpPr>
            <a:spLocks noGrp="1"/>
          </p:cNvSpPr>
          <p:nvPr userDrawn="1"/>
        </p:nvSpPr>
        <p:spPr bwMode="auto">
          <a:xfrm>
            <a:off x="8763001" y="6276975"/>
            <a:ext cx="819150" cy="319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Courier New" pitchFamily="49" charset="0"/>
                <a:ea typeface="+mn-ea"/>
                <a:cs typeface="+mn-cs"/>
              </a:defRPr>
            </a:lvl9pPr>
          </a:lstStyle>
          <a:p>
            <a:fld id="{F0970F20-D3EB-47DD-9421-3892B2888F4A}" type="slidenum">
              <a:rPr lang="de-DE" sz="1000" smtClean="0"/>
              <a:pPr/>
              <a:t>‹Nr.›</a:t>
            </a:fld>
            <a:endParaRPr lang="de-DE" sz="10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Prof. Dr. Reiner Hüttl      FH Rosenheim                     Programmieren 3                              Wintersemester 2010                                   © 2010  • Stand 01.10.10 •   Kapitel 9        </a:t>
            </a:r>
            <a:endParaRPr lang="en-GB" sz="10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Prof. Dr. Reiner Hüttl      FH Rosenheim                     Programmieren 3                              Wintersemester 2010                                   © 2010  • Stand 01.10.10 •   Kapitel 9        </a:t>
            </a:r>
            <a:endParaRPr lang="en-GB" sz="10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Prof. Dr. Reiner Hüttl      FH Rosenheim                     Programmieren 3                              Wintersemester 2010                                   © 2010  • Stand 01.10.10 •   Kapitel 9        </a:t>
            </a:r>
            <a:endParaRPr lang="en-GB" sz="10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Prof. Dr. Reiner Hüttl      FH Rosenheim                     Programmieren 3                              Wintersemester 2010                                   © 2010  • Stand 01.10.10 •   Kapitel 9        </a:t>
            </a:r>
            <a:endParaRPr lang="en-GB" sz="10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7348538" y="265113"/>
            <a:ext cx="2354262" cy="5707062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80988" y="265113"/>
            <a:ext cx="6915150" cy="5707062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Prof. Dr. Reiner Hüttl      FH Rosenheim                     Programmieren 3                              Wintersemester 2010                                   © 2010  • Stand 01.10.10 •   Kapitel 9        </a:t>
            </a:r>
            <a:endParaRPr lang="en-GB" sz="10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ooter.jpg"/>
          <p:cNvPicPr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6627018"/>
            <a:ext cx="9906000" cy="230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486526"/>
            <a:ext cx="577850" cy="365125"/>
          </a:xfrm>
          <a:prstGeom prst="rect">
            <a:avLst/>
          </a:prstGeom>
        </p:spPr>
        <p:txBody>
          <a:bodyPr/>
          <a:lstStyle/>
          <a:p>
            <a:fld id="{EBCCEB8C-0C59-3646-8774-4E9611D20F2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13327" y="6486526"/>
            <a:ext cx="2419746" cy="365125"/>
          </a:xfrm>
          <a:prstGeom prst="rect">
            <a:avLst/>
          </a:prstGeom>
        </p:spPr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16442" y="1753201"/>
            <a:ext cx="8949796" cy="4759325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pic>
        <p:nvPicPr>
          <p:cNvPr id="9" name="Picture 8" descr="footer.jpg"/>
          <p:cNvPicPr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376" y="0"/>
            <a:ext cx="9904624" cy="230400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316442" y="23190"/>
            <a:ext cx="8887883" cy="264596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Tx/>
              <a:buNone/>
              <a:defRPr sz="1100" b="0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 rot="5400000">
            <a:off x="2749881" y="6744429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 rot="5400000">
            <a:off x="218348" y="6738874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5400000">
            <a:off x="9090753" y="6738872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 rot="5400000">
            <a:off x="2749881" y="6738078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ooter.jpg"/>
          <p:cNvPicPr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6627018"/>
            <a:ext cx="9906000" cy="230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Click to edit Master title style</a:t>
            </a:r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486526"/>
            <a:ext cx="577850" cy="365125"/>
          </a:xfrm>
          <a:prstGeom prst="rect">
            <a:avLst/>
          </a:prstGeom>
        </p:spPr>
        <p:txBody>
          <a:bodyPr/>
          <a:lstStyle/>
          <a:p>
            <a:fld id="{EBCCEB8C-0C59-3646-8774-4E9611D20F2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13327" y="6486526"/>
            <a:ext cx="2419746" cy="365125"/>
          </a:xfrm>
          <a:prstGeom prst="rect">
            <a:avLst/>
          </a:prstGeom>
        </p:spPr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16442" y="1753201"/>
            <a:ext cx="8949796" cy="4759325"/>
          </a:xfrm>
        </p:spPr>
        <p:txBody>
          <a:bodyPr/>
          <a:lstStyle/>
          <a:p>
            <a:pPr lvl="0"/>
            <a:r>
              <a:rPr lang="de-DE" smtClean="0"/>
              <a:t>Click to edit Master text styles</a:t>
            </a:r>
          </a:p>
          <a:p>
            <a:pPr lvl="1"/>
            <a:r>
              <a:rPr lang="de-DE" smtClean="0"/>
              <a:t>Second level</a:t>
            </a:r>
          </a:p>
          <a:p>
            <a:pPr lvl="2"/>
            <a:r>
              <a:rPr lang="de-DE" smtClean="0"/>
              <a:t>Third level</a:t>
            </a:r>
          </a:p>
          <a:p>
            <a:pPr lvl="3"/>
            <a:r>
              <a:rPr lang="de-DE" smtClean="0"/>
              <a:t>Fourth level</a:t>
            </a:r>
          </a:p>
          <a:p>
            <a:pPr lvl="4"/>
            <a:r>
              <a:rPr lang="de-DE" smtClean="0"/>
              <a:t>Fifth level</a:t>
            </a:r>
            <a:endParaRPr lang="de-DE"/>
          </a:p>
        </p:txBody>
      </p:sp>
      <p:pic>
        <p:nvPicPr>
          <p:cNvPr id="9" name="Picture 8" descr="footer.jpg"/>
          <p:cNvPicPr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376" y="0"/>
            <a:ext cx="9904624" cy="230400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316442" y="23190"/>
            <a:ext cx="8887883" cy="264596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Tx/>
              <a:buNone/>
              <a:defRPr sz="1100" b="0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 smtClean="0"/>
              <a:t>Click</a:t>
            </a:r>
            <a:r>
              <a:rPr lang="de-DE" dirty="0" smtClean="0"/>
              <a:t> to </a:t>
            </a:r>
            <a:r>
              <a:rPr lang="de-DE" dirty="0" err="1" smtClean="0"/>
              <a:t>edit</a:t>
            </a:r>
            <a:r>
              <a:rPr lang="de-DE" dirty="0" smtClean="0"/>
              <a:t> Master text </a:t>
            </a:r>
            <a:r>
              <a:rPr lang="de-DE" dirty="0" err="1" smtClean="0"/>
              <a:t>styles</a:t>
            </a:r>
            <a:endParaRPr lang="de-DE" dirty="0" smtClean="0"/>
          </a:p>
        </p:txBody>
      </p:sp>
      <p:cxnSp>
        <p:nvCxnSpPr>
          <p:cNvPr id="11" name="Straight Connector 10"/>
          <p:cNvCxnSpPr/>
          <p:nvPr userDrawn="1"/>
        </p:nvCxnSpPr>
        <p:spPr>
          <a:xfrm rot="5400000">
            <a:off x="2749881" y="6744429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 rot="5400000">
            <a:off x="218348" y="6738874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5400000">
            <a:off x="9090753" y="6738872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 rot="5400000">
            <a:off x="2749881" y="6738078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gradFill flip="none" rotWithShape="1">
          <a:gsLst>
            <a:gs pos="0">
              <a:schemeClr val="accent6">
                <a:lumMod val="20000"/>
                <a:lumOff val="80000"/>
              </a:schemeClr>
            </a:gs>
            <a:gs pos="63000">
              <a:schemeClr val="accent4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486526"/>
            <a:ext cx="577850" cy="365125"/>
          </a:xfrm>
          <a:prstGeom prst="rect">
            <a:avLst/>
          </a:prstGeom>
        </p:spPr>
        <p:txBody>
          <a:bodyPr/>
          <a:lstStyle/>
          <a:p>
            <a:fld id="{EBCCEB8C-0C59-3646-8774-4E9611D20F2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13327" y="6486526"/>
            <a:ext cx="2419746" cy="365125"/>
          </a:xfrm>
          <a:prstGeom prst="rect">
            <a:avLst/>
          </a:prstGeom>
        </p:spPr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16442" y="1753201"/>
            <a:ext cx="8722783" cy="4733325"/>
          </a:xfrm>
        </p:spPr>
        <p:txBody>
          <a:bodyPr/>
          <a:lstStyle>
            <a:lvl1pPr marL="342900" indent="-342900">
              <a:buClr>
                <a:schemeClr val="bg1"/>
              </a:buClr>
              <a:buSzPct val="100000"/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rot="5400000">
            <a:off x="2749881" y="6744429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 rot="5400000">
            <a:off x="218348" y="6738874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 rot="5400000">
            <a:off x="9090753" y="6738872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 userDrawn="1"/>
        </p:nvCxnSpPr>
        <p:spPr>
          <a:xfrm rot="5400000">
            <a:off x="2749881" y="6738078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5400000">
            <a:off x="2751601" y="6738079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 rot="5400000">
            <a:off x="2751601" y="6738078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 rot="5400000">
            <a:off x="2748160" y="6738078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LOGO_master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429797" y="0"/>
            <a:ext cx="2476203" cy="841486"/>
          </a:xfrm>
          <a:prstGeom prst="rect">
            <a:avLst/>
          </a:prstGeom>
        </p:spPr>
      </p:pic>
      <p:sp>
        <p:nvSpPr>
          <p:cNvPr id="1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908049" y="2298170"/>
            <a:ext cx="6521748" cy="520700"/>
          </a:xfrm>
          <a:prstGeom prst="rect">
            <a:avLst/>
          </a:prstGeom>
        </p:spPr>
        <p:txBody>
          <a:bodyPr vert="horz" lIns="0" tIns="0" rIns="91440" bIns="0" rtlCol="0" anchor="b" anchorCtr="0">
            <a:noAutofit/>
          </a:bodyPr>
          <a:lstStyle>
            <a:lvl1pPr>
              <a:lnSpc>
                <a:spcPct val="100000"/>
              </a:lnSpc>
              <a:defRPr sz="2800" b="0" baseline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 dirty="0" smtClean="0"/>
              <a:t>Das </a:t>
            </a:r>
            <a:r>
              <a:rPr lang="en-US" dirty="0" err="1" smtClean="0"/>
              <a:t>ist</a:t>
            </a:r>
            <a:r>
              <a:rPr lang="en-US" dirty="0" smtClean="0"/>
              <a:t> </a:t>
            </a:r>
            <a:r>
              <a:rPr lang="en-US" dirty="0" err="1" smtClean="0"/>
              <a:t>der</a:t>
            </a:r>
            <a:r>
              <a:rPr lang="en-US" dirty="0" smtClean="0"/>
              <a:t> </a:t>
            </a:r>
            <a:r>
              <a:rPr lang="en-US" dirty="0" err="1" smtClean="0"/>
              <a:t>Haupttitel</a:t>
            </a:r>
            <a:endParaRPr lang="de-DE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0" y="2857501"/>
            <a:ext cx="9906000" cy="4000499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</a:schemeClr>
              </a:gs>
              <a:gs pos="63000">
                <a:schemeClr val="accent4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3" name="Picture 12" descr="excellence_980x268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2858400"/>
            <a:ext cx="9906000" cy="4000500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>
          <a:xfrm>
            <a:off x="0" y="0"/>
            <a:ext cx="4031192" cy="6477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footer.jpg"/>
          <p:cNvPicPr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6627018"/>
            <a:ext cx="9906000" cy="230400"/>
          </a:xfrm>
          <a:prstGeom prst="rect">
            <a:avLst/>
          </a:prstGeom>
        </p:spPr>
      </p:pic>
      <p:pic>
        <p:nvPicPr>
          <p:cNvPr id="10" name="Picture 9" descr="footer.jpg"/>
          <p:cNvPicPr>
            <a:picLocks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376" y="0"/>
            <a:ext cx="9904624" cy="230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266238" y="6486526"/>
            <a:ext cx="57785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  <a:cs typeface="Arial"/>
              </a:defRPr>
            </a:lvl1pPr>
          </a:lstStyle>
          <a:p>
            <a:fld id="{EBCCEB8C-0C59-3646-8774-4E9611D20F23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413401" y="6486526"/>
            <a:ext cx="2153180" cy="365125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10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6442" y="23190"/>
            <a:ext cx="8887883" cy="264596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Tx/>
              <a:buNone/>
              <a:defRPr sz="1100" b="0" cap="none">
                <a:solidFill>
                  <a:schemeClr val="bg1"/>
                </a:solidFill>
              </a:defRPr>
            </a:lvl1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cxnSp>
        <p:nvCxnSpPr>
          <p:cNvPr id="12" name="Straight Connector 11"/>
          <p:cNvCxnSpPr/>
          <p:nvPr userDrawn="1"/>
        </p:nvCxnSpPr>
        <p:spPr>
          <a:xfrm rot="5400000">
            <a:off x="2749881" y="6744429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 userDrawn="1"/>
        </p:nvCxnSpPr>
        <p:spPr>
          <a:xfrm rot="5400000">
            <a:off x="218348" y="6738874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 rot="5400000">
            <a:off x="9090753" y="6738872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 rot="5400000">
            <a:off x="2751601" y="6738078"/>
            <a:ext cx="225425" cy="1720"/>
          </a:xfrm>
          <a:prstGeom prst="line">
            <a:avLst/>
          </a:prstGeom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0988" y="1238250"/>
            <a:ext cx="9421812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Klicken Sie, um die Formate des Vorlagentextes zu bearbeiten</a:t>
            </a:r>
          </a:p>
          <a:p>
            <a:pPr lvl="1"/>
            <a:r>
              <a:rPr lang="en-GB" smtClean="0"/>
              <a:t>Zweite Ebene Klicken Sie, um die Formate des Vorlagentextes zu bearbeiten</a:t>
            </a:r>
          </a:p>
          <a:p>
            <a:pPr lvl="2"/>
            <a:r>
              <a:rPr lang="en-GB" smtClean="0"/>
              <a:t>Dritte Ebene Klicken Sie, um die Formate des Vorlagentextes zu bearbeiten</a:t>
            </a:r>
            <a:r>
              <a:rPr lang="de-DE" smtClean="0"/>
              <a:t> hsdgkhskksjkskj</a:t>
            </a:r>
            <a:endParaRPr lang="en-GB" smtClean="0"/>
          </a:p>
          <a:p>
            <a:pPr lvl="3"/>
            <a:r>
              <a:rPr lang="en-GB" smtClean="0"/>
              <a:t>Vierte Ebene Klicken Sie, um die Formate des Vorlagentextes zu bearbeiten</a:t>
            </a:r>
          </a:p>
        </p:txBody>
      </p:sp>
      <p:sp>
        <p:nvSpPr>
          <p:cNvPr id="272393" name="Rectangle 9"/>
          <p:cNvSpPr>
            <a:spLocks noChangeArrowheads="1"/>
          </p:cNvSpPr>
          <p:nvPr/>
        </p:nvSpPr>
        <p:spPr bwMode="auto">
          <a:xfrm>
            <a:off x="7874000" y="1246188"/>
            <a:ext cx="1317625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27239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5750" y="6292850"/>
            <a:ext cx="938688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5720" rIns="90000" bIns="45720" numCol="1" anchor="t" anchorCtr="0" compatLnSpc="1">
            <a:prstTxWarp prst="textNoShape">
              <a:avLst/>
            </a:prstTxWarp>
            <a:spAutoFit/>
          </a:bodyPr>
          <a:lstStyle>
            <a:lvl1pPr>
              <a:buClrTx/>
              <a:buFontTx/>
              <a:buNone/>
              <a:defRPr sz="800">
                <a:solidFill>
                  <a:srgbClr val="4D4D4D"/>
                </a:solidFill>
                <a:latin typeface="Arial" pitchFamily="34" charset="0"/>
              </a:defRPr>
            </a:lvl1pPr>
          </a:lstStyle>
          <a:p>
            <a:r>
              <a:rPr lang="de-DE" smtClean="0"/>
              <a:t>Prof. Dr. Reiner Hüttl      FH Rosenheim                     Programmieren 3                              Wintersemester 2010                                   © 2010  • Stand 01.10.10 •   Kapitel 9        </a:t>
            </a:r>
            <a:endParaRPr lang="en-GB" sz="1000" dirty="0"/>
          </a:p>
        </p:txBody>
      </p:sp>
      <p:sp>
        <p:nvSpPr>
          <p:cNvPr id="272395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739775" y="265113"/>
            <a:ext cx="5713413" cy="4270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GB" smtClean="0"/>
          </a:p>
        </p:txBody>
      </p:sp>
      <p:sp>
        <p:nvSpPr>
          <p:cNvPr id="272396" name="Freeform 12"/>
          <p:cNvSpPr>
            <a:spLocks/>
          </p:cNvSpPr>
          <p:nvPr/>
        </p:nvSpPr>
        <p:spPr bwMode="auto">
          <a:xfrm>
            <a:off x="282575" y="314325"/>
            <a:ext cx="363538" cy="334963"/>
          </a:xfrm>
          <a:custGeom>
            <a:avLst/>
            <a:gdLst/>
            <a:ahLst/>
            <a:cxnLst>
              <a:cxn ang="0">
                <a:pos x="72" y="0"/>
              </a:cxn>
              <a:cxn ang="0">
                <a:pos x="779" y="0"/>
              </a:cxn>
              <a:cxn ang="0">
                <a:pos x="794" y="0"/>
              </a:cxn>
              <a:cxn ang="0">
                <a:pos x="809" y="5"/>
              </a:cxn>
              <a:cxn ang="0">
                <a:pos x="821" y="9"/>
              </a:cxn>
              <a:cxn ang="0">
                <a:pos x="833" y="17"/>
              </a:cxn>
              <a:cxn ang="0">
                <a:pos x="840" y="26"/>
              </a:cxn>
              <a:cxn ang="0">
                <a:pos x="845" y="38"/>
              </a:cxn>
              <a:cxn ang="0">
                <a:pos x="850" y="52"/>
              </a:cxn>
              <a:cxn ang="0">
                <a:pos x="851" y="71"/>
              </a:cxn>
              <a:cxn ang="0">
                <a:pos x="851" y="776"/>
              </a:cxn>
              <a:cxn ang="0">
                <a:pos x="850" y="779"/>
              </a:cxn>
              <a:cxn ang="0">
                <a:pos x="850" y="783"/>
              </a:cxn>
              <a:cxn ang="0">
                <a:pos x="850" y="791"/>
              </a:cxn>
              <a:cxn ang="0">
                <a:pos x="845" y="805"/>
              </a:cxn>
              <a:cxn ang="0">
                <a:pos x="840" y="818"/>
              </a:cxn>
              <a:cxn ang="0">
                <a:pos x="833" y="829"/>
              </a:cxn>
              <a:cxn ang="0">
                <a:pos x="821" y="836"/>
              </a:cxn>
              <a:cxn ang="0">
                <a:pos x="809" y="842"/>
              </a:cxn>
              <a:cxn ang="0">
                <a:pos x="794" y="846"/>
              </a:cxn>
              <a:cxn ang="0">
                <a:pos x="786" y="846"/>
              </a:cxn>
              <a:cxn ang="0">
                <a:pos x="782" y="846"/>
              </a:cxn>
              <a:cxn ang="0">
                <a:pos x="779" y="848"/>
              </a:cxn>
              <a:cxn ang="0">
                <a:pos x="72" y="848"/>
              </a:cxn>
              <a:cxn ang="0">
                <a:pos x="53" y="846"/>
              </a:cxn>
              <a:cxn ang="0">
                <a:pos x="39" y="842"/>
              </a:cxn>
              <a:cxn ang="0">
                <a:pos x="26" y="836"/>
              </a:cxn>
              <a:cxn ang="0">
                <a:pos x="17" y="829"/>
              </a:cxn>
              <a:cxn ang="0">
                <a:pos x="8" y="818"/>
              </a:cxn>
              <a:cxn ang="0">
                <a:pos x="4" y="805"/>
              </a:cxn>
              <a:cxn ang="0">
                <a:pos x="0" y="791"/>
              </a:cxn>
              <a:cxn ang="0">
                <a:pos x="0" y="776"/>
              </a:cxn>
              <a:cxn ang="0">
                <a:pos x="0" y="71"/>
              </a:cxn>
              <a:cxn ang="0">
                <a:pos x="0" y="52"/>
              </a:cxn>
              <a:cxn ang="0">
                <a:pos x="4" y="38"/>
              </a:cxn>
              <a:cxn ang="0">
                <a:pos x="8" y="26"/>
              </a:cxn>
              <a:cxn ang="0">
                <a:pos x="17" y="17"/>
              </a:cxn>
              <a:cxn ang="0">
                <a:pos x="26" y="9"/>
              </a:cxn>
              <a:cxn ang="0">
                <a:pos x="39" y="5"/>
              </a:cxn>
              <a:cxn ang="0">
                <a:pos x="53" y="0"/>
              </a:cxn>
              <a:cxn ang="0">
                <a:pos x="72" y="0"/>
              </a:cxn>
            </a:cxnLst>
            <a:rect l="0" t="0" r="r" b="b"/>
            <a:pathLst>
              <a:path w="851" h="848">
                <a:moveTo>
                  <a:pt x="72" y="0"/>
                </a:moveTo>
                <a:lnTo>
                  <a:pt x="779" y="0"/>
                </a:lnTo>
                <a:lnTo>
                  <a:pt x="794" y="0"/>
                </a:lnTo>
                <a:lnTo>
                  <a:pt x="809" y="5"/>
                </a:lnTo>
                <a:lnTo>
                  <a:pt x="821" y="9"/>
                </a:lnTo>
                <a:lnTo>
                  <a:pt x="833" y="17"/>
                </a:lnTo>
                <a:lnTo>
                  <a:pt x="840" y="26"/>
                </a:lnTo>
                <a:lnTo>
                  <a:pt x="845" y="38"/>
                </a:lnTo>
                <a:lnTo>
                  <a:pt x="850" y="52"/>
                </a:lnTo>
                <a:lnTo>
                  <a:pt x="851" y="71"/>
                </a:lnTo>
                <a:lnTo>
                  <a:pt x="851" y="776"/>
                </a:lnTo>
                <a:lnTo>
                  <a:pt x="850" y="779"/>
                </a:lnTo>
                <a:lnTo>
                  <a:pt x="850" y="783"/>
                </a:lnTo>
                <a:lnTo>
                  <a:pt x="850" y="791"/>
                </a:lnTo>
                <a:lnTo>
                  <a:pt x="845" y="805"/>
                </a:lnTo>
                <a:lnTo>
                  <a:pt x="840" y="818"/>
                </a:lnTo>
                <a:lnTo>
                  <a:pt x="833" y="829"/>
                </a:lnTo>
                <a:lnTo>
                  <a:pt x="821" y="836"/>
                </a:lnTo>
                <a:lnTo>
                  <a:pt x="809" y="842"/>
                </a:lnTo>
                <a:lnTo>
                  <a:pt x="794" y="846"/>
                </a:lnTo>
                <a:lnTo>
                  <a:pt x="786" y="846"/>
                </a:lnTo>
                <a:lnTo>
                  <a:pt x="782" y="846"/>
                </a:lnTo>
                <a:lnTo>
                  <a:pt x="779" y="848"/>
                </a:lnTo>
                <a:lnTo>
                  <a:pt x="72" y="848"/>
                </a:lnTo>
                <a:lnTo>
                  <a:pt x="53" y="846"/>
                </a:lnTo>
                <a:lnTo>
                  <a:pt x="39" y="842"/>
                </a:lnTo>
                <a:lnTo>
                  <a:pt x="26" y="836"/>
                </a:lnTo>
                <a:lnTo>
                  <a:pt x="17" y="829"/>
                </a:lnTo>
                <a:lnTo>
                  <a:pt x="8" y="818"/>
                </a:lnTo>
                <a:lnTo>
                  <a:pt x="4" y="805"/>
                </a:lnTo>
                <a:lnTo>
                  <a:pt x="0" y="791"/>
                </a:lnTo>
                <a:lnTo>
                  <a:pt x="0" y="776"/>
                </a:lnTo>
                <a:lnTo>
                  <a:pt x="0" y="71"/>
                </a:lnTo>
                <a:lnTo>
                  <a:pt x="0" y="52"/>
                </a:lnTo>
                <a:lnTo>
                  <a:pt x="4" y="38"/>
                </a:lnTo>
                <a:lnTo>
                  <a:pt x="8" y="26"/>
                </a:lnTo>
                <a:lnTo>
                  <a:pt x="17" y="17"/>
                </a:lnTo>
                <a:lnTo>
                  <a:pt x="26" y="9"/>
                </a:lnTo>
                <a:lnTo>
                  <a:pt x="39" y="5"/>
                </a:lnTo>
                <a:lnTo>
                  <a:pt x="53" y="0"/>
                </a:lnTo>
                <a:lnTo>
                  <a:pt x="72" y="0"/>
                </a:lnTo>
              </a:path>
            </a:pathLst>
          </a:custGeom>
          <a:solidFill>
            <a:srgbClr val="CC0000"/>
          </a:solidFill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  <p:sp>
        <p:nvSpPr>
          <p:cNvPr id="272397" name="Freeform 13"/>
          <p:cNvSpPr>
            <a:spLocks/>
          </p:cNvSpPr>
          <p:nvPr/>
        </p:nvSpPr>
        <p:spPr bwMode="auto">
          <a:xfrm>
            <a:off x="411163" y="382588"/>
            <a:ext cx="107950" cy="198437"/>
          </a:xfrm>
          <a:custGeom>
            <a:avLst/>
            <a:gdLst/>
            <a:ahLst/>
            <a:cxnLst>
              <a:cxn ang="0">
                <a:pos x="252" y="248"/>
              </a:cxn>
              <a:cxn ang="0">
                <a:pos x="0" y="0"/>
              </a:cxn>
              <a:cxn ang="0">
                <a:pos x="0" y="500"/>
              </a:cxn>
              <a:cxn ang="0">
                <a:pos x="252" y="248"/>
              </a:cxn>
            </a:cxnLst>
            <a:rect l="0" t="0" r="r" b="b"/>
            <a:pathLst>
              <a:path w="252" h="500">
                <a:moveTo>
                  <a:pt x="252" y="248"/>
                </a:moveTo>
                <a:lnTo>
                  <a:pt x="0" y="0"/>
                </a:lnTo>
                <a:lnTo>
                  <a:pt x="0" y="500"/>
                </a:lnTo>
                <a:lnTo>
                  <a:pt x="252" y="24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2" r:id="rId12"/>
    <p:sldLayoutId id="2147483683" r:id="rId13"/>
    <p:sldLayoutId id="2147483684" r:id="rId14"/>
    <p:sldLayoutId id="2147483685" r:id="rId15"/>
    <p:sldLayoutId id="2147483686" r:id="rId16"/>
  </p:sldLayoutIdLst>
  <p:hf sldNum="0" hdr="0" dt="0"/>
  <p:txStyles>
    <p:titleStyle>
      <a:lvl1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2pPr>
      <a:lvl3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3pPr>
      <a:lvl4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4pPr>
      <a:lvl5pPr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5pPr>
      <a:lvl6pPr marL="457200"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6pPr>
      <a:lvl7pPr marL="914400"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7pPr>
      <a:lvl8pPr marL="1371600"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8pPr>
      <a:lvl9pPr marL="1828800" algn="l" rtl="0" eaLnBrk="0" fontAlgn="base" hangingPunct="0">
        <a:spcBef>
          <a:spcPct val="50000"/>
        </a:spcBef>
        <a:spcAft>
          <a:spcPct val="0"/>
        </a:spcAft>
        <a:buClr>
          <a:srgbClr val="6699FF"/>
        </a:buClr>
        <a:buFont typeface="Zapf Dingbats" charset="2"/>
        <a:defRPr sz="22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defTabSz="630238" rtl="0" eaLnBrk="0" fontAlgn="base" hangingPunct="0">
        <a:spcBef>
          <a:spcPct val="100000"/>
        </a:spcBef>
        <a:spcAft>
          <a:spcPct val="0"/>
        </a:spcAft>
        <a:buClr>
          <a:srgbClr val="00337F"/>
        </a:buClr>
        <a:buSzPct val="150000"/>
        <a:buFont typeface="Wingdings" pitchFamily="2" charset="2"/>
        <a:buBlip>
          <a:blip r:embed="rId18"/>
        </a:buBlip>
        <a:tabLst>
          <a:tab pos="285750" algn="l"/>
        </a:tabLst>
        <a:defRPr sz="2000">
          <a:solidFill>
            <a:srgbClr val="000000"/>
          </a:solidFill>
          <a:latin typeface="+mn-lt"/>
          <a:ea typeface="+mn-ea"/>
          <a:cs typeface="+mn-cs"/>
        </a:defRPr>
      </a:lvl1pPr>
      <a:lvl2pPr marL="762000" indent="-285750" algn="l" defTabSz="630238" rtl="0" eaLnBrk="0" fontAlgn="base" hangingPunct="0">
        <a:spcBef>
          <a:spcPct val="20000"/>
        </a:spcBef>
        <a:spcAft>
          <a:spcPct val="0"/>
        </a:spcAft>
        <a:buClr>
          <a:srgbClr val="00337F"/>
        </a:buClr>
        <a:buSzPct val="150000"/>
        <a:buFont typeface="Wingdings" pitchFamily="2" charset="2"/>
        <a:buBlip>
          <a:blip r:embed="rId18"/>
        </a:buBlip>
        <a:tabLst>
          <a:tab pos="285750" algn="l"/>
        </a:tabLst>
        <a:defRPr>
          <a:solidFill>
            <a:srgbClr val="000000"/>
          </a:solidFill>
          <a:latin typeface="+mn-lt"/>
        </a:defRPr>
      </a:lvl2pPr>
      <a:lvl3pPr marL="1181100" indent="-228600" algn="l" defTabSz="630238" rtl="0" eaLnBrk="0" fontAlgn="base" hangingPunct="0">
        <a:spcBef>
          <a:spcPct val="0"/>
        </a:spcBef>
        <a:spcAft>
          <a:spcPct val="0"/>
        </a:spcAft>
        <a:buClr>
          <a:srgbClr val="00337F"/>
        </a:buClr>
        <a:buSzPct val="150000"/>
        <a:buBlip>
          <a:blip r:embed="rId18"/>
        </a:buBlip>
        <a:tabLst>
          <a:tab pos="285750" algn="l"/>
        </a:tabLst>
        <a:defRPr sz="1600">
          <a:solidFill>
            <a:schemeClr val="tx1"/>
          </a:solidFill>
          <a:latin typeface="+mn-lt"/>
        </a:defRPr>
      </a:lvl3pPr>
      <a:lvl4pPr marL="16002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7F"/>
        </a:buClr>
        <a:buSzPct val="150000"/>
        <a:buFont typeface="Wingdings" pitchFamily="2" charset="2"/>
        <a:buBlip>
          <a:blip r:embed="rId18"/>
        </a:buBlip>
        <a:tabLst>
          <a:tab pos="285750" algn="l"/>
        </a:tabLst>
        <a:defRPr sz="1400">
          <a:solidFill>
            <a:schemeClr val="tx1"/>
          </a:solidFill>
          <a:latin typeface="+mn-lt"/>
        </a:defRPr>
      </a:lvl4pPr>
      <a:lvl5pPr marL="20193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5pPr>
      <a:lvl6pPr marL="24765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6pPr>
      <a:lvl7pPr marL="29337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7pPr>
      <a:lvl8pPr marL="33909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8pPr>
      <a:lvl9pPr marL="3848100" indent="-228600" algn="l" defTabSz="630238" rtl="0" eaLnBrk="0" fontAlgn="base" hangingPunct="0">
        <a:spcBef>
          <a:spcPct val="20000"/>
        </a:spcBef>
        <a:spcAft>
          <a:spcPct val="0"/>
        </a:spcAft>
        <a:buClr>
          <a:srgbClr val="003366"/>
        </a:buClr>
        <a:buSzPct val="35000"/>
        <a:buFont typeface="Wingdings" pitchFamily="2" charset="2"/>
        <a:tabLst>
          <a:tab pos="285750" algn="l"/>
        </a:tabLst>
        <a:defRPr sz="14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4650" y="320317"/>
            <a:ext cx="8780463" cy="565150"/>
          </a:xfrm>
        </p:spPr>
        <p:txBody>
          <a:bodyPr/>
          <a:lstStyle/>
          <a:p>
            <a:pPr algn="ctr">
              <a:defRPr/>
            </a:pPr>
            <a:r>
              <a:rPr lang="de-DE" dirty="0" smtClean="0"/>
              <a:t>Programmieren 3</a:t>
            </a:r>
          </a:p>
        </p:txBody>
      </p:sp>
      <p:sp>
        <p:nvSpPr>
          <p:cNvPr id="3665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1930" y="1202155"/>
            <a:ext cx="8780463" cy="4893647"/>
          </a:xfrm>
        </p:spPr>
        <p:txBody>
          <a:bodyPr/>
          <a:lstStyle/>
          <a:p>
            <a:pPr algn="ctr">
              <a:defRPr/>
            </a:pPr>
            <a:r>
              <a:rPr lang="de-DE" sz="2400" b="1" dirty="0" smtClean="0"/>
              <a:t>Kapitel 9: Anti Patterns </a:t>
            </a:r>
            <a:br>
              <a:rPr lang="de-DE" sz="2400" b="1" dirty="0" smtClean="0"/>
            </a:br>
            <a:r>
              <a:rPr lang="de-DE" sz="2000" b="1" dirty="0" smtClean="0"/>
              <a:t>oder</a:t>
            </a:r>
            <a:r>
              <a:rPr lang="de-DE" sz="2400" b="1" dirty="0" smtClean="0"/>
              <a:t> </a:t>
            </a:r>
            <a:br>
              <a:rPr lang="de-DE" sz="2400" b="1" dirty="0" smtClean="0"/>
            </a:br>
            <a:r>
              <a:rPr lang="de-DE" sz="2400" b="1" dirty="0" smtClean="0"/>
              <a:t/>
            </a:r>
            <a:br>
              <a:rPr lang="de-DE" sz="2400" b="1" dirty="0" smtClean="0"/>
            </a:br>
            <a:r>
              <a:rPr lang="de-DE" sz="2400" b="1" dirty="0" smtClean="0"/>
              <a:t/>
            </a:r>
            <a:br>
              <a:rPr lang="de-DE" sz="2400" b="1" dirty="0" smtClean="0"/>
            </a:br>
            <a:r>
              <a:rPr lang="de-DE" sz="2400" b="1" dirty="0" smtClean="0"/>
              <a:t/>
            </a:r>
            <a:br>
              <a:rPr lang="de-DE" sz="2400" b="1" dirty="0" smtClean="0"/>
            </a:br>
            <a:r>
              <a:rPr lang="de-DE" sz="2400" b="1" dirty="0" smtClean="0"/>
              <a:t/>
            </a:r>
            <a:br>
              <a:rPr lang="de-DE" sz="2400" b="1" dirty="0" smtClean="0"/>
            </a:br>
            <a:r>
              <a:rPr lang="de-DE" sz="2400" b="1" dirty="0" smtClean="0"/>
              <a:t/>
            </a:r>
            <a:br>
              <a:rPr lang="de-DE" sz="2400" b="1" dirty="0" smtClean="0"/>
            </a:br>
            <a:r>
              <a:rPr lang="de-DE" sz="2400" b="1" dirty="0" smtClean="0"/>
              <a:t/>
            </a:r>
            <a:br>
              <a:rPr lang="de-DE" sz="2400" b="1" dirty="0" smtClean="0"/>
            </a:br>
            <a:r>
              <a:rPr lang="de-DE" sz="2400" b="1" dirty="0" smtClean="0"/>
              <a:t/>
            </a:r>
            <a:br>
              <a:rPr lang="de-DE" sz="2400" b="1" dirty="0" smtClean="0"/>
            </a:br>
            <a:r>
              <a:rPr lang="de-DE" sz="2400" b="1" dirty="0" smtClean="0"/>
              <a:t/>
            </a:r>
            <a:br>
              <a:rPr lang="de-DE" sz="2400" b="1" dirty="0" smtClean="0"/>
            </a:br>
            <a:r>
              <a:rPr lang="de-DE" sz="2400" b="1" dirty="0" smtClean="0"/>
              <a:t/>
            </a:r>
            <a:br>
              <a:rPr lang="de-DE" sz="2400" b="1" dirty="0" smtClean="0"/>
            </a:br>
            <a:r>
              <a:rPr lang="de-DE" sz="2400" b="1" dirty="0" smtClean="0"/>
              <a:t>So sollte man lieber nicht Programmieren,</a:t>
            </a:r>
            <a:br>
              <a:rPr lang="de-DE" sz="2400" b="1" dirty="0" smtClean="0"/>
            </a:br>
            <a:r>
              <a:rPr lang="de-DE" sz="2400" b="1" dirty="0" smtClean="0"/>
              <a:t>aber es passiert trotzdem</a:t>
            </a:r>
          </a:p>
        </p:txBody>
      </p:sp>
      <p:pic>
        <p:nvPicPr>
          <p:cNvPr id="2" name="Picture 2" descr="C:\Daten1\SW-Engineering\Materialien\Bilder\07-AndNowRelax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209" y="2081676"/>
            <a:ext cx="3990110" cy="2992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C:\Daten1\SW-Engineering\Materialien\Bilder\05-EfficientAndRepeatableProcesses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63" y="2101131"/>
            <a:ext cx="4010735" cy="2992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8049" y="2298170"/>
            <a:ext cx="8792112" cy="520700"/>
          </a:xfrm>
        </p:spPr>
        <p:txBody>
          <a:bodyPr/>
          <a:lstStyle/>
          <a:p>
            <a:r>
              <a:rPr lang="de-DE" b="1" dirty="0" smtClean="0"/>
              <a:t>Software Museum: Gruselkabinett</a:t>
            </a: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err="1" smtClean="0"/>
              <a:t>Anti-Patterns</a:t>
            </a:r>
            <a:r>
              <a:rPr lang="de-DE" dirty="0" smtClean="0"/>
              <a:t> aus dem Projekt-Alltag</a:t>
            </a:r>
            <a:endParaRPr lang="de-DE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049" y="1457097"/>
            <a:ext cx="2917642" cy="341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Agenda</a:t>
            </a:r>
            <a:endParaRPr lang="de-DE" b="1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de-DE" b="1" dirty="0" smtClean="0">
                <a:solidFill>
                  <a:srgbClr val="C00000"/>
                </a:solidFill>
              </a:rPr>
              <a:t>Erklärungsversuche</a:t>
            </a:r>
          </a:p>
          <a:p>
            <a:pPr>
              <a:buClrTx/>
            </a:pPr>
            <a:r>
              <a:rPr lang="de-DE" dirty="0" err="1" smtClean="0"/>
              <a:t>Naming</a:t>
            </a:r>
            <a:r>
              <a:rPr lang="de-DE" dirty="0" smtClean="0"/>
              <a:t> Anti-Patterns</a:t>
            </a:r>
          </a:p>
          <a:p>
            <a:r>
              <a:rPr lang="de-DE" dirty="0" smtClean="0"/>
              <a:t>Formatierung und Kommentare</a:t>
            </a:r>
          </a:p>
          <a:p>
            <a:r>
              <a:rPr lang="de-DE" dirty="0" smtClean="0"/>
              <a:t>Funktionen und Methoden</a:t>
            </a:r>
          </a:p>
          <a:p>
            <a:r>
              <a:rPr lang="de-DE" dirty="0" smtClean="0"/>
              <a:t>Objekte und Datenstrukturen</a:t>
            </a:r>
          </a:p>
          <a:p>
            <a:r>
              <a:rPr lang="de-DE" dirty="0" smtClean="0"/>
              <a:t>Schlechte Programmierung</a:t>
            </a:r>
          </a:p>
          <a:p>
            <a:r>
              <a:rPr lang="de-DE" dirty="0" smtClean="0"/>
              <a:t>Lösungsansätze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Wie und warum entsteht </a:t>
            </a:r>
            <a:r>
              <a:rPr lang="de-DE" b="1" dirty="0" err="1" smtClean="0"/>
              <a:t>Dirty</a:t>
            </a:r>
            <a:r>
              <a:rPr lang="de-DE" b="1" dirty="0" smtClean="0"/>
              <a:t> Code? Erklärungsversuche … 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602644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4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>
                <a:solidFill>
                  <a:schemeClr val="bg1"/>
                </a:solidFill>
              </a:rPr>
              <a:pPr/>
              <a:t>18. Januar 2015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0" y="1709321"/>
            <a:ext cx="8950325" cy="3114675"/>
          </a:xfrm>
        </p:spPr>
        <p:txBody>
          <a:bodyPr/>
          <a:lstStyle/>
          <a:p>
            <a:r>
              <a:rPr lang="de-DE" dirty="0" smtClean="0"/>
              <a:t>Es gibt viel Literatur über sauberen Code, Patterns und Best Practices: dennoch gibt es immer noch Schandflecken der Programmierung</a:t>
            </a:r>
          </a:p>
          <a:p>
            <a:r>
              <a:rPr lang="de-DE" dirty="0" smtClean="0"/>
              <a:t>Mögliche Ursachen bzw. Erklärungsversuche:</a:t>
            </a:r>
          </a:p>
          <a:p>
            <a:pPr lvl="1"/>
            <a:r>
              <a:rPr lang="de-DE" dirty="0" smtClean="0"/>
              <a:t>Grundhaltung des Entwicklers</a:t>
            </a:r>
          </a:p>
          <a:p>
            <a:pPr lvl="1"/>
            <a:r>
              <a:rPr lang="de-DE" dirty="0" smtClean="0"/>
              <a:t>Kein handwerklicher Stolz</a:t>
            </a:r>
          </a:p>
          <a:p>
            <a:pPr lvl="1"/>
            <a:r>
              <a:rPr lang="de-DE" dirty="0" smtClean="0"/>
              <a:t>Fehlende Erfahrung</a:t>
            </a:r>
          </a:p>
          <a:p>
            <a:pPr lvl="1"/>
            <a:r>
              <a:rPr lang="de-DE" dirty="0" smtClean="0"/>
              <a:t>Fehlende Unternehmens-Philosophie</a:t>
            </a:r>
          </a:p>
          <a:p>
            <a:pPr lvl="1"/>
            <a:r>
              <a:rPr lang="de-DE" dirty="0" smtClean="0"/>
              <a:t>Termin- und Kostendruck im Projekt</a:t>
            </a:r>
          </a:p>
          <a:p>
            <a:pPr lvl="1"/>
            <a:r>
              <a:rPr lang="de-DE" dirty="0" smtClean="0"/>
              <a:t>Kein Geld für Rückbauten und </a:t>
            </a:r>
            <a:r>
              <a:rPr lang="de-DE" dirty="0" err="1" smtClean="0"/>
              <a:t>Refactorings</a:t>
            </a:r>
            <a:endParaRPr lang="de-DE" dirty="0" smtClean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16442" y="4852432"/>
            <a:ext cx="7216246" cy="1420336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Und wie erkenne ich </a:t>
            </a:r>
            <a:r>
              <a:rPr kumimoji="0" lang="de-DE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Dirty</a:t>
            </a:r>
            <a:r>
              <a:rPr kumimoji="0" lang="de-DE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Code? </a:t>
            </a:r>
          </a:p>
          <a:p>
            <a:pPr marL="0" marR="0" lvl="0" indent="0" algn="l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Am Geruch und durch Code-Review… </a:t>
            </a:r>
            <a:endParaRPr kumimoji="0" lang="de-DE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  <p:pic>
        <p:nvPicPr>
          <p:cNvPr id="107522" name="Picture 2" descr="http://www.schlattmann.de/biogas/substrate/1201000000000-misthaufen.jpg"/>
          <p:cNvPicPr>
            <a:picLocks noChangeAspect="1" noChangeArrowheads="1"/>
          </p:cNvPicPr>
          <p:nvPr/>
        </p:nvPicPr>
        <p:blipFill>
          <a:blip r:embed="rId3" cstate="print"/>
          <a:srcRect b="13363"/>
          <a:stretch>
            <a:fillRect/>
          </a:stretch>
        </p:blipFill>
        <p:spPr bwMode="auto">
          <a:xfrm>
            <a:off x="7264330" y="4862371"/>
            <a:ext cx="2373313" cy="1420336"/>
          </a:xfrm>
          <a:prstGeom prst="rect">
            <a:avLst/>
          </a:prstGeom>
          <a:noFill/>
        </p:spPr>
      </p:pic>
      <p:pic>
        <p:nvPicPr>
          <p:cNvPr id="9" name="Grafik 8" descr="random_number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68939" y="358286"/>
            <a:ext cx="3810000" cy="1371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Agenda</a:t>
            </a:r>
            <a:endParaRPr lang="de-DE" b="1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Erklärungsversuche</a:t>
            </a:r>
          </a:p>
          <a:p>
            <a:pPr>
              <a:buClr>
                <a:schemeClr val="tx1"/>
              </a:buClr>
            </a:pPr>
            <a:r>
              <a:rPr lang="de-DE" b="1" dirty="0" err="1" smtClean="0">
                <a:solidFill>
                  <a:srgbClr val="C00000"/>
                </a:solidFill>
              </a:rPr>
              <a:t>Naming</a:t>
            </a:r>
            <a:r>
              <a:rPr lang="de-DE" b="1" dirty="0" smtClean="0">
                <a:solidFill>
                  <a:srgbClr val="C00000"/>
                </a:solidFill>
              </a:rPr>
              <a:t> Anti-Patterns</a:t>
            </a:r>
          </a:p>
          <a:p>
            <a:r>
              <a:rPr lang="de-DE" dirty="0" smtClean="0"/>
              <a:t>Formatierung und Kommentare</a:t>
            </a:r>
          </a:p>
          <a:p>
            <a:r>
              <a:rPr lang="de-DE" dirty="0" smtClean="0"/>
              <a:t>Funktionen und Methoden</a:t>
            </a:r>
          </a:p>
          <a:p>
            <a:r>
              <a:rPr lang="de-DE" dirty="0" smtClean="0"/>
              <a:t>Objekte und Daten Strukturen</a:t>
            </a:r>
          </a:p>
          <a:p>
            <a:r>
              <a:rPr lang="de-DE" dirty="0" smtClean="0"/>
              <a:t>Schlechte Programmierung</a:t>
            </a:r>
          </a:p>
          <a:p>
            <a:r>
              <a:rPr lang="de-DE" dirty="0" smtClean="0"/>
              <a:t>Lösungsansätze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Wähle Namen bewusst und nicht zufällig …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574078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6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>
                <a:solidFill>
                  <a:schemeClr val="bg1"/>
                </a:solidFill>
              </a:rPr>
              <a:pPr/>
              <a:t>18. Januar 2015</a:t>
            </a:fld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9" name="Textfeld 8"/>
          <p:cNvSpPr txBox="1"/>
          <p:nvPr/>
        </p:nvSpPr>
        <p:spPr>
          <a:xfrm>
            <a:off x="316442" y="1263134"/>
            <a:ext cx="2159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GenericLockLexer</a:t>
            </a:r>
            <a:endParaRPr lang="de-DE" dirty="0" smtClean="0">
              <a:latin typeface="Lucida Console" pitchFamily="49" charset="0"/>
            </a:endParaRPr>
          </a:p>
        </p:txBody>
      </p:sp>
      <p:sp>
        <p:nvSpPr>
          <p:cNvPr id="11" name="Textfeld 10"/>
          <p:cNvSpPr txBox="1"/>
          <p:nvPr/>
        </p:nvSpPr>
        <p:spPr>
          <a:xfrm>
            <a:off x="3546210" y="1078468"/>
            <a:ext cx="38876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ScriptableTransactionProcessor</a:t>
            </a:r>
            <a:endParaRPr lang="de-DE" dirty="0" smtClean="0">
              <a:latin typeface="Lucida Console" pitchFamily="49" charset="0"/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802800" y="2431018"/>
            <a:ext cx="2900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LegacyResourceMigrator</a:t>
            </a:r>
          </a:p>
        </p:txBody>
      </p:sp>
      <p:sp>
        <p:nvSpPr>
          <p:cNvPr id="14" name="Rechteck 13"/>
          <p:cNvSpPr/>
          <p:nvPr/>
        </p:nvSpPr>
        <p:spPr>
          <a:xfrm>
            <a:off x="612391" y="3604736"/>
            <a:ext cx="29001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OptimizedHashGenerator</a:t>
            </a:r>
            <a:endParaRPr lang="de-DE" dirty="0" smtClean="0">
              <a:latin typeface="Lucida Console" pitchFamily="49" charset="0"/>
            </a:endParaRPr>
          </a:p>
        </p:txBody>
      </p:sp>
      <p:sp>
        <p:nvSpPr>
          <p:cNvPr id="15" name="Rechteck 14"/>
          <p:cNvSpPr/>
          <p:nvPr/>
        </p:nvSpPr>
        <p:spPr>
          <a:xfrm>
            <a:off x="6738025" y="1811893"/>
            <a:ext cx="20361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BasicTaskParser</a:t>
            </a:r>
            <a:endParaRPr lang="de-DE" dirty="0" smtClean="0">
              <a:latin typeface="Lucida Console" pitchFamily="49" charset="0"/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1656130" y="1811893"/>
            <a:ext cx="35173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RecursiveDatabasePermission</a:t>
            </a:r>
            <a:endParaRPr lang="de-DE" dirty="0" smtClean="0">
              <a:latin typeface="Lucida Console" pitchFamily="49" charset="0"/>
            </a:endParaRPr>
          </a:p>
        </p:txBody>
      </p:sp>
      <p:sp>
        <p:nvSpPr>
          <p:cNvPr id="17" name="Rechteck 16"/>
          <p:cNvSpPr/>
          <p:nvPr/>
        </p:nvSpPr>
        <p:spPr>
          <a:xfrm>
            <a:off x="5276122" y="2431018"/>
            <a:ext cx="27767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ExecutableQueryWriter</a:t>
            </a:r>
            <a:endParaRPr lang="de-DE" dirty="0" smtClean="0">
              <a:latin typeface="Lucida Console" pitchFamily="49" charset="0"/>
            </a:endParaRPr>
          </a:p>
        </p:txBody>
      </p:sp>
      <p:sp>
        <p:nvSpPr>
          <p:cNvPr id="18" name="Rechteck 17"/>
          <p:cNvSpPr/>
          <p:nvPr/>
        </p:nvSpPr>
        <p:spPr>
          <a:xfrm>
            <a:off x="4900542" y="5246727"/>
            <a:ext cx="35173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SingletonTimestampAllocator</a:t>
            </a:r>
            <a:endParaRPr lang="de-DE" dirty="0" smtClean="0">
              <a:latin typeface="Lucida Console" pitchFamily="49" charset="0"/>
            </a:endParaRPr>
          </a:p>
        </p:txBody>
      </p:sp>
      <p:sp>
        <p:nvSpPr>
          <p:cNvPr id="19" name="Rechteck 18"/>
          <p:cNvSpPr/>
          <p:nvPr/>
        </p:nvSpPr>
        <p:spPr>
          <a:xfrm>
            <a:off x="612391" y="4343400"/>
            <a:ext cx="314701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AutomaticPixelController</a:t>
            </a:r>
            <a:endParaRPr lang="de-DE" dirty="0" smtClean="0">
              <a:latin typeface="Lucida Console" pitchFamily="49" charset="0"/>
            </a:endParaRPr>
          </a:p>
        </p:txBody>
      </p:sp>
      <p:sp>
        <p:nvSpPr>
          <p:cNvPr id="20" name="Rechteck 19"/>
          <p:cNvSpPr/>
          <p:nvPr/>
        </p:nvSpPr>
        <p:spPr>
          <a:xfrm>
            <a:off x="2156562" y="3078718"/>
            <a:ext cx="40110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ErrorCorrectingConnectionStream</a:t>
            </a:r>
            <a:endParaRPr lang="de-DE" dirty="0" smtClean="0">
              <a:latin typeface="Lucida Console" pitchFamily="49" charset="0"/>
            </a:endParaRPr>
          </a:p>
        </p:txBody>
      </p:sp>
      <p:sp>
        <p:nvSpPr>
          <p:cNvPr id="21" name="Rechteck 20"/>
          <p:cNvSpPr/>
          <p:nvPr/>
        </p:nvSpPr>
        <p:spPr>
          <a:xfrm>
            <a:off x="316441" y="5808702"/>
            <a:ext cx="41344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ConfigurableNotificationObserver</a:t>
            </a:r>
            <a:endParaRPr lang="de-DE" dirty="0" smtClean="0">
              <a:latin typeface="Lucida Console" pitchFamily="49" charset="0"/>
            </a:endParaRPr>
          </a:p>
        </p:txBody>
      </p:sp>
      <p:sp>
        <p:nvSpPr>
          <p:cNvPr id="22" name="Rechteck 21"/>
          <p:cNvSpPr/>
          <p:nvPr/>
        </p:nvSpPr>
        <p:spPr>
          <a:xfrm>
            <a:off x="4986941" y="4528066"/>
            <a:ext cx="35173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CryptographicRasterObserver</a:t>
            </a:r>
            <a:endParaRPr lang="de-DE" dirty="0" smtClean="0">
              <a:latin typeface="Lucida Console" pitchFamily="49" charset="0"/>
            </a:endParaRPr>
          </a:p>
        </p:txBody>
      </p:sp>
      <p:sp>
        <p:nvSpPr>
          <p:cNvPr id="23" name="Rechteck 22"/>
          <p:cNvSpPr/>
          <p:nvPr/>
        </p:nvSpPr>
        <p:spPr>
          <a:xfrm>
            <a:off x="4675263" y="3789402"/>
            <a:ext cx="38876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AbstractGirlfriendSynchronizer</a:t>
            </a:r>
            <a:endParaRPr lang="de-DE" dirty="0"/>
          </a:p>
        </p:txBody>
      </p:sp>
      <p:sp>
        <p:nvSpPr>
          <p:cNvPr id="24" name="Rechteck 23"/>
          <p:cNvSpPr/>
          <p:nvPr/>
        </p:nvSpPr>
        <p:spPr>
          <a:xfrm>
            <a:off x="1104967" y="5062061"/>
            <a:ext cx="265329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WritableSocketAction</a:t>
            </a:r>
            <a:endParaRPr lang="de-DE" dirty="0" smtClean="0">
              <a:latin typeface="Lucida Console" pitchFamily="49" charset="0"/>
            </a:endParaRPr>
          </a:p>
        </p:txBody>
      </p:sp>
      <p:sp>
        <p:nvSpPr>
          <p:cNvPr id="25" name="Rechteck 24"/>
          <p:cNvSpPr/>
          <p:nvPr/>
        </p:nvSpPr>
        <p:spPr>
          <a:xfrm>
            <a:off x="5892611" y="5993368"/>
            <a:ext cx="277672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dirty="0" err="1" smtClean="0">
                <a:latin typeface="Lucida Console" pitchFamily="49" charset="0"/>
              </a:rPr>
              <a:t>StatefulHashProcessor</a:t>
            </a:r>
            <a:endParaRPr lang="de-DE" dirty="0" smtClean="0">
              <a:latin typeface="Lucida Console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6526787" cy="769441"/>
          </a:xfrm>
        </p:spPr>
        <p:txBody>
          <a:bodyPr/>
          <a:lstStyle/>
          <a:p>
            <a:r>
              <a:rPr lang="de-DE" b="1" dirty="0" smtClean="0"/>
              <a:t>Keinen Rattenschwanz als Klassen-Namen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7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6" name="Inhaltsplatzhalter 9"/>
          <p:cNvSpPr>
            <a:spLocks noGrp="1"/>
          </p:cNvSpPr>
          <p:nvPr>
            <p:ph sz="quarter" idx="4294967295"/>
          </p:nvPr>
        </p:nvSpPr>
        <p:spPr>
          <a:xfrm>
            <a:off x="326761" y="1257301"/>
            <a:ext cx="9579240" cy="5229225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abstract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class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AbstractAtomicReplicationAwareBase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&lt;K,T&gt;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implements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ReplicationAware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&lt;K,T&gt;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abstract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class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AbstractAtomicReplicatebleAwareDAO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&lt;K, T&gt;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AbstractAtomicReplicationAwareBase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&lt;K,T&gt;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implements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IntegrationMonitorExt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abstract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class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AbstractSimpleAtomicReplicatebleAwareDAO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&lt;K,T,C&gt;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AbstractAtomicReplicationAwareBase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&lt;K,T&gt;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implements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IntegrationMonitor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class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AtomicDealerConfigurationDAOImpl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AbstractAtomicReplicatebleAwareDAO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&lt;String,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DealerConfiguration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&gt;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implements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DealerConfigurationDAO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UnitRegistrationStateDAO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class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ReplicateManagerIncrementalWithDevice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Object,T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Bean&gt;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ReplicateManagerBase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&lt;K, T&gt; 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430887"/>
          </a:xfrm>
        </p:spPr>
        <p:txBody>
          <a:bodyPr/>
          <a:lstStyle/>
          <a:p>
            <a:r>
              <a:rPr lang="de-DE" b="1" dirty="0" smtClean="0"/>
              <a:t>"Kurze Namen sparen Platz“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74078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8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413400" y="1752600"/>
            <a:ext cx="8536396" cy="2678298"/>
          </a:xfrm>
        </p:spPr>
        <p:txBody>
          <a:bodyPr wrap="square" anchor="t" anchorCtr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this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.</a:t>
            </a:r>
            <a:r>
              <a:rPr lang="de-DE" sz="1400" dirty="0" err="1" smtClean="0">
                <a:solidFill>
                  <a:srgbClr val="7A7A2B"/>
                </a:solidFill>
                <a:latin typeface="Lucida Console" pitchFamily="49" charset="0"/>
                <a:cs typeface="Consolas" pitchFamily="49" charset="0"/>
              </a:rPr>
              <a:t>tbx_click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=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function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u="sng" dirty="0" smtClean="0">
                <a:latin typeface="Lucida Console" pitchFamily="49" charset="0"/>
                <a:cs typeface="Consolas" pitchFamily="49" charset="0"/>
              </a:rPr>
              <a:t>A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){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this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.</a:t>
            </a:r>
            <a:r>
              <a:rPr lang="de-DE" sz="1400" dirty="0" err="1" smtClean="0">
                <a:solidFill>
                  <a:srgbClr val="7A7A2B"/>
                </a:solidFill>
                <a:latin typeface="Lucida Console" pitchFamily="49" charset="0"/>
                <a:cs typeface="Consolas" pitchFamily="49" charset="0"/>
              </a:rPr>
              <a:t>pi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var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458383"/>
                </a:solidFill>
                <a:latin typeface="Lucida Console" pitchFamily="49" charset="0"/>
                <a:cs typeface="Consolas" pitchFamily="49" charset="0"/>
              </a:rPr>
              <a:t>B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=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this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page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var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458383"/>
                </a:solidFill>
                <a:latin typeface="Lucida Console" pitchFamily="49" charset="0"/>
                <a:cs typeface="Consolas" pitchFamily="49" charset="0"/>
              </a:rPr>
              <a:t>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={ 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site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: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this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site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, 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ts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:</a:t>
            </a:r>
            <a:r>
              <a:rPr lang="de-DE" sz="1400" u="sng" dirty="0" err="1" smtClean="0">
                <a:latin typeface="Lucida Console" pitchFamily="49" charset="0"/>
                <a:cs typeface="Consolas" pitchFamily="49" charset="0"/>
              </a:rPr>
              <a:t>A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, </a:t>
            </a:r>
            <a:r>
              <a:rPr lang="de-DE" sz="1400" dirty="0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lt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:</a:t>
            </a:r>
            <a:r>
              <a:rPr lang="de-DE" sz="1400" dirty="0" smtClean="0">
                <a:solidFill>
                  <a:srgbClr val="0000FF"/>
                </a:solidFill>
                <a:latin typeface="Lucida Console" pitchFamily="49" charset="0"/>
                <a:cs typeface="Consolas" pitchFamily="49" charset="0"/>
              </a:rPr>
              <a:t>99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, </a:t>
            </a:r>
            <a:r>
              <a:rPr lang="de-DE" sz="1400" dirty="0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u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:</a:t>
            </a:r>
            <a:r>
              <a:rPr lang="de-DE" sz="1400" dirty="0" smtClean="0">
                <a:solidFill>
                  <a:srgbClr val="458383"/>
                </a:solidFill>
                <a:latin typeface="Lucida Console" pitchFamily="49" charset="0"/>
                <a:cs typeface="Consolas" pitchFamily="49" charset="0"/>
              </a:rPr>
              <a:t>B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.</a:t>
            </a:r>
            <a:r>
              <a:rPr lang="de-DE" sz="1400" dirty="0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u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};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var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458383"/>
                </a:solidFill>
                <a:latin typeface="Lucida Console" pitchFamily="49" charset="0"/>
                <a:cs typeface="Consolas" pitchFamily="49" charset="0"/>
              </a:rPr>
              <a:t>D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={ 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site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: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this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site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, 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cp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:</a:t>
            </a:r>
            <a:r>
              <a:rPr lang="de-DE" sz="1400" u="sng" dirty="0" err="1" smtClean="0">
                <a:latin typeface="Lucida Console" pitchFamily="49" charset="0"/>
                <a:cs typeface="Consolas" pitchFamily="49" charset="0"/>
              </a:rPr>
              <a:t>A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, </a:t>
            </a:r>
            <a:r>
              <a:rPr lang="de-DE" sz="1400" dirty="0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u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:</a:t>
            </a:r>
            <a:r>
              <a:rPr lang="de-DE" sz="1400" dirty="0" smtClean="0">
                <a:solidFill>
                  <a:srgbClr val="458383"/>
                </a:solidFill>
                <a:latin typeface="Lucida Console" pitchFamily="49" charset="0"/>
                <a:cs typeface="Consolas" pitchFamily="49" charset="0"/>
              </a:rPr>
              <a:t>B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.</a:t>
            </a:r>
            <a:r>
              <a:rPr lang="de-DE" sz="1400" dirty="0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u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};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i="1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spring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</a:t>
            </a:r>
            <a:r>
              <a:rPr lang="de-DE" sz="1400" dirty="0" smtClean="0">
                <a:solidFill>
                  <a:srgbClr val="458383"/>
                </a:solidFill>
                <a:latin typeface="Lucida Console" pitchFamily="49" charset="0"/>
                <a:cs typeface="Consolas" pitchFamily="49" charset="0"/>
              </a:rPr>
              <a:t>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,</a:t>
            </a:r>
            <a:r>
              <a:rPr lang="de-DE" sz="1400" dirty="0" smtClean="0">
                <a:solidFill>
                  <a:srgbClr val="458383"/>
                </a:solidFill>
                <a:latin typeface="Lucida Console" pitchFamily="49" charset="0"/>
                <a:cs typeface="Consolas" pitchFamily="49" charset="0"/>
              </a:rPr>
              <a:t>D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this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fconsole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!=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null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this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fconsole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.</a:t>
            </a:r>
            <a:r>
              <a:rPr lang="de-DE" sz="1400" i="1" dirty="0" err="1" smtClean="0">
                <a:latin typeface="Lucida Console" pitchFamily="49" charset="0"/>
                <a:cs typeface="Consolas" pitchFamily="49" charset="0"/>
              </a:rPr>
              <a:t>log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'</a:t>
            </a:r>
            <a:r>
              <a:rPr lang="de-DE" sz="1400" dirty="0" err="1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Called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tbx_click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with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parameter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path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='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+ </a:t>
            </a:r>
            <a:r>
              <a:rPr lang="de-DE" sz="1400" u="sng" dirty="0" smtClean="0">
                <a:latin typeface="Lucida Console" pitchFamily="49" charset="0"/>
                <a:cs typeface="Consolas" pitchFamily="49" charset="0"/>
              </a:rPr>
              <a:t>A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'@</a:t>
            </a:r>
            <a:r>
              <a:rPr lang="de-DE" sz="1400" dirty="0" err="1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webtrack.dontalert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@'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!= 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'@</a:t>
            </a:r>
            <a:r>
              <a:rPr lang="de-DE" sz="1400" dirty="0" err="1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webtrack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.'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+ 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'</a:t>
            </a:r>
            <a:r>
              <a:rPr lang="de-DE" sz="1400" dirty="0" err="1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dontalert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@'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 </a:t>
            </a:r>
            <a:r>
              <a:rPr lang="de-DE" sz="1400" dirty="0" smtClean="0">
                <a:solidFill>
                  <a:srgbClr val="7A7A2B"/>
                </a:solidFill>
                <a:latin typeface="Lucida Console" pitchFamily="49" charset="0"/>
                <a:cs typeface="Consolas" pitchFamily="49" charset="0"/>
              </a:rPr>
              <a:t>alert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'</a:t>
            </a:r>
            <a:r>
              <a:rPr lang="de-DE" sz="1400" dirty="0" err="1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Called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tbx_click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with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parameter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path</a:t>
            </a:r>
            <a:r>
              <a:rPr lang="de-DE" sz="1400" dirty="0" smtClean="0">
                <a:solidFill>
                  <a:srgbClr val="008000"/>
                </a:solidFill>
                <a:latin typeface="Lucida Console" pitchFamily="49" charset="0"/>
                <a:cs typeface="Consolas" pitchFamily="49" charset="0"/>
              </a:rPr>
              <a:t>='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+ </a:t>
            </a:r>
            <a:r>
              <a:rPr lang="de-DE" sz="1400" u="sng" dirty="0" smtClean="0">
                <a:latin typeface="Lucida Console" pitchFamily="49" charset="0"/>
                <a:cs typeface="Consolas" pitchFamily="49" charset="0"/>
              </a:rPr>
              <a:t>A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}</a:t>
            </a:r>
          </a:p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8326404" cy="427037"/>
          </a:xfrm>
        </p:spPr>
        <p:txBody>
          <a:bodyPr/>
          <a:lstStyle/>
          <a:p>
            <a:r>
              <a:rPr lang="de-DE" b="1" dirty="0" smtClean="0"/>
              <a:t>Wieso anschnallen? Wer oder was ist „</a:t>
            </a:r>
            <a:r>
              <a:rPr lang="de-DE" b="1" dirty="0" err="1" smtClean="0"/>
              <a:t>schnulli</a:t>
            </a:r>
            <a:r>
              <a:rPr lang="de-DE" b="1" dirty="0" smtClean="0"/>
              <a:t>“ ?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9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6" name="Inhaltsplatzhalter 9"/>
          <p:cNvSpPr>
            <a:spLocks noGrp="1"/>
          </p:cNvSpPr>
          <p:nvPr>
            <p:ph sz="quarter" idx="4294967295"/>
          </p:nvPr>
        </p:nvSpPr>
        <p:spPr>
          <a:xfrm>
            <a:off x="327025" y="1884529"/>
            <a:ext cx="9578975" cy="4533900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String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generateDatabasePassword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(final String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databaseUsername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,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final String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clusterId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, final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int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week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)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NoSuchAlgorithmException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...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final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StringBuffer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result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StringBuffer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("");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for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int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i = 0; i &lt;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buffer.length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; i++)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	//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Gather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^^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int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= (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int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)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buffer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[i];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&lt; 0) {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*= -1;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	//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Make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sure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0..9a..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zA.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.Z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and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1.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char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non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numeric</a:t>
            </a: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((i == 0 &amp;&amp;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&gt;= 48 &amp;&amp;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&lt;= 57)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			|| (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&lt;= 47 || (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&gt;= 58 &amp;&amp;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&lt;= 64)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					|| (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&gt;= 91 &amp;&amp;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&lt;= 96) ||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&gt;= 123))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		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= (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% 23) + ((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+ i) % 2 == 0 ? 97 : 65);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	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result.append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((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char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) (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schnulli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));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result.toString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8" name="Inhaltsplatzhalter 9"/>
          <p:cNvSpPr txBox="1">
            <a:spLocks/>
          </p:cNvSpPr>
          <p:nvPr/>
        </p:nvSpPr>
        <p:spPr>
          <a:xfrm>
            <a:off x="264848" y="1113005"/>
            <a:ext cx="9579240" cy="771525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void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reInstallVirtualMachineFastenSeatBelts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(String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hostname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, String type) 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AxisFault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{ .. }</a:t>
            </a:r>
            <a:endParaRPr kumimoji="0" lang="de-DE" sz="1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Console" pitchFamily="49" charset="0"/>
              <a:ea typeface="+mn-ea"/>
              <a:cs typeface="Courier New" pitchFamily="49" charset="0"/>
            </a:endParaRPr>
          </a:p>
        </p:txBody>
      </p:sp>
      <p:pic>
        <p:nvPicPr>
          <p:cNvPr id="2050" name="Picture 2" descr="C:\Users\Reiner\AppData\Local\Microsoft\Windows\Temporary Internet Files\Content.IE5\9OSTINEN\MP900411722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375" y="2065880"/>
            <a:ext cx="1728902" cy="2592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C:\Users\Reiner\AppData\Local\Microsoft\Windows\Temporary Internet Files\Content.IE5\1KBMIAX5\MP900442610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375" y="652797"/>
            <a:ext cx="1728902" cy="1153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Verdammt, Jürgen!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9266238" y="6592401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  <a:latin typeface="+mn-lt"/>
              </a:rPr>
              <a:pPr/>
              <a:t>10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>
          <a:xfrm>
            <a:off x="413327" y="6602026"/>
            <a:ext cx="2419746" cy="365125"/>
          </a:xfrm>
        </p:spPr>
        <p:txBody>
          <a:bodyPr/>
          <a:lstStyle/>
          <a:p>
            <a:fld id="{44EBEBBE-9405-624B-9AF3-C41B36DD840F}" type="datetime4">
              <a:rPr lang="de-DE" sz="1100" smtClean="0">
                <a:solidFill>
                  <a:schemeClr val="bg1"/>
                </a:solidFill>
                <a:latin typeface="+mn-lt"/>
              </a:rPr>
              <a:pPr/>
              <a:t>18. Januar 2015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>
          <a:xfrm>
            <a:off x="413326" y="1242060"/>
            <a:ext cx="9229248" cy="4478791"/>
          </a:xfrm>
        </p:spPr>
        <p:txBody>
          <a:bodyPr wrap="square">
            <a:spAutoFit/>
          </a:bodyPr>
          <a:lstStyle/>
          <a:p>
            <a:pPr marL="0"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800" dirty="0" err="1" smtClean="0">
                <a:latin typeface="+mj-lt"/>
              </a:rPr>
              <a:t>Bei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der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Programmierung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sind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solche</a:t>
            </a:r>
            <a:r>
              <a:rPr lang="en-US" sz="1800" dirty="0" smtClean="0">
                <a:latin typeface="+mj-lt"/>
              </a:rPr>
              <a:t> Code-</a:t>
            </a:r>
            <a:r>
              <a:rPr lang="en-US" sz="1800" dirty="0" err="1" smtClean="0">
                <a:latin typeface="+mj-lt"/>
              </a:rPr>
              <a:t>Stücke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der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Lacher</a:t>
            </a:r>
            <a:r>
              <a:rPr lang="en-US" sz="1800" dirty="0" smtClean="0">
                <a:latin typeface="+mj-lt"/>
              </a:rPr>
              <a:t> – in </a:t>
            </a:r>
            <a:r>
              <a:rPr lang="en-US" sz="1800" dirty="0" err="1" smtClean="0">
                <a:latin typeface="+mj-lt"/>
              </a:rPr>
              <a:t>der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Produktionsumgebung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beim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Kunden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jedoch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schnell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peinlich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für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Entwickler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oder</a:t>
            </a:r>
            <a:r>
              <a:rPr lang="en-US" sz="1800" dirty="0" smtClean="0">
                <a:latin typeface="+mj-lt"/>
              </a:rPr>
              <a:t> gar </a:t>
            </a:r>
            <a:r>
              <a:rPr lang="en-US" sz="1800" dirty="0" err="1" smtClean="0">
                <a:latin typeface="+mj-lt"/>
              </a:rPr>
              <a:t>der</a:t>
            </a:r>
            <a:r>
              <a:rPr lang="en-US" sz="1800" dirty="0" smtClean="0">
                <a:latin typeface="+mj-lt"/>
              </a:rPr>
              <a:t> </a:t>
            </a:r>
            <a:r>
              <a:rPr lang="en-US" sz="1800" dirty="0" err="1" smtClean="0">
                <a:latin typeface="+mj-lt"/>
              </a:rPr>
              <a:t>ganzen</a:t>
            </a:r>
            <a:r>
              <a:rPr lang="en-US" sz="1800" dirty="0" smtClean="0">
                <a:latin typeface="+mj-lt"/>
              </a:rPr>
              <a:t> Firma.</a:t>
            </a:r>
          </a:p>
          <a:p>
            <a:pPr marL="0"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800" dirty="0" smtClean="0">
              <a:latin typeface="+mj-lt"/>
            </a:endParaRPr>
          </a:p>
          <a:p>
            <a:pPr marL="0"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800" dirty="0">
              <a:latin typeface="+mj-lt"/>
            </a:endParaRPr>
          </a:p>
          <a:p>
            <a:pPr marL="0"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800" dirty="0" smtClean="0">
              <a:latin typeface="+mj-lt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000" b="1" i="1" dirty="0" smtClean="0">
              <a:solidFill>
                <a:schemeClr val="accent4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/**     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 * </a:t>
            </a:r>
            <a:r>
              <a:rPr lang="en-US" sz="12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Zeigt</a:t>
            </a:r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 das Error-Log    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 * @</a:t>
            </a:r>
            <a:r>
              <a:rPr lang="en-US" sz="12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param</a:t>
            </a:r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pMessageParameters</a:t>
            </a:r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 Parameter </a:t>
            </a:r>
            <a:r>
              <a:rPr lang="en-US" sz="12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der</a:t>
            </a:r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Nachricht</a:t>
            </a:r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     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 */    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private void 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showErrorLog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(Map 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pMessageParameters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) {        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	String 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lId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BaseConverter.getParameter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pMessageParameters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,</a:t>
            </a:r>
            <a:r>
              <a:rPr lang="en-US" sz="12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"id"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);        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   </a:t>
            </a:r>
            <a:r>
              <a:rPr lang="en-US" sz="12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if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log.warn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()) {            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      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log.warn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en-US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"</a:t>
            </a:r>
            <a:r>
              <a:rPr lang="en-US" sz="1200" b="1" dirty="0" err="1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Hier</a:t>
            </a:r>
            <a:r>
              <a:rPr lang="en-US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b="1" dirty="0" err="1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zeigt</a:t>
            </a:r>
            <a:r>
              <a:rPr lang="en-US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b="1" dirty="0" err="1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Euch</a:t>
            </a:r>
            <a:r>
              <a:rPr lang="en-US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b="1" dirty="0" err="1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der</a:t>
            </a:r>
            <a:r>
              <a:rPr lang="en-US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b="1" dirty="0" err="1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Jürgen</a:t>
            </a:r>
            <a:r>
              <a:rPr lang="en-US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b="1" dirty="0" err="1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wo</a:t>
            </a:r>
            <a:r>
              <a:rPr lang="en-US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b="1" dirty="0" err="1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der</a:t>
            </a:r>
            <a:r>
              <a:rPr lang="en-US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b="1" dirty="0" err="1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Frosch</a:t>
            </a:r>
            <a:r>
              <a:rPr lang="en-US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 die </a:t>
            </a:r>
            <a:r>
              <a:rPr lang="en-US" sz="1200" b="1" dirty="0" err="1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Locken</a:t>
            </a:r>
            <a:r>
              <a:rPr lang="en-US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 hat (</a:t>
            </a:r>
            <a:r>
              <a:rPr lang="en-US" sz="1200" b="1" dirty="0" err="1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Fehler</a:t>
            </a:r>
            <a:r>
              <a:rPr lang="en-US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=Id='" 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+ 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lId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 + </a:t>
            </a:r>
            <a:r>
              <a:rPr lang="en-US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"')"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);  </a:t>
            </a:r>
            <a:r>
              <a:rPr lang="en-US" sz="12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      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   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}    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}</a:t>
            </a:r>
            <a:endParaRPr lang="en-US" sz="1200" b="1" dirty="0" smtClean="0">
              <a:latin typeface="Lucida Console" pitchFamily="49" charset="0"/>
            </a:endParaRP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pic>
        <p:nvPicPr>
          <p:cNvPr id="1026" name="Picture 2" descr="C:\Users\Reiner\AppData\Local\Microsoft\Windows\Temporary Internet Files\Content.IE5\3E84W0AH\MP900422829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547" y="2089816"/>
            <a:ext cx="1640091" cy="245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Agenda</a:t>
            </a:r>
            <a:endParaRPr lang="de-DE" b="1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Erklärungsversuche</a:t>
            </a:r>
          </a:p>
          <a:p>
            <a:r>
              <a:rPr lang="de-DE" dirty="0" err="1" smtClean="0"/>
              <a:t>Naming</a:t>
            </a:r>
            <a:r>
              <a:rPr lang="de-DE" dirty="0" smtClean="0"/>
              <a:t> Anti-Patterns</a:t>
            </a:r>
          </a:p>
          <a:p>
            <a:pPr>
              <a:buClr>
                <a:schemeClr val="tx1"/>
              </a:buClr>
            </a:pPr>
            <a:r>
              <a:rPr lang="de-DE" b="1" dirty="0" smtClean="0">
                <a:solidFill>
                  <a:srgbClr val="C00000"/>
                </a:solidFill>
              </a:rPr>
              <a:t>Formatierung und Kommentare</a:t>
            </a:r>
          </a:p>
          <a:p>
            <a:r>
              <a:rPr lang="de-DE" dirty="0" smtClean="0"/>
              <a:t>Funktionen und Methoden</a:t>
            </a:r>
          </a:p>
          <a:p>
            <a:r>
              <a:rPr lang="de-DE" dirty="0" smtClean="0"/>
              <a:t>Objekte und Datenstrukturen</a:t>
            </a:r>
          </a:p>
          <a:p>
            <a:r>
              <a:rPr lang="de-DE" dirty="0" smtClean="0"/>
              <a:t>Schlechte Programmierung</a:t>
            </a:r>
          </a:p>
          <a:p>
            <a:r>
              <a:rPr lang="de-DE" dirty="0" smtClean="0"/>
              <a:t>Lösungsansätze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"Vielleicht brauchen wir es später noch“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83600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12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0" y="1285875"/>
            <a:ext cx="8950325" cy="4586288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solidFill>
                  <a:srgbClr val="808080"/>
                </a:solidFill>
                <a:latin typeface="Lucida Console" pitchFamily="49" charset="0"/>
              </a:rPr>
              <a:t>// The following code snippet was here prior to the above workaround. Please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solidFill>
                  <a:srgbClr val="808080"/>
                </a:solidFill>
                <a:latin typeface="Lucida Console" pitchFamily="49" charset="0"/>
              </a:rPr>
              <a:t>// keep it for reactivation once the real reason for Bug #6852 has been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solidFill>
                  <a:srgbClr val="808080"/>
                </a:solidFill>
                <a:latin typeface="Lucida Console" pitchFamily="49" charset="0"/>
              </a:rPr>
              <a:t>// localized.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400" i="1" dirty="0" smtClean="0">
              <a:solidFill>
                <a:srgbClr val="808080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solidFill>
                  <a:srgbClr val="808080"/>
                </a:solidFill>
                <a:latin typeface="Lucida Console" pitchFamily="49" charset="0"/>
              </a:rPr>
              <a:t>/**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solidFill>
                  <a:srgbClr val="808080"/>
                </a:solidFill>
                <a:latin typeface="Lucida Console" pitchFamily="49" charset="0"/>
              </a:rPr>
              <a:t> * Is called if the settings form is </a:t>
            </a:r>
            <a:r>
              <a:rPr lang="en-US" sz="1400" i="1" dirty="0" err="1" smtClean="0">
                <a:solidFill>
                  <a:srgbClr val="808080"/>
                </a:solidFill>
                <a:latin typeface="Lucida Console" pitchFamily="49" charset="0"/>
              </a:rPr>
              <a:t>resetted</a:t>
            </a:r>
            <a:r>
              <a:rPr lang="en-US" sz="1400" i="1" dirty="0" smtClean="0">
                <a:solidFill>
                  <a:srgbClr val="808080"/>
                </a:solidFill>
                <a:latin typeface="Lucida Console" pitchFamily="49" charset="0"/>
              </a:rPr>
              <a:t>. </a:t>
            </a:r>
            <a:r>
              <a:rPr lang="en-US" sz="1400" b="1" i="1" dirty="0" smtClean="0">
                <a:solidFill>
                  <a:srgbClr val="0000FF"/>
                </a:solidFill>
                <a:latin typeface="Lucida Console" pitchFamily="49" charset="0"/>
              </a:rPr>
              <a:t>TODO</a:t>
            </a:r>
            <a:r>
              <a:rPr lang="en-US" sz="1400" i="1" dirty="0" smtClean="0">
                <a:solidFill>
                  <a:srgbClr val="0000FF"/>
                </a:solidFill>
                <a:latin typeface="Lucida Console" pitchFamily="49" charset="0"/>
              </a:rPr>
              <a:t> Currently not used?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solidFill>
                  <a:srgbClr val="808080"/>
                </a:solidFill>
                <a:latin typeface="Lucida Console" pitchFamily="49" charset="0"/>
              </a:rPr>
              <a:t> */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400" i="1" dirty="0" smtClean="0">
              <a:solidFill>
                <a:srgbClr val="808080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solidFill>
                  <a:srgbClr val="808080"/>
                </a:solidFill>
                <a:latin typeface="Lucida Console" pitchFamily="49" charset="0"/>
              </a:rPr>
              <a:t>&lt;!-- </a:t>
            </a:r>
            <a:r>
              <a:rPr lang="en-US" sz="1400" b="1" i="1" dirty="0" smtClean="0">
                <a:solidFill>
                  <a:srgbClr val="0000FF"/>
                </a:solidFill>
                <a:latin typeface="Lucida Console" pitchFamily="49" charset="0"/>
              </a:rPr>
              <a:t>TODO</a:t>
            </a:r>
            <a:r>
              <a:rPr lang="en-US" sz="1400" i="1" dirty="0" smtClean="0">
                <a:solidFill>
                  <a:srgbClr val="0000FF"/>
                </a:solidFill>
                <a:latin typeface="Lucida Console" pitchFamily="49" charset="0"/>
              </a:rPr>
              <a:t> can be removed, as only required for multi domain capability</a:t>
            </a:r>
            <a:r>
              <a:rPr lang="en-US" sz="1400" i="1" dirty="0" smtClean="0">
                <a:solidFill>
                  <a:srgbClr val="808080"/>
                </a:solidFill>
                <a:latin typeface="Lucida Console" pitchFamily="49" charset="0"/>
              </a:rPr>
              <a:t> --&gt;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400" i="1" dirty="0" smtClean="0">
              <a:solidFill>
                <a:srgbClr val="808080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/* </a:t>
            </a:r>
            <a:r>
              <a:rPr lang="de-DE" sz="1400" b="1" i="1" dirty="0" smtClean="0">
                <a:solidFill>
                  <a:srgbClr val="0000FF"/>
                </a:solidFill>
                <a:latin typeface="Lucida Console" pitchFamily="49" charset="0"/>
              </a:rPr>
              <a:t>TODO</a:t>
            </a:r>
            <a:r>
              <a:rPr lang="de-DE" sz="1400" i="1" dirty="0" smtClean="0">
                <a:solidFill>
                  <a:srgbClr val="0000FF"/>
                </a:solidFill>
                <a:latin typeface="Lucida Console" pitchFamily="49" charset="0"/>
              </a:rPr>
              <a:t> die Farbe kann entfernt werden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*/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400" i="1" dirty="0" smtClean="0">
              <a:solidFill>
                <a:srgbClr val="808080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solidFill>
                  <a:srgbClr val="808080"/>
                </a:solidFill>
                <a:latin typeface="Lucida Console" pitchFamily="49" charset="0"/>
              </a:rPr>
              <a:t>// </a:t>
            </a:r>
            <a:r>
              <a:rPr lang="en-US" sz="1400" b="1" i="1" dirty="0" smtClean="0">
                <a:solidFill>
                  <a:srgbClr val="0000FF"/>
                </a:solidFill>
                <a:latin typeface="Lucida Console" pitchFamily="49" charset="0"/>
              </a:rPr>
              <a:t>TODO</a:t>
            </a:r>
            <a:r>
              <a:rPr lang="en-US" sz="1400" i="1" dirty="0" smtClean="0">
                <a:solidFill>
                  <a:srgbClr val="0000FF"/>
                </a:solidFill>
                <a:latin typeface="Lucida Console" pitchFamily="49" charset="0"/>
              </a:rPr>
              <a:t> anonymous PRIO_1 11.05.2009 view </a:t>
            </a:r>
            <a:r>
              <a:rPr lang="en-US" sz="1400" i="1" dirty="0" err="1" smtClean="0">
                <a:solidFill>
                  <a:srgbClr val="0000FF"/>
                </a:solidFill>
                <a:latin typeface="Lucida Console" pitchFamily="49" charset="0"/>
              </a:rPr>
              <a:t>entfernen</a:t>
            </a:r>
            <a:endParaRPr lang="en-US" sz="1400" i="1" dirty="0" smtClean="0">
              <a:solidFill>
                <a:srgbClr val="0000FF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400" i="1" dirty="0" smtClean="0">
              <a:solidFill>
                <a:srgbClr val="808080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// </a:t>
            </a:r>
            <a:r>
              <a:rPr lang="de-DE" sz="1400" b="1" i="1" dirty="0" smtClean="0">
                <a:solidFill>
                  <a:srgbClr val="0000FF"/>
                </a:solidFill>
                <a:latin typeface="Lucida Console" pitchFamily="49" charset="0"/>
              </a:rPr>
              <a:t>TODO</a:t>
            </a:r>
            <a:r>
              <a:rPr lang="de-DE" sz="1400" i="1" dirty="0" smtClean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sz="1400" i="1" dirty="0" smtClean="0">
                <a:solidFill>
                  <a:srgbClr val="0000FF"/>
                </a:solidFill>
                <a:latin typeface="Lucida Console" pitchFamily="49" charset="0"/>
              </a:rPr>
              <a:t>anonymous </a:t>
            </a:r>
            <a:r>
              <a:rPr lang="de-DE" sz="1400" i="1" dirty="0" smtClean="0">
                <a:solidFill>
                  <a:srgbClr val="0000FF"/>
                </a:solidFill>
                <a:latin typeface="Lucida Console" pitchFamily="49" charset="0"/>
              </a:rPr>
              <a:t>PRIO_1 21.04.2009 abfrage muss raus, ist nur eine </a:t>
            </a:r>
            <a:r>
              <a:rPr lang="de-DE" sz="1400" i="1" dirty="0" err="1" smtClean="0">
                <a:solidFill>
                  <a:srgbClr val="0000FF"/>
                </a:solidFill>
                <a:latin typeface="Lucida Console" pitchFamily="49" charset="0"/>
              </a:rPr>
              <a:t>zwischenlÃ¶sung</a:t>
            </a:r>
            <a:endParaRPr lang="de-DE" sz="1400" i="1" dirty="0" smtClean="0">
              <a:solidFill>
                <a:srgbClr val="0000FF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400" i="1" dirty="0" smtClean="0">
              <a:solidFill>
                <a:srgbClr val="808080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solidFill>
                  <a:srgbClr val="808080"/>
                </a:solidFill>
                <a:latin typeface="Lucida Console" pitchFamily="49" charset="0"/>
              </a:rPr>
              <a:t>// </a:t>
            </a:r>
            <a:r>
              <a:rPr lang="en-US" sz="1400" b="1" i="1" dirty="0" smtClean="0">
                <a:solidFill>
                  <a:srgbClr val="0000FF"/>
                </a:solidFill>
                <a:latin typeface="Lucida Console" pitchFamily="49" charset="0"/>
              </a:rPr>
              <a:t>TODO</a:t>
            </a:r>
            <a:r>
              <a:rPr lang="en-US" sz="1400" i="1" dirty="0" smtClean="0">
                <a:solidFill>
                  <a:srgbClr val="0000FF"/>
                </a:solidFill>
                <a:latin typeface="Lucida Console" pitchFamily="49" charset="0"/>
              </a:rPr>
              <a:t> anonymous PRIO_1 21.04.2009 </a:t>
            </a:r>
            <a:r>
              <a:rPr lang="en-US" sz="1400" i="1" dirty="0" err="1" smtClean="0">
                <a:solidFill>
                  <a:srgbClr val="0000FF"/>
                </a:solidFill>
                <a:latin typeface="Lucida Console" pitchFamily="49" charset="0"/>
              </a:rPr>
              <a:t>diese</a:t>
            </a:r>
            <a:r>
              <a:rPr lang="en-US" sz="1400" i="1" dirty="0" smtClean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sz="1400" i="1" dirty="0" err="1" smtClean="0">
                <a:solidFill>
                  <a:srgbClr val="0000FF"/>
                </a:solidFill>
                <a:latin typeface="Lucida Console" pitchFamily="49" charset="0"/>
              </a:rPr>
              <a:t>methode</a:t>
            </a:r>
            <a:r>
              <a:rPr lang="en-US" sz="1400" i="1" dirty="0" smtClean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sz="1400" i="1" dirty="0" err="1" smtClean="0">
                <a:solidFill>
                  <a:srgbClr val="0000FF"/>
                </a:solidFill>
                <a:latin typeface="Lucida Console" pitchFamily="49" charset="0"/>
              </a:rPr>
              <a:t>komplett</a:t>
            </a:r>
            <a:r>
              <a:rPr lang="en-US" sz="1400" i="1" dirty="0" smtClean="0">
                <a:solidFill>
                  <a:srgbClr val="0000FF"/>
                </a:solidFill>
                <a:latin typeface="Lucida Console" pitchFamily="49" charset="0"/>
              </a:rPr>
              <a:t> </a:t>
            </a:r>
            <a:r>
              <a:rPr lang="en-US" sz="1400" i="1" dirty="0" err="1" smtClean="0">
                <a:solidFill>
                  <a:srgbClr val="0000FF"/>
                </a:solidFill>
                <a:latin typeface="Lucida Console" pitchFamily="49" charset="0"/>
              </a:rPr>
              <a:t>ausbauen</a:t>
            </a:r>
            <a:endParaRPr lang="en-US" sz="1400" i="1" dirty="0" smtClean="0">
              <a:solidFill>
                <a:srgbClr val="0000FF"/>
              </a:solidFill>
              <a:latin typeface="Lucida Console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„PRIO1-3 @all“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13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0" y="1228725"/>
            <a:ext cx="8950325" cy="5329238"/>
          </a:xfrm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// PRIO3@all: The below 2 statements are for real, dude!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400" i="1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// PRIO3@all: In case some copy process is currently running, use the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// other directory as the current directory IS modified MORE RECENT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// BUT NOT YET completely filled with all data from the CD-ROM...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if (</a:t>
            </a:r>
            <a:r>
              <a:rPr lang="en-US" sz="1400" i="1" dirty="0" err="1" smtClean="0">
                <a:latin typeface="Lucida Console" pitchFamily="49" charset="0"/>
              </a:rPr>
              <a:t>stateHandler.isMediaHandlerWorking</a:t>
            </a:r>
            <a:r>
              <a:rPr lang="en-US" sz="1400" i="1" dirty="0" smtClean="0">
                <a:latin typeface="Lucida Console" pitchFamily="49" charset="0"/>
              </a:rPr>
              <a:t>())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	</a:t>
            </a:r>
            <a:r>
              <a:rPr lang="en-US" sz="1400" i="1" dirty="0" err="1" smtClean="0">
                <a:latin typeface="Lucida Console" pitchFamily="49" charset="0"/>
              </a:rPr>
              <a:t>useA</a:t>
            </a:r>
            <a:r>
              <a:rPr lang="en-US" sz="1400" i="1" dirty="0" smtClean="0">
                <a:latin typeface="Lucida Console" pitchFamily="49" charset="0"/>
              </a:rPr>
              <a:t> = !</a:t>
            </a:r>
            <a:r>
              <a:rPr lang="en-US" sz="1400" i="1" dirty="0" err="1" smtClean="0">
                <a:latin typeface="Lucida Console" pitchFamily="49" charset="0"/>
              </a:rPr>
              <a:t>useA</a:t>
            </a:r>
            <a:r>
              <a:rPr lang="en-US" sz="1400" i="1" dirty="0" smtClean="0">
                <a:latin typeface="Lucida Console" pitchFamily="49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// PRIO3@all: The above is the same as is in </a:t>
            </a:r>
            <a:r>
              <a:rPr lang="en-US" sz="1400" i="1" dirty="0" err="1" smtClean="0">
                <a:latin typeface="Lucida Console" pitchFamily="49" charset="0"/>
              </a:rPr>
              <a:t>MediaHandler</a:t>
            </a:r>
            <a:r>
              <a:rPr lang="en-US" sz="1400" i="1" dirty="0" smtClean="0">
                <a:latin typeface="Lucida Console" pitchFamily="49" charset="0"/>
              </a:rPr>
              <a:t>::</a:t>
            </a:r>
            <a:r>
              <a:rPr lang="en-US" sz="1400" i="1" dirty="0" err="1" smtClean="0">
                <a:latin typeface="Lucida Console" pitchFamily="49" charset="0"/>
              </a:rPr>
              <a:t>copyKsdMedia</a:t>
            </a:r>
            <a:r>
              <a:rPr lang="en-US" sz="1400" i="1" dirty="0" smtClean="0">
                <a:latin typeface="Lucida Console" pitchFamily="49" charset="0"/>
              </a:rPr>
              <a:t>()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// but as we do NOT need counterpart of the _newer_ version, we have to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// invert this in order to get the _last_ copy destination. here we go: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err="1" smtClean="0">
                <a:latin typeface="Lucida Console" pitchFamily="49" charset="0"/>
              </a:rPr>
              <a:t>useA</a:t>
            </a:r>
            <a:r>
              <a:rPr lang="en-US" sz="1400" i="1" dirty="0" smtClean="0">
                <a:latin typeface="Lucida Console" pitchFamily="49" charset="0"/>
              </a:rPr>
              <a:t> = !</a:t>
            </a:r>
            <a:r>
              <a:rPr lang="en-US" sz="1400" i="1" dirty="0" err="1" smtClean="0">
                <a:latin typeface="Lucida Console" pitchFamily="49" charset="0"/>
              </a:rPr>
              <a:t>useA</a:t>
            </a:r>
            <a:r>
              <a:rPr lang="en-US" sz="1400" i="1" dirty="0" smtClean="0">
                <a:latin typeface="Lucida Console" pitchFamily="49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400" i="1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// PRIO3@all: The above 2 statements are for real, dude!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400" i="1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// PRIO2@MK: make configurable from outside (</a:t>
            </a:r>
            <a:r>
              <a:rPr lang="en-US" sz="1400" i="1" dirty="0" err="1" smtClean="0">
                <a:latin typeface="Lucida Console" pitchFamily="49" charset="0"/>
              </a:rPr>
              <a:t>wsm.properties</a:t>
            </a:r>
            <a:r>
              <a:rPr lang="en-US" sz="1400" i="1" dirty="0" smtClean="0">
                <a:latin typeface="Lucida Console" pitchFamily="49" charset="0"/>
              </a:rP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public static final String DEFAULT_TEMPLATE_NAME = "index.vm";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endParaRPr lang="en-US" sz="1400" i="1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// PRIO1@MK: </a:t>
            </a:r>
            <a:r>
              <a:rPr lang="en-US" sz="1400" i="1" dirty="0" err="1" smtClean="0">
                <a:latin typeface="Lucida Console" pitchFamily="49" charset="0"/>
              </a:rPr>
              <a:t>Aaargh</a:t>
            </a:r>
            <a:r>
              <a:rPr lang="en-US" sz="1400" i="1" dirty="0" smtClean="0">
                <a:latin typeface="Lucida Console" pitchFamily="49" charset="0"/>
              </a:rPr>
              <a:t>! :)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i="1" dirty="0" smtClean="0">
                <a:latin typeface="Lucida Console" pitchFamily="49" charset="0"/>
              </a:rPr>
              <a:t>// PRIO1@MK: </a:t>
            </a:r>
            <a:r>
              <a:rPr lang="en-US" sz="1400" i="1" dirty="0" err="1" smtClean="0">
                <a:latin typeface="Lucida Console" pitchFamily="49" charset="0"/>
              </a:rPr>
              <a:t>geht</a:t>
            </a:r>
            <a:r>
              <a:rPr lang="en-US" sz="1400" i="1" dirty="0" smtClean="0">
                <a:latin typeface="Lucida Console" pitchFamily="49" charset="0"/>
              </a:rPr>
              <a:t> das?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4251" y="283473"/>
            <a:ext cx="8887883" cy="430887"/>
          </a:xfrm>
        </p:spPr>
        <p:txBody>
          <a:bodyPr/>
          <a:lstStyle/>
          <a:p>
            <a:r>
              <a:rPr lang="de-DE" b="1" dirty="0" smtClean="0"/>
              <a:t>Formatierung und Strukturierung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605794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14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13327" y="6625672"/>
            <a:ext cx="2419746" cy="365125"/>
          </a:xfrm>
        </p:spPr>
        <p:txBody>
          <a:bodyPr/>
          <a:lstStyle/>
          <a:p>
            <a:fld id="{44EBEBBE-9405-624B-9AF3-C41B36DD840F}" type="datetime4">
              <a:rPr lang="de-DE" sz="1100" smtClean="0">
                <a:solidFill>
                  <a:schemeClr val="bg1"/>
                </a:solidFill>
              </a:rPr>
              <a:pPr/>
              <a:t>18. Januar 2015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6" name="Inhaltsplatzhalter 9"/>
          <p:cNvSpPr>
            <a:spLocks noGrp="1"/>
          </p:cNvSpPr>
          <p:nvPr>
            <p:ph sz="quarter" idx="13"/>
          </p:nvPr>
        </p:nvSpPr>
        <p:spPr>
          <a:xfrm>
            <a:off x="264846" y="1019175"/>
            <a:ext cx="19640023" cy="5400675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protected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RemoteReplicationHandler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&lt;K, T&gt;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getRemoteReplicationHandlerForDevice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(final Device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NotAvailableException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IntegrationException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// 237 Zeichen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com.bmw.ibase.services.wsm.RemoteReplicationHandler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deviceSpecificHandler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= (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com.bmw.ibase.services.wsm.RemoteReplicationHandler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) 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interfaceHandler.getManagerService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com.bmw.ibase.services.wsm.RemoteReplicationHandler.class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deviceSpecificHandler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== null)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throw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IllegalStateException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("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Cannot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located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RemoteReplicationhandler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for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: " +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// 163 Zeichen</a:t>
            </a:r>
            <a:endParaRPr lang="de-DE" sz="10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RemoteReplicationHandler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&lt;K, T&gt;) 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com.bmw.manager.businesslogic.impl.RemoteReplicationHandlerImpl.Client&lt;T&gt;(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deviceSpecificHandler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marshallHandler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protected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Device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getActiveManagerDevice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NotFoundException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,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NotAvailableException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IntegrationException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ServiceUrl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activeManager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this.serviceLocationHandler.getActiveManagerUrl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activeManager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== null)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throw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IllegalStateException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("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Cannot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locate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ActiveManager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");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String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ipAddress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activeManager.getIp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ipAddress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== null)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throw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IllegalStateException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("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Cannot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resolve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IP-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address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with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: " +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activeManager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inventoryHandler.getDeviceByExternalIp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ipAddress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private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boolean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isSameDevice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(final Device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==null)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throw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IllegalArgumentException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("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null");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final String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fingerPrint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device.getFingerprint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(null ==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fingerPrint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throw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IllegalStateException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("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: " +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+ "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has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no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fingerprint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");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fingerPrint.equalsIgnoreCase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this.thisHost.getDevice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().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getFingerprint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Agenda</a:t>
            </a:r>
            <a:endParaRPr lang="de-DE" b="1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Erklärungsversuche</a:t>
            </a:r>
          </a:p>
          <a:p>
            <a:r>
              <a:rPr lang="de-DE" dirty="0" err="1" smtClean="0"/>
              <a:t>Naming</a:t>
            </a:r>
            <a:r>
              <a:rPr lang="de-DE" dirty="0" smtClean="0"/>
              <a:t> Anti-Patterns</a:t>
            </a:r>
          </a:p>
          <a:p>
            <a:r>
              <a:rPr lang="de-DE" dirty="0" smtClean="0"/>
              <a:t>Formatierung und Kommentare</a:t>
            </a:r>
          </a:p>
          <a:p>
            <a:pPr>
              <a:buClr>
                <a:schemeClr val="tx1"/>
              </a:buClr>
            </a:pPr>
            <a:r>
              <a:rPr lang="de-DE" b="1" dirty="0" smtClean="0">
                <a:solidFill>
                  <a:srgbClr val="C00000"/>
                </a:solidFill>
              </a:rPr>
              <a:t>Funktionen und Methoden</a:t>
            </a:r>
          </a:p>
          <a:p>
            <a:r>
              <a:rPr lang="de-DE" dirty="0" smtClean="0"/>
              <a:t>Objekte und Datenstrukturen</a:t>
            </a:r>
          </a:p>
          <a:p>
            <a:r>
              <a:rPr lang="de-DE" dirty="0" smtClean="0"/>
              <a:t>Schlechte Programmierung</a:t>
            </a:r>
          </a:p>
          <a:p>
            <a:r>
              <a:rPr lang="de-DE" dirty="0" smtClean="0"/>
              <a:t>Lösungsansätze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smtClean="0"/>
              <a:t>„</a:t>
            </a:r>
            <a:r>
              <a:rPr lang="de-DE" b="1" smtClean="0"/>
              <a:t>Kreativität </a:t>
            </a:r>
            <a:r>
              <a:rPr lang="de-DE" b="1" dirty="0" smtClean="0"/>
              <a:t>in </a:t>
            </a:r>
            <a:r>
              <a:rPr lang="de-DE" b="1" smtClean="0"/>
              <a:t>der </a:t>
            </a:r>
            <a:r>
              <a:rPr lang="de-DE" b="1" smtClean="0"/>
              <a:t>Namensgebung“ </a:t>
            </a:r>
            <a:r>
              <a:rPr lang="de-DE" b="1" dirty="0" smtClean="0"/>
              <a:t/>
            </a:r>
            <a:br>
              <a:rPr lang="de-DE" b="1" dirty="0" smtClean="0"/>
            </a:b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74078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16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316442" y="1753201"/>
            <a:ext cx="8949796" cy="4759325"/>
          </a:xfrm>
        </p:spPr>
        <p:txBody>
          <a:bodyPr>
            <a:normAutofit/>
          </a:bodyPr>
          <a:lstStyle/>
          <a:p>
            <a:r>
              <a:rPr lang="de-DE" sz="1400" dirty="0" smtClean="0">
                <a:latin typeface="Lucida Console" pitchFamily="49" charset="0"/>
              </a:rPr>
              <a:t>List&lt;Module&gt; </a:t>
            </a:r>
            <a:r>
              <a:rPr lang="de-DE" sz="1400" dirty="0" err="1" smtClean="0">
                <a:latin typeface="Lucida Console" pitchFamily="49" charset="0"/>
              </a:rPr>
              <a:t>getModulesForAuthenticatedUser</a:t>
            </a:r>
            <a:r>
              <a:rPr lang="de-DE" sz="1400" dirty="0" smtClean="0">
                <a:latin typeface="Lucida Console" pitchFamily="49" charset="0"/>
              </a:rPr>
              <a:t>(</a:t>
            </a:r>
            <a:br>
              <a:rPr lang="de-DE" sz="1400" dirty="0" smtClean="0">
                <a:latin typeface="Lucida Console" pitchFamily="49" charset="0"/>
              </a:rPr>
            </a:br>
            <a:r>
              <a:rPr lang="de-DE" sz="1400" dirty="0" smtClean="0">
                <a:latin typeface="Lucida Console" pitchFamily="49" charset="0"/>
              </a:rPr>
              <a:t>		String </a:t>
            </a:r>
            <a:r>
              <a:rPr lang="de-DE" sz="1400" dirty="0" err="1" smtClean="0">
                <a:latin typeface="Lucida Console" pitchFamily="49" charset="0"/>
              </a:rPr>
              <a:t>userId</a:t>
            </a:r>
            <a:r>
              <a:rPr lang="de-DE" sz="1400" dirty="0" smtClean="0">
                <a:latin typeface="Lucida Console" pitchFamily="49" charset="0"/>
              </a:rPr>
              <a:t>, Request </a:t>
            </a:r>
            <a:r>
              <a:rPr lang="de-DE" sz="1400" dirty="0" err="1" smtClean="0">
                <a:latin typeface="Lucida Console" pitchFamily="49" charset="0"/>
              </a:rPr>
              <a:t>request</a:t>
            </a:r>
            <a:r>
              <a:rPr lang="de-DE" sz="1400" dirty="0" smtClean="0">
                <a:latin typeface="Lucida Console" pitchFamily="49" charset="0"/>
              </a:rPr>
              <a:t>, </a:t>
            </a: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de-DE" sz="1400" dirty="0" smtClean="0">
                <a:latin typeface="Lucida Console" pitchFamily="49" charset="0"/>
              </a:rPr>
              <a:t> </a:t>
            </a:r>
            <a:r>
              <a:rPr lang="de-DE" sz="1400" dirty="0" err="1" smtClean="0">
                <a:latin typeface="Lucida Console" pitchFamily="49" charset="0"/>
              </a:rPr>
              <a:t>refreshSessionSettings</a:t>
            </a:r>
            <a:r>
              <a:rPr lang="de-DE" sz="1400" dirty="0" smtClean="0">
                <a:latin typeface="Lucida Console" pitchFamily="49" charset="0"/>
              </a:rPr>
              <a:t>);</a:t>
            </a:r>
          </a:p>
          <a:p>
            <a:r>
              <a:rPr lang="de-DE" sz="1400" dirty="0" smtClean="0">
                <a:latin typeface="Lucida Console" pitchFamily="49" charset="0"/>
              </a:rPr>
              <a:t>List&lt;Module&gt; </a:t>
            </a:r>
            <a:r>
              <a:rPr lang="de-DE" sz="1400" dirty="0" err="1" smtClean="0">
                <a:latin typeface="Lucida Console" pitchFamily="49" charset="0"/>
              </a:rPr>
              <a:t>getModuleForAnonymousUser</a:t>
            </a:r>
            <a:r>
              <a:rPr lang="de-DE" sz="1400" dirty="0" smtClean="0">
                <a:latin typeface="Lucida Console" pitchFamily="49" charset="0"/>
              </a:rPr>
              <a:t>(</a:t>
            </a:r>
            <a:br>
              <a:rPr lang="de-DE" sz="1400" dirty="0" smtClean="0">
                <a:latin typeface="Lucida Console" pitchFamily="49" charset="0"/>
              </a:rPr>
            </a:br>
            <a:r>
              <a:rPr lang="de-DE" sz="1400" dirty="0" smtClean="0">
                <a:latin typeface="Lucida Console" pitchFamily="49" charset="0"/>
              </a:rPr>
              <a:t>		Request </a:t>
            </a:r>
            <a:r>
              <a:rPr lang="de-DE" sz="1400" dirty="0" err="1" smtClean="0">
                <a:latin typeface="Lucida Console" pitchFamily="49" charset="0"/>
              </a:rPr>
              <a:t>request</a:t>
            </a:r>
            <a:r>
              <a:rPr lang="de-DE" sz="1400" dirty="0" smtClean="0">
                <a:latin typeface="Lucida Console" pitchFamily="49" charset="0"/>
              </a:rPr>
              <a:t>, String </a:t>
            </a:r>
            <a:r>
              <a:rPr lang="de-DE" sz="1400" dirty="0" err="1" smtClean="0">
                <a:latin typeface="Lucida Console" pitchFamily="49" charset="0"/>
              </a:rPr>
              <a:t>configurationCookieValue</a:t>
            </a:r>
            <a:r>
              <a:rPr lang="de-DE" sz="1400" dirty="0" smtClean="0">
                <a:latin typeface="Lucida Console" pitchFamily="49" charset="0"/>
              </a:rPr>
              <a:t>);</a:t>
            </a:r>
          </a:p>
          <a:p>
            <a:r>
              <a:rPr lang="de-DE" sz="1400" dirty="0" smtClean="0">
                <a:latin typeface="Lucida Console" pitchFamily="49" charset="0"/>
              </a:rPr>
              <a:t>String </a:t>
            </a:r>
            <a:r>
              <a:rPr lang="de-DE" sz="1400" dirty="0" err="1" smtClean="0">
                <a:latin typeface="Lucida Console" pitchFamily="49" charset="0"/>
              </a:rPr>
              <a:t>getMobileConfigurationForUser</a:t>
            </a:r>
            <a:r>
              <a:rPr lang="de-DE" sz="1400" dirty="0" smtClean="0">
                <a:latin typeface="Lucida Console" pitchFamily="49" charset="0"/>
              </a:rPr>
              <a:t>(</a:t>
            </a:r>
            <a:br>
              <a:rPr lang="de-DE" sz="1400" dirty="0" smtClean="0">
                <a:latin typeface="Lucida Console" pitchFamily="49" charset="0"/>
              </a:rPr>
            </a:br>
            <a:r>
              <a:rPr lang="de-DE" sz="1400" dirty="0" smtClean="0">
                <a:latin typeface="Lucida Console" pitchFamily="49" charset="0"/>
              </a:rPr>
              <a:t>		String </a:t>
            </a:r>
            <a:r>
              <a:rPr lang="de-DE" sz="1400" dirty="0" err="1" smtClean="0">
                <a:latin typeface="Lucida Console" pitchFamily="49" charset="0"/>
              </a:rPr>
              <a:t>userId</a:t>
            </a:r>
            <a:r>
              <a:rPr lang="de-DE" sz="1400" dirty="0" smtClean="0">
                <a:latin typeface="Lucida Console" pitchFamily="49" charset="0"/>
              </a:rPr>
              <a:t>, Request </a:t>
            </a:r>
            <a:r>
              <a:rPr lang="de-DE" sz="1400" dirty="0" err="1" smtClean="0">
                <a:latin typeface="Lucida Console" pitchFamily="49" charset="0"/>
              </a:rPr>
              <a:t>request</a:t>
            </a:r>
            <a:r>
              <a:rPr lang="de-DE" sz="1400" dirty="0" smtClean="0">
                <a:latin typeface="Lucida Console" pitchFamily="49" charset="0"/>
              </a:rPr>
              <a:t>, </a:t>
            </a: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de-DE" sz="1400" dirty="0" smtClean="0">
                <a:latin typeface="Lucida Console" pitchFamily="49" charset="0"/>
              </a:rPr>
              <a:t> </a:t>
            </a:r>
            <a:r>
              <a:rPr lang="de-DE" sz="1400" dirty="0" err="1" smtClean="0">
                <a:latin typeface="Lucida Console" pitchFamily="49" charset="0"/>
              </a:rPr>
              <a:t>cachedValue</a:t>
            </a:r>
            <a:r>
              <a:rPr lang="de-DE" sz="1400" dirty="0" smtClean="0">
                <a:latin typeface="Lucida Console" pitchFamily="49" charset="0"/>
              </a:rPr>
              <a:t>);</a:t>
            </a:r>
          </a:p>
          <a:p>
            <a:endParaRPr lang="en-US" sz="1400" dirty="0" smtClean="0">
              <a:solidFill>
                <a:srgbClr val="000080"/>
              </a:solidFill>
              <a:latin typeface="Lucida Console" pitchFamily="49" charset="0"/>
              <a:cs typeface="Consolas" pitchFamily="49" charset="0"/>
            </a:endParaRPr>
          </a:p>
          <a:p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void</a:t>
            </a:r>
            <a:r>
              <a:rPr lang="de-DE" sz="1400" dirty="0" smtClean="0">
                <a:latin typeface="Lucida Console" pitchFamily="49" charset="0"/>
              </a:rPr>
              <a:t> </a:t>
            </a:r>
            <a:r>
              <a:rPr lang="de-DE" sz="1400" b="1" dirty="0" err="1" smtClean="0">
                <a:solidFill>
                  <a:srgbClr val="00B050"/>
                </a:solidFill>
                <a:latin typeface="Lucida Console" pitchFamily="49" charset="0"/>
              </a:rPr>
              <a:t>save</a:t>
            </a:r>
            <a:r>
              <a:rPr lang="de-DE" sz="1400" dirty="0" err="1" smtClean="0">
                <a:latin typeface="Lucida Console" pitchFamily="49" charset="0"/>
              </a:rPr>
              <a:t>ModulesForAuthenticatedUser</a:t>
            </a:r>
            <a:r>
              <a:rPr lang="de-DE" sz="1400" dirty="0" smtClean="0">
                <a:latin typeface="Lucida Console" pitchFamily="49" charset="0"/>
              </a:rPr>
              <a:t>(</a:t>
            </a:r>
            <a:br>
              <a:rPr lang="de-DE" sz="1400" dirty="0" smtClean="0">
                <a:latin typeface="Lucida Console" pitchFamily="49" charset="0"/>
              </a:rPr>
            </a:br>
            <a:r>
              <a:rPr lang="de-DE" sz="1400" dirty="0" smtClean="0">
                <a:latin typeface="Lucida Console" pitchFamily="49" charset="0"/>
              </a:rPr>
              <a:t>		String </a:t>
            </a:r>
            <a:r>
              <a:rPr lang="de-DE" sz="1400" dirty="0" err="1" smtClean="0">
                <a:latin typeface="Lucida Console" pitchFamily="49" charset="0"/>
              </a:rPr>
              <a:t>userId</a:t>
            </a:r>
            <a:r>
              <a:rPr lang="de-DE" sz="1400" dirty="0" smtClean="0">
                <a:latin typeface="Lucida Console" pitchFamily="49" charset="0"/>
              </a:rPr>
              <a:t>, List&lt;? </a:t>
            </a:r>
            <a:r>
              <a:rPr lang="de-DE" sz="1400" dirty="0" err="1" smtClean="0">
                <a:latin typeface="Lucida Console" pitchFamily="49" charset="0"/>
              </a:rPr>
              <a:t>extends</a:t>
            </a:r>
            <a:r>
              <a:rPr lang="de-DE" sz="1400" dirty="0" smtClean="0">
                <a:latin typeface="Lucida Console" pitchFamily="49" charset="0"/>
              </a:rPr>
              <a:t> Module&gt; </a:t>
            </a:r>
            <a:r>
              <a:rPr lang="de-DE" sz="1400" dirty="0" err="1" smtClean="0">
                <a:latin typeface="Lucida Console" pitchFamily="49" charset="0"/>
              </a:rPr>
              <a:t>modules</a:t>
            </a:r>
            <a:r>
              <a:rPr lang="de-DE" sz="1400" dirty="0" smtClean="0">
                <a:latin typeface="Lucida Console" pitchFamily="49" charset="0"/>
              </a:rPr>
              <a:t>, </a:t>
            </a:r>
            <a:r>
              <a:rPr lang="de-DE" sz="1400" b="1" dirty="0" smtClean="0">
                <a:latin typeface="Lucida Console" pitchFamily="49" charset="0"/>
              </a:rPr>
              <a:t>Request </a:t>
            </a:r>
            <a:r>
              <a:rPr lang="de-DE" sz="1400" b="1" dirty="0" err="1" smtClean="0">
                <a:latin typeface="Lucida Console" pitchFamily="49" charset="0"/>
              </a:rPr>
              <a:t>request</a:t>
            </a:r>
            <a:r>
              <a:rPr lang="de-DE" sz="1400" dirty="0" smtClean="0">
                <a:latin typeface="Lucida Console" pitchFamily="49" charset="0"/>
              </a:rPr>
              <a:t>);</a:t>
            </a:r>
          </a:p>
          <a:p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void</a:t>
            </a:r>
            <a:r>
              <a:rPr lang="de-DE" sz="1400" dirty="0" smtClean="0">
                <a:latin typeface="Lucida Console" pitchFamily="49" charset="0"/>
              </a:rPr>
              <a:t> </a:t>
            </a:r>
            <a:r>
              <a:rPr lang="de-DE" sz="1400" b="1" dirty="0" err="1" smtClean="0">
                <a:solidFill>
                  <a:srgbClr val="FF0000"/>
                </a:solidFill>
                <a:latin typeface="Lucida Console" pitchFamily="49" charset="0"/>
              </a:rPr>
              <a:t>persist</a:t>
            </a:r>
            <a:r>
              <a:rPr lang="de-DE" sz="1400" dirty="0" err="1" smtClean="0">
                <a:latin typeface="Lucida Console" pitchFamily="49" charset="0"/>
              </a:rPr>
              <a:t>AnonymousUserProfile</a:t>
            </a:r>
            <a:r>
              <a:rPr lang="de-DE" sz="1400" dirty="0" smtClean="0">
                <a:latin typeface="Lucida Console" pitchFamily="49" charset="0"/>
              </a:rPr>
              <a:t>(</a:t>
            </a:r>
            <a:br>
              <a:rPr lang="de-DE" sz="1400" dirty="0" smtClean="0">
                <a:latin typeface="Lucida Console" pitchFamily="49" charset="0"/>
              </a:rPr>
            </a:br>
            <a:r>
              <a:rPr lang="de-DE" sz="1400" dirty="0" smtClean="0">
                <a:latin typeface="Lucida Console" pitchFamily="49" charset="0"/>
              </a:rPr>
              <a:t>		String </a:t>
            </a:r>
            <a:r>
              <a:rPr lang="de-DE" sz="1400" dirty="0" err="1" smtClean="0">
                <a:latin typeface="Lucida Console" pitchFamily="49" charset="0"/>
              </a:rPr>
              <a:t>userId</a:t>
            </a:r>
            <a:r>
              <a:rPr lang="de-DE" sz="1400" dirty="0" smtClean="0">
                <a:latin typeface="Lucida Console" pitchFamily="49" charset="0"/>
              </a:rPr>
              <a:t>, Request </a:t>
            </a:r>
            <a:r>
              <a:rPr lang="de-DE" sz="1400" dirty="0" err="1" smtClean="0">
                <a:latin typeface="Lucida Console" pitchFamily="49" charset="0"/>
              </a:rPr>
              <a:t>request</a:t>
            </a:r>
            <a:r>
              <a:rPr lang="de-DE" sz="1400" dirty="0" smtClean="0">
                <a:latin typeface="Lucida Console" pitchFamily="49" charset="0"/>
              </a:rPr>
              <a:t>, String </a:t>
            </a:r>
            <a:r>
              <a:rPr lang="de-DE" sz="1400" dirty="0" err="1" smtClean="0">
                <a:latin typeface="Lucida Console" pitchFamily="49" charset="0"/>
              </a:rPr>
              <a:t>configurationCookieValue</a:t>
            </a:r>
            <a:r>
              <a:rPr lang="de-DE" sz="1400" dirty="0" smtClean="0">
                <a:latin typeface="Lucida Console" pitchFamily="49" charset="0"/>
              </a:rPr>
              <a:t>);</a:t>
            </a:r>
          </a:p>
          <a:p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void</a:t>
            </a:r>
            <a:r>
              <a:rPr lang="de-DE" sz="1400" dirty="0" smtClean="0">
                <a:latin typeface="Lucida Console" pitchFamily="49" charset="0"/>
              </a:rPr>
              <a:t> </a:t>
            </a:r>
            <a:r>
              <a:rPr lang="de-DE" sz="1400" b="1" dirty="0" err="1" smtClean="0">
                <a:solidFill>
                  <a:srgbClr val="00B050"/>
                </a:solidFill>
                <a:latin typeface="Lucida Console" pitchFamily="49" charset="0"/>
              </a:rPr>
              <a:t>save</a:t>
            </a:r>
            <a:r>
              <a:rPr lang="de-DE" sz="1400" dirty="0" err="1" smtClean="0">
                <a:latin typeface="Lucida Console" pitchFamily="49" charset="0"/>
              </a:rPr>
              <a:t>MobileConfigurationForUser</a:t>
            </a:r>
            <a:r>
              <a:rPr lang="de-DE" sz="1400" dirty="0" smtClean="0">
                <a:latin typeface="Lucida Console" pitchFamily="49" charset="0"/>
              </a:rPr>
              <a:t>(</a:t>
            </a:r>
            <a:br>
              <a:rPr lang="de-DE" sz="1400" dirty="0" smtClean="0">
                <a:latin typeface="Lucida Console" pitchFamily="49" charset="0"/>
              </a:rPr>
            </a:br>
            <a:r>
              <a:rPr lang="de-DE" sz="1400" dirty="0" smtClean="0">
                <a:latin typeface="Lucida Console" pitchFamily="49" charset="0"/>
              </a:rPr>
              <a:t>		String </a:t>
            </a:r>
            <a:r>
              <a:rPr lang="de-DE" sz="1400" dirty="0" err="1" smtClean="0">
                <a:latin typeface="Lucida Console" pitchFamily="49" charset="0"/>
              </a:rPr>
              <a:t>userId</a:t>
            </a:r>
            <a:r>
              <a:rPr lang="de-DE" sz="1400" dirty="0" smtClean="0">
                <a:latin typeface="Lucida Console" pitchFamily="49" charset="0"/>
              </a:rPr>
              <a:t>, List&lt;String&gt; </a:t>
            </a:r>
            <a:r>
              <a:rPr lang="de-DE" sz="1400" dirty="0" err="1" smtClean="0">
                <a:latin typeface="Lucida Console" pitchFamily="49" charset="0"/>
              </a:rPr>
              <a:t>moduleIds</a:t>
            </a:r>
            <a:r>
              <a:rPr lang="de-DE" sz="1400" dirty="0" smtClean="0">
                <a:latin typeface="Lucida Console" pitchFamily="49" charset="0"/>
              </a:rPr>
              <a:t>, </a:t>
            </a:r>
            <a:r>
              <a:rPr lang="de-DE" sz="1400" b="1" dirty="0" smtClean="0">
                <a:latin typeface="Lucida Console" pitchFamily="49" charset="0"/>
              </a:rPr>
              <a:t>Request </a:t>
            </a:r>
            <a:r>
              <a:rPr lang="de-DE" sz="1400" b="1" dirty="0" err="1" smtClean="0">
                <a:latin typeface="Lucida Console" pitchFamily="49" charset="0"/>
              </a:rPr>
              <a:t>request</a:t>
            </a:r>
            <a:r>
              <a:rPr lang="de-DE" sz="1400" dirty="0" smtClean="0">
                <a:latin typeface="Lucida Console" pitchFamily="49" charset="0"/>
              </a:rPr>
              <a:t>);</a:t>
            </a:r>
            <a:endParaRPr lang="de-DE" sz="1400" dirty="0">
              <a:latin typeface="Lucida Console" pitchFamily="49" charset="0"/>
            </a:endParaRPr>
          </a:p>
        </p:txBody>
      </p:sp>
      <p:sp>
        <p:nvSpPr>
          <p:cNvPr id="27" name="Freihandform 26"/>
          <p:cNvSpPr/>
          <p:nvPr/>
        </p:nvSpPr>
        <p:spPr>
          <a:xfrm>
            <a:off x="3228863" y="5924161"/>
            <a:ext cx="3549650" cy="123825"/>
          </a:xfrm>
          <a:custGeom>
            <a:avLst/>
            <a:gdLst>
              <a:gd name="connsiteX0" fmla="*/ 3276600 w 3276600"/>
              <a:gd name="connsiteY0" fmla="*/ 0 h 276225"/>
              <a:gd name="connsiteX1" fmla="*/ 2114550 w 3276600"/>
              <a:gd name="connsiteY1" fmla="*/ 276225 h 276225"/>
              <a:gd name="connsiteX2" fmla="*/ 0 w 3276600"/>
              <a:gd name="connsiteY2" fmla="*/ 0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6600" h="276225">
                <a:moveTo>
                  <a:pt x="3276600" y="0"/>
                </a:moveTo>
                <a:cubicBezTo>
                  <a:pt x="2968625" y="138112"/>
                  <a:pt x="2660650" y="276225"/>
                  <a:pt x="2114550" y="276225"/>
                </a:cubicBezTo>
                <a:cubicBezTo>
                  <a:pt x="1568450" y="276225"/>
                  <a:pt x="784225" y="138112"/>
                  <a:pt x="0" y="0"/>
                </a:cubicBezTo>
              </a:path>
            </a:pathLst>
          </a:custGeom>
          <a:ln>
            <a:solidFill>
              <a:srgbClr val="FFC000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Freihandform 27"/>
          <p:cNvSpPr/>
          <p:nvPr/>
        </p:nvSpPr>
        <p:spPr>
          <a:xfrm>
            <a:off x="3189951" y="4616597"/>
            <a:ext cx="4509294" cy="152400"/>
          </a:xfrm>
          <a:custGeom>
            <a:avLst/>
            <a:gdLst>
              <a:gd name="connsiteX0" fmla="*/ 3276600 w 3276600"/>
              <a:gd name="connsiteY0" fmla="*/ 0 h 276225"/>
              <a:gd name="connsiteX1" fmla="*/ 2114550 w 3276600"/>
              <a:gd name="connsiteY1" fmla="*/ 276225 h 276225"/>
              <a:gd name="connsiteX2" fmla="*/ 0 w 3276600"/>
              <a:gd name="connsiteY2" fmla="*/ 0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76600" h="276225">
                <a:moveTo>
                  <a:pt x="3276600" y="0"/>
                </a:moveTo>
                <a:cubicBezTo>
                  <a:pt x="2968625" y="138112"/>
                  <a:pt x="2660650" y="276225"/>
                  <a:pt x="2114550" y="276225"/>
                </a:cubicBezTo>
                <a:cubicBezTo>
                  <a:pt x="1568450" y="276225"/>
                  <a:pt x="784225" y="138112"/>
                  <a:pt x="0" y="0"/>
                </a:cubicBezTo>
              </a:path>
            </a:pathLst>
          </a:custGeom>
          <a:ln>
            <a:solidFill>
              <a:srgbClr val="FFC000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„</a:t>
            </a:r>
            <a:r>
              <a:rPr lang="de-DE" b="1" dirty="0" err="1" smtClean="0"/>
              <a:t>This</a:t>
            </a:r>
            <a:r>
              <a:rPr lang="de-DE" b="1" dirty="0" smtClean="0"/>
              <a:t> </a:t>
            </a:r>
            <a:r>
              <a:rPr lang="de-DE" b="1" dirty="0" err="1" smtClean="0"/>
              <a:t>method</a:t>
            </a:r>
            <a:r>
              <a:rPr lang="de-DE" b="1" dirty="0" smtClean="0"/>
              <a:t> </a:t>
            </a:r>
            <a:r>
              <a:rPr lang="de-DE" b="1" dirty="0" err="1" smtClean="0"/>
              <a:t>is</a:t>
            </a:r>
            <a:r>
              <a:rPr lang="de-DE" b="1" dirty="0" smtClean="0"/>
              <a:t> </a:t>
            </a:r>
            <a:r>
              <a:rPr lang="de-DE" b="1" dirty="0" err="1" smtClean="0"/>
              <a:t>too</a:t>
            </a:r>
            <a:r>
              <a:rPr lang="de-DE" b="1" dirty="0" smtClean="0"/>
              <a:t> </a:t>
            </a:r>
            <a:r>
              <a:rPr lang="de-DE" b="1" dirty="0" err="1" smtClean="0"/>
              <a:t>complex</a:t>
            </a:r>
            <a:r>
              <a:rPr lang="de-DE" b="1" dirty="0" smtClean="0"/>
              <a:t> </a:t>
            </a:r>
            <a:r>
              <a:rPr lang="de-DE" b="1" dirty="0" err="1" smtClean="0"/>
              <a:t>to</a:t>
            </a:r>
            <a:r>
              <a:rPr lang="de-DE" b="1" dirty="0" smtClean="0"/>
              <a:t> </a:t>
            </a:r>
            <a:r>
              <a:rPr lang="de-DE" b="1" dirty="0" err="1" smtClean="0"/>
              <a:t>analyze</a:t>
            </a:r>
            <a:r>
              <a:rPr lang="de-DE" b="1" dirty="0" smtClean="0"/>
              <a:t>.“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593534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17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6" name="Inhaltsplatzhalter 9"/>
          <p:cNvSpPr>
            <a:spLocks noGrp="1"/>
          </p:cNvSpPr>
          <p:nvPr>
            <p:ph sz="quarter" idx="4294967295"/>
          </p:nvPr>
        </p:nvSpPr>
        <p:spPr>
          <a:xfrm>
            <a:off x="327025" y="1085850"/>
            <a:ext cx="9578975" cy="5400675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protected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void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replicateWithDevice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(final Device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NotAvailableException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IntegrationException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IOException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InterruptedException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isDeviceEligibleForReplication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    final Host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localHost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this.localReplicationHandler.getLocalHost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   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isDeviceVersionEligibleForReplication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final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RemoteReplicationHandler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remoteDeviceReplicationHandler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this.getRemoteReplicationHandlerForDevice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//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reset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remote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replication-history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in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case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we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never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with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this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before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important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to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everything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after a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wipe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+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reinstall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final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boolean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reset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this.localReplicationHandler.getPreviousStartOfReplication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remoteDevice.getFingerprint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()) ==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IncrementalReplicationHandler.BEGINOFTIME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...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isDebugEnabled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log.debug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remoteReplicationContext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remoteReplicationContext.isValid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    final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ContextId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remoteReplicationContextId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remoteReplicationContext.getReplicationContextId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    final Host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remoteHost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remoteReplicationContextId.getHost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    final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DirectionForHost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direction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this.localReplicationHandler.getDirectionForHost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remoteHost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   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boolean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success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false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   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try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(!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remoteDevice.getFingerprint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().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equals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remoteHost.getDevice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().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getFingerprint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()))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    //in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case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called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claims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to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be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a different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one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than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expected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log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error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and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skip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replication</a:t>
            </a:r>
            <a:endParaRPr lang="de-DE" sz="4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   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log.error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("remote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claims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to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have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a different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fingerprint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than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expected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.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: "+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remoteHost.getDevice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()+",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expected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: "+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}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else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   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(!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DirectionForHost.NONE.equals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direction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final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ReplicationContext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localReplicationContext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this.remoteReplicationHandler.startReplicationContext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remoteHost,remoteReplicationContext.isResetHistory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localReplicationContext.isValid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   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try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//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use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a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map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to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tmp-store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remote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replicateables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used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when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pushing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back lokal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changes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to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):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final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Map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T&gt;,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Replicateable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T&gt;&gt;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remoteReplicateablesById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HashMap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T&gt;,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Replicateable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T&gt;&gt;();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final List&lt;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Replicateable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T&gt;&gt;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remoteReplicateables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remoteReplicationContext.getReplicateables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final List&lt;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T&gt;&gt;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idsToPush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ArrayList&lt;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T&gt;&gt;();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final List&lt;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T&gt;&gt;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idsToPull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ArrayList&lt;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T&gt;&gt;();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...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//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this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instance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of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RemoteReplicationManager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which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can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be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used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by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reference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):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//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not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required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here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to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check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whether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we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need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to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reset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in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case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remote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has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been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wiped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and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reinstalled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since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last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.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//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this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reset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will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be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triggered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by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remote-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as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soon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runs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itself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.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final List&lt;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Replicateable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T&gt;&gt;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localReplicateables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localReplicationContext.getReplicateables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(!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localReplicateables.isEmpty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    final String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remoteIdentifier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remoteReplicationContextId.getHost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().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getDevice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().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getFingerprint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    //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again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filter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list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of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replicateables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modified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after last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with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remoteHost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   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for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(final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Replicateable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localReplicateable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: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localReplicateables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	final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localReplicateable.getUniqueId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	//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skip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further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checks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we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allready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know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this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will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be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pushed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	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(!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idsToPush.contains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	    //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skip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latest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locally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known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modification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was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done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by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remote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endParaRPr lang="de-DE" sz="4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	    final List&lt;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HistoryEntry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&gt;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localHistory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localReplicateable.getModificationHistory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	   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(null ==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localHistory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||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localHistory.isEmpty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 || !localHistory.get(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localHistory.size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 - 1).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getOrigin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().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equals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remoteIdentifier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		// check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known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remote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replicateables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tmp-stored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from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pull-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phase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):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		final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Replicateable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&lt;K, T&gt;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remoteReplicateable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 remoteReplicateablesById.get(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		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remoteReplicateable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== null)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		    //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not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known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as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modified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on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remote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remember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to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send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the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real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object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later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: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		   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DirectionForHost.BOTH.equals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direction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 ||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DirectionForHost.TOREMOTE.equals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direction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			idsToPush.add(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id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		    } </a:t>
            </a:r>
            <a:r>
              <a:rPr lang="de-DE" sz="400" dirty="0" err="1" smtClean="0">
                <a:latin typeface="Lucida Console" pitchFamily="49" charset="0"/>
                <a:cs typeface="Courier New" pitchFamily="49" charset="0"/>
              </a:rPr>
              <a:t>else</a:t>
            </a: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400" dirty="0" smtClean="0">
                <a:latin typeface="Lucida Console" pitchFamily="49" charset="0"/>
                <a:cs typeface="Courier New" pitchFamily="49" charset="0"/>
              </a:rPr>
              <a:t>								</a:t>
            </a:r>
          </a:p>
        </p:txBody>
      </p:sp>
      <p:sp>
        <p:nvSpPr>
          <p:cNvPr id="8" name="Textfeld 7"/>
          <p:cNvSpPr txBox="1"/>
          <p:nvPr/>
        </p:nvSpPr>
        <p:spPr>
          <a:xfrm>
            <a:off x="6545702" y="1514476"/>
            <a:ext cx="29681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>
                <a:latin typeface="Arial" pitchFamily="34" charset="0"/>
                <a:cs typeface="Arial" pitchFamily="34" charset="0"/>
              </a:rPr>
              <a:t>Länge:  128 Zeilen</a:t>
            </a:r>
          </a:p>
          <a:p>
            <a:r>
              <a:rPr lang="de-DE" sz="1400" dirty="0" smtClean="0">
                <a:latin typeface="Arial" pitchFamily="34" charset="0"/>
                <a:cs typeface="Arial" pitchFamily="34" charset="0"/>
              </a:rPr>
              <a:t>Längste Zeile: 197 Zeichen</a:t>
            </a:r>
          </a:p>
          <a:p>
            <a:r>
              <a:rPr lang="de-DE" sz="1400" dirty="0" smtClean="0">
                <a:latin typeface="Arial" pitchFamily="34" charset="0"/>
                <a:cs typeface="Arial" pitchFamily="34" charset="0"/>
              </a:rPr>
              <a:t>Leerzeilen: 7</a:t>
            </a:r>
          </a:p>
          <a:p>
            <a:r>
              <a:rPr lang="de-DE" sz="1400" dirty="0" smtClean="0">
                <a:latin typeface="Arial" pitchFamily="34" charset="0"/>
                <a:cs typeface="Arial" pitchFamily="34" charset="0"/>
              </a:rPr>
              <a:t>Schachtelung: 14</a:t>
            </a:r>
          </a:p>
        </p:txBody>
      </p:sp>
      <p:sp>
        <p:nvSpPr>
          <p:cNvPr id="9" name="Rechteck 8"/>
          <p:cNvSpPr/>
          <p:nvPr/>
        </p:nvSpPr>
        <p:spPr>
          <a:xfrm rot="-1080000">
            <a:off x="6042973" y="4399720"/>
            <a:ext cx="330571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de-DE" sz="3600" b="1" cap="none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Unzensiert!</a:t>
            </a:r>
            <a:endParaRPr lang="de-DE" sz="3600" b="1" cap="none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feld 11"/>
          <p:cNvSpPr txBox="1"/>
          <p:nvPr/>
        </p:nvSpPr>
        <p:spPr>
          <a:xfrm>
            <a:off x="316442" y="982191"/>
            <a:ext cx="920432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BaseLinkTag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extends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BaseAsyncTag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{</a:t>
            </a:r>
          </a:p>
          <a:p>
            <a:endParaRPr lang="de-DE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de-DE" sz="12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...</a:t>
            </a:r>
            <a:br>
              <a:rPr lang="de-DE" sz="1200" b="1" dirty="0" smtClean="0">
                <a:latin typeface="Courier New" pitchFamily="49" charset="0"/>
                <a:cs typeface="Courier New" pitchFamily="49" charset="0"/>
              </a:rPr>
            </a:br>
            <a:endParaRPr lang="de-DE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2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setForce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pValue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force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pValue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endParaRPr lang="de-DE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2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setSuperForce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pValue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superForce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pValue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endParaRPr lang="de-DE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2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setDummy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(String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pValue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dummy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pValue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endParaRPr lang="de-DE" sz="1200" b="1" dirty="0" smtClean="0">
              <a:latin typeface="Courier New" pitchFamily="49" charset="0"/>
              <a:cs typeface="Courier New" pitchFamily="49" charset="0"/>
            </a:endParaRPr>
          </a:p>
          <a:p>
            <a:endParaRPr lang="de-DE" sz="1200" b="1" dirty="0" smtClean="0">
              <a:latin typeface="Courier New" pitchFamily="49" charset="0"/>
              <a:cs typeface="Courier New" pitchFamily="49" charset="0"/>
            </a:endParaRPr>
          </a:p>
          <a:p>
            <a:endParaRPr lang="de-DE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de-DE" sz="12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isBlocked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endParaRPr lang="de-DE" sz="12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  ...</a:t>
            </a: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	</a:t>
            </a: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de-DE" sz="12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(!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BaseConverter.toBooleanFalse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getSuperForce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()) &amp;&amp; 		    </a:t>
            </a: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          (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pageContext.getRequest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getAttribute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ResponseDatas.ALL_BLOCKED_TAG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) != null))</a:t>
            </a: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       || (!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BaseConverter.toBooleanFalse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getForce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()) &amp;&amp; 	</a:t>
            </a: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              (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pageContext.getRequest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().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getAttribute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200" b="1" dirty="0" err="1" smtClean="0">
                <a:latin typeface="Courier New" pitchFamily="49" charset="0"/>
                <a:cs typeface="Courier New" pitchFamily="49" charset="0"/>
              </a:rPr>
              <a:t>ResponseDatas.BLOCKED_TAG</a:t>
            </a:r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) != null));</a:t>
            </a:r>
          </a:p>
          <a:p>
            <a:r>
              <a:rPr lang="de-DE" sz="12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de-DE" sz="12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8" name="Grafik 7" descr="Star_Wars_Yoda-Plush_To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462" y="1235293"/>
            <a:ext cx="3579918" cy="3225231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Hey Dummy, may the force be with you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9266238" y="6582062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  <a:latin typeface="+mn-lt"/>
              </a:rPr>
              <a:pPr/>
              <a:t>18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>
          <a:xfrm>
            <a:off x="413327" y="6620845"/>
            <a:ext cx="2419746" cy="365125"/>
          </a:xfrm>
        </p:spPr>
        <p:txBody>
          <a:bodyPr/>
          <a:lstStyle/>
          <a:p>
            <a:fld id="{44EBEBBE-9405-624B-9AF3-C41B36DD840F}" type="datetime4">
              <a:rPr lang="de-DE" sz="1100" smtClean="0">
                <a:solidFill>
                  <a:schemeClr val="bg1"/>
                </a:solidFill>
                <a:latin typeface="+mn-lt"/>
              </a:rPr>
              <a:pPr/>
              <a:t>18. Januar 2015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9" name="Rechteckige Legende 8"/>
          <p:cNvSpPr/>
          <p:nvPr/>
        </p:nvSpPr>
        <p:spPr>
          <a:xfrm>
            <a:off x="2906651" y="3566161"/>
            <a:ext cx="3178689" cy="723900"/>
          </a:xfrm>
          <a:prstGeom prst="wedgeRectCallout">
            <a:avLst>
              <a:gd name="adj1" fmla="val -55900"/>
              <a:gd name="adj2" fmla="val 2156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Unzensiert! </a:t>
            </a:r>
            <a:br>
              <a:rPr lang="de-DE" sz="1200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Hier wurden keine Kommentare weggelassen!</a:t>
            </a:r>
          </a:p>
        </p:txBody>
      </p:sp>
    </p:spTree>
    <p:extLst>
      <p:ext uri="{BB962C8B-B14F-4D97-AF65-F5344CB8AC3E}">
        <p14:creationId xmlns:p14="http://schemas.microsoft.com/office/powerpoint/2010/main" val="300357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Agenda</a:t>
            </a:r>
            <a:endParaRPr lang="de-DE" b="1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Erklärungsversuche</a:t>
            </a:r>
          </a:p>
          <a:p>
            <a:r>
              <a:rPr lang="de-DE" dirty="0" err="1" smtClean="0"/>
              <a:t>Naming</a:t>
            </a:r>
            <a:r>
              <a:rPr lang="de-DE" dirty="0" smtClean="0"/>
              <a:t> Anti-Patterns</a:t>
            </a:r>
          </a:p>
          <a:p>
            <a:r>
              <a:rPr lang="de-DE" dirty="0" smtClean="0"/>
              <a:t>Formatierung und Kommentare</a:t>
            </a:r>
          </a:p>
          <a:p>
            <a:r>
              <a:rPr lang="de-DE" dirty="0" smtClean="0"/>
              <a:t>Funktionen und Methoden</a:t>
            </a:r>
          </a:p>
          <a:p>
            <a:pPr>
              <a:buClr>
                <a:schemeClr val="tx1"/>
              </a:buClr>
            </a:pPr>
            <a:r>
              <a:rPr lang="de-DE" b="1" dirty="0" smtClean="0">
                <a:solidFill>
                  <a:srgbClr val="C00000"/>
                </a:solidFill>
              </a:rPr>
              <a:t>Objekte und Daten Strukturen</a:t>
            </a:r>
          </a:p>
          <a:p>
            <a:r>
              <a:rPr lang="de-DE" dirty="0" smtClean="0"/>
              <a:t>Schlechte Programmierung</a:t>
            </a:r>
          </a:p>
          <a:p>
            <a:r>
              <a:rPr lang="de-DE" dirty="0" smtClean="0"/>
              <a:t>Lösungsansätze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 smtClean="0"/>
              <a:t>Matroschka</a:t>
            </a:r>
            <a:r>
              <a:rPr lang="de-DE" b="1" dirty="0" smtClean="0"/>
              <a:t> Interfaces und Klassen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593534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20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6" name="Inhaltsplatzhalter 9"/>
          <p:cNvSpPr>
            <a:spLocks noGrp="1"/>
          </p:cNvSpPr>
          <p:nvPr>
            <p:ph sz="quarter" idx="4294967295"/>
          </p:nvPr>
        </p:nvSpPr>
        <p:spPr>
          <a:xfrm>
            <a:off x="327025" y="1104900"/>
            <a:ext cx="9578975" cy="5172075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interface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IncrementalReplicationHandler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&lt;K, T&gt; {	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static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interface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LocalReplicationHandler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&lt;K,T&gt; { // 11 Methoden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enum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DirectionForReplicateable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{ FROMREMOTE, TOREMOTE, NONE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	public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enum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DirectionForHost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{ FROMREMOTE, TOREMOTE, BOTH, NONE }</a:t>
            </a: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public static interface Aware&lt;K, T&gt; { // 4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Methoden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public static final class Id&lt;K, T&gt; { // 2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Constructoren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, 7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Methoden</a:t>
            </a:r>
            <a:endParaRPr lang="en-US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	public static class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TypeFieldHandler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extends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GeneralizedFieldHandler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{ // 3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Methoden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public static interface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RemoteReplicationHandler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&lt;K, T&gt; { // 4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Methoden</a:t>
            </a:r>
            <a:endParaRPr lang="en-US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	public static class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ReplicationContext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&lt;K, T&gt; { // 1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Constructoren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, 9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Methoden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	public static class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Replicateable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&lt;K, T&gt; { // 3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Constructoren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, 11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Methoden</a:t>
            </a:r>
            <a:endParaRPr lang="en-US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		public static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enum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ComparismResult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{UNDEFINED, .. , YOUNGER, OLDER, CONFLICT };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	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	public static class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ReplicateableObjectHolder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&lt;K, T&gt; { // 2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Constructoren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, 5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Methoden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</p:txBody>
      </p:sp>
      <p:pic>
        <p:nvPicPr>
          <p:cNvPr id="46084" name="Picture 4" descr="http://www.humanitas-book.de/$WS/humanitas/websale7_shop-humanitas/produkte/medien/bilder/gross/7771348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26620" y="376239"/>
            <a:ext cx="2034917" cy="212883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„</a:t>
            </a:r>
            <a:r>
              <a:rPr lang="de-DE" b="1" dirty="0" err="1" smtClean="0"/>
              <a:t>Generrhoe</a:t>
            </a:r>
            <a:r>
              <a:rPr lang="de-DE" b="1" dirty="0" smtClean="0"/>
              <a:t>“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21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6" name="Inhaltsplatzhalter 9"/>
          <p:cNvSpPr>
            <a:spLocks noGrp="1"/>
          </p:cNvSpPr>
          <p:nvPr>
            <p:ph sz="quarter" idx="4294967295"/>
          </p:nvPr>
        </p:nvSpPr>
        <p:spPr>
          <a:xfrm>
            <a:off x="68263" y="1104900"/>
            <a:ext cx="9837737" cy="5172075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interface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ReplicationAware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&lt;K,T&gt;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IncrementalReplicationHandler.Aware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&lt;K,T&gt; 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abstract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class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AbstractAtomicReplicationAwareBase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&lt;K,T&gt;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implements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ReplicationAware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&lt;K,T&gt;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...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protected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abstract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&lt;R, E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Throwable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&gt; R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doReadLockedGet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(K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key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, 					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GettersCallable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&lt;R, T, E&gt;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lockable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)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E;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protected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abstract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&lt;E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Throwable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&gt;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void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doWriteLockedSet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(K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key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,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SettersCallable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&lt;T, E&gt;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lockable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)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E,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IOException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protected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abstract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&lt;R, E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Throwable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&gt; R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doReadAllLockedGet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(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GettersCallable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&lt;R, 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Collection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&lt;T&gt;, E&gt;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lockable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)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E;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protected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abstract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&lt;E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Throwable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&gt;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void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doWriteAllLockedSet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(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SettersCallable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Map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&lt;K, T&gt;, E&gt;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lockable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)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E,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IOException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protected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static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interface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GettersCallable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&lt;R, P, E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Throwable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&gt;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R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doLocked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(P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object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)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E;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 	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 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protected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static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interface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SettersCallable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&lt;R, E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Throwable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&gt;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		R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doLocked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(R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object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)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E;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  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7655195" cy="769441"/>
          </a:xfrm>
        </p:spPr>
        <p:txBody>
          <a:bodyPr/>
          <a:lstStyle/>
          <a:p>
            <a:r>
              <a:rPr lang="de-DE" b="1" dirty="0" err="1" smtClean="0"/>
              <a:t>Generic</a:t>
            </a:r>
            <a:r>
              <a:rPr lang="de-DE" b="1" dirty="0" smtClean="0"/>
              <a:t> </a:t>
            </a:r>
            <a:r>
              <a:rPr lang="de-DE" b="1" dirty="0" err="1" smtClean="0"/>
              <a:t>Deep</a:t>
            </a:r>
            <a:r>
              <a:rPr lang="de-DE" b="1" dirty="0" smtClean="0"/>
              <a:t> </a:t>
            </a:r>
            <a:r>
              <a:rPr lang="de-DE" b="1" dirty="0" err="1" smtClean="0"/>
              <a:t>Clone</a:t>
            </a:r>
            <a:r>
              <a:rPr lang="de-DE" b="1" dirty="0" smtClean="0"/>
              <a:t> vs. </a:t>
            </a:r>
            <a:r>
              <a:rPr lang="de-DE" b="1" dirty="0" err="1" smtClean="0"/>
              <a:t>Copy</a:t>
            </a:r>
            <a:r>
              <a:rPr lang="de-DE" b="1" dirty="0" smtClean="0"/>
              <a:t> </a:t>
            </a:r>
            <a:r>
              <a:rPr lang="de-DE" b="1" dirty="0" err="1" smtClean="0"/>
              <a:t>Constructor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598750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22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6" name="Inhaltsplatzhalter 9"/>
          <p:cNvSpPr>
            <a:spLocks noGrp="1"/>
          </p:cNvSpPr>
          <p:nvPr>
            <p:ph sz="quarter" idx="4294967295"/>
          </p:nvPr>
        </p:nvSpPr>
        <p:spPr>
          <a:xfrm>
            <a:off x="0" y="1047750"/>
            <a:ext cx="4667250" cy="5438775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class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ObjectCloner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&lt;T&gt;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Buffer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Buffer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ObjectOutputStream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out;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ObjectInputStream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in;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0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ObjectCloner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out =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ObjectOutputStream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buf.getOutputStream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in =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ObjectInputStream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buf.getInputStream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0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T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clone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(T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object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try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out.</a:t>
            </a:r>
            <a:r>
              <a:rPr lang="de-DE" sz="1000" b="1" dirty="0" err="1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writeObject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object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(T)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in.</a:t>
            </a:r>
            <a:r>
              <a:rPr lang="de-DE" sz="1000" b="1" dirty="0" err="1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readObject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 } catch 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IOException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e)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throw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IllegalStateException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(e);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 } catch 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ClassNotFoundException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e)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throw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IllegalStateException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(e);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0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void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close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 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000" dirty="0" smtClean="0">
              <a:latin typeface="Lucida Console" pitchFamily="49" charset="0"/>
              <a:cs typeface="Courier New" pitchFamily="49" charset="0"/>
            </a:endParaRPr>
          </a:p>
        </p:txBody>
      </p:sp>
      <p:sp>
        <p:nvSpPr>
          <p:cNvPr id="8" name="Inhaltsplatzhalter 9"/>
          <p:cNvSpPr txBox="1">
            <a:spLocks/>
          </p:cNvSpPr>
          <p:nvPr/>
        </p:nvSpPr>
        <p:spPr>
          <a:xfrm>
            <a:off x="4932363" y="1047751"/>
            <a:ext cx="4911725" cy="5438775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private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static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class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Buffer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Buffer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 {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this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(8192); }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Buffer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size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 {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byte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[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size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]; }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endParaRPr lang="de-DE" sz="1000" dirty="0" smtClean="0">
              <a:latin typeface="Lucida Console" pitchFamily="49" charset="0"/>
              <a:cs typeface="Courier New" pitchFamily="49" charset="0"/>
            </a:endParaRP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byte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[]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;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count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=0;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pos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=0;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endParaRPr lang="de-DE" sz="1000" dirty="0" smtClean="0">
              <a:latin typeface="Lucida Console" pitchFamily="49" charset="0"/>
              <a:cs typeface="Courier New" pitchFamily="49" charset="0"/>
            </a:endParaRP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OutputStream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getOutputStream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 {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OutputStream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 {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		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void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write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b)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IOException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  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newcount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count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+ 1;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	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newcount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&gt;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buf.length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 {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        //TODO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allow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to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shrink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pos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big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enough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	 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Arrays.copyOf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, 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                  Math.max(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buf.length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&lt;&lt; 1,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newcount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));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	   }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	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[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count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] = 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byte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)b;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	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count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newcount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  }};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}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endParaRPr lang="de-DE" sz="1000" dirty="0" smtClean="0">
              <a:latin typeface="Lucida Console" pitchFamily="49" charset="0"/>
              <a:cs typeface="Courier New" pitchFamily="49" charset="0"/>
            </a:endParaRP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InputStream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getInputStream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 {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InputStream() {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read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IOException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	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pos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&lt;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count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 ? 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buf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[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pos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++] &amp; 0xff) : -1;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	}};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}</a:t>
            </a:r>
          </a:p>
          <a:p>
            <a:pPr marL="269875" lvl="0" indent="-269875">
              <a:spcBef>
                <a:spcPts val="200"/>
              </a:spcBef>
              <a:spcAft>
                <a:spcPts val="200"/>
              </a:spcAft>
              <a:buClr>
                <a:schemeClr val="accent4"/>
              </a:buClr>
              <a:buSzPct val="165000"/>
            </a:pPr>
            <a:r>
              <a:rPr lang="de-DE" sz="1000" noProof="0" dirty="0" smtClean="0">
                <a:latin typeface="Lucida Console" pitchFamily="49" charset="0"/>
                <a:cs typeface="Courier New" pitchFamily="49" charset="0"/>
              </a:rPr>
              <a:t>}</a:t>
            </a:r>
            <a:endParaRPr kumimoji="0" lang="de-DE" sz="1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Lucida Console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9" name="Rechteckige Legende 8"/>
          <p:cNvSpPr/>
          <p:nvPr/>
        </p:nvSpPr>
        <p:spPr>
          <a:xfrm>
            <a:off x="6901120" y="293578"/>
            <a:ext cx="2875593" cy="725298"/>
          </a:xfrm>
          <a:prstGeom prst="wedgeRectCallout">
            <a:avLst>
              <a:gd name="adj1" fmla="val -57239"/>
              <a:gd name="adj2" fmla="val 5208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Eigene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Buffer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-Implementierung zur Kompensation der schlechten Performance!</a:t>
            </a:r>
          </a:p>
        </p:txBody>
      </p:sp>
      <p:pic>
        <p:nvPicPr>
          <p:cNvPr id="3074" name="Picture 2" descr="C:\Users\Reiner\AppData\Local\Microsoft\Windows\Temporary Internet Files\Content.IE5\7M0HZ324\MP900385556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5843" y="2854224"/>
            <a:ext cx="1486519" cy="2081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The </a:t>
            </a:r>
            <a:r>
              <a:rPr lang="de-DE" b="1" dirty="0" err="1" smtClean="0"/>
              <a:t>Almighty</a:t>
            </a:r>
            <a:r>
              <a:rPr lang="de-DE" b="1" dirty="0" smtClean="0"/>
              <a:t> Manager-</a:t>
            </a:r>
            <a:r>
              <a:rPr lang="de-DE" b="1" dirty="0" err="1" smtClean="0"/>
              <a:t>Facade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23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6" name="Inhaltsplatzhalter 9"/>
          <p:cNvSpPr>
            <a:spLocks noGrp="1"/>
          </p:cNvSpPr>
          <p:nvPr>
            <p:ph sz="quarter" idx="4294967295"/>
          </p:nvPr>
        </p:nvSpPr>
        <p:spPr>
          <a:xfrm>
            <a:off x="229745" y="988164"/>
            <a:ext cx="9578975" cy="5048250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interface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Manager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ManagerPublic, ManagerPrivate,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DealerInfoProvider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, /* JobController, */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IVMManagerPortType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, TestProvider,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OssInfoProvider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0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class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ManagerServiceImpl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extends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Service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implements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Manager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/** 29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Direct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Dependencies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*/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private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InventoryHandler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inventoryHandler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private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IbaseConfigHandler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ibaseConfigHandler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...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private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ReplicationHandler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replicationHandler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0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@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WebserviceRedirectToActiveManager</a:t>
            </a:r>
            <a:endParaRPr lang="de-DE" sz="10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void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signIn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(Device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NetworkConfiguration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networkConfig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,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DeviceRuntimeConfiguration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deviceRuntimeConfig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AxisFault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//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Local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call</a:t>
            </a:r>
            <a:endParaRPr lang="de-DE" sz="10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try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inventoryHandler.signIn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networkConfig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deviceRuntimeConfig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} catch 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e)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log.error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("Service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exception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occured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", e);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throw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AxisFaultFactory.newInstance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(e);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0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	 ...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1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1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100" dirty="0" smtClean="0">
              <a:latin typeface="Lucida Console" pitchFamily="49" charset="0"/>
              <a:cs typeface="Courier New" pitchFamily="49" charset="0"/>
            </a:endParaRPr>
          </a:p>
        </p:txBody>
      </p:sp>
      <p:sp>
        <p:nvSpPr>
          <p:cNvPr id="8" name="Textfeld 7"/>
          <p:cNvSpPr txBox="1"/>
          <p:nvPr/>
        </p:nvSpPr>
        <p:spPr>
          <a:xfrm>
            <a:off x="275167" y="6054200"/>
            <a:ext cx="9362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>
                <a:solidFill>
                  <a:srgbClr val="C00000"/>
                </a:solidFill>
              </a:rPr>
              <a:t>9200 LOC, 29 </a:t>
            </a:r>
            <a:r>
              <a:rPr lang="de-DE" b="1" dirty="0" err="1" smtClean="0">
                <a:solidFill>
                  <a:srgbClr val="C00000"/>
                </a:solidFill>
              </a:rPr>
              <a:t>Direct</a:t>
            </a:r>
            <a:r>
              <a:rPr lang="de-DE" b="1" dirty="0" smtClean="0">
                <a:solidFill>
                  <a:srgbClr val="C00000"/>
                </a:solidFill>
              </a:rPr>
              <a:t> </a:t>
            </a:r>
            <a:r>
              <a:rPr lang="de-DE" b="1" dirty="0" err="1" smtClean="0">
                <a:solidFill>
                  <a:srgbClr val="C00000"/>
                </a:solidFill>
              </a:rPr>
              <a:t>Dependencies</a:t>
            </a:r>
            <a:r>
              <a:rPr lang="de-DE" b="1" dirty="0" smtClean="0">
                <a:solidFill>
                  <a:srgbClr val="C00000"/>
                </a:solidFill>
              </a:rPr>
              <a:t>,  410 implementierte Methoden, mittels Delegation aber auch direkt ausprogrammiert!</a:t>
            </a:r>
          </a:p>
        </p:txBody>
      </p:sp>
      <p:pic>
        <p:nvPicPr>
          <p:cNvPr id="4099" name="Picture 3" descr="C:\Users\Reiner\AppData\Local\Microsoft\Windows\Temporary Internet Files\Content.IE5\9OSTINEN\MP900448338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4856" y="1595387"/>
            <a:ext cx="2598020" cy="3897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Agenda</a:t>
            </a:r>
            <a:endParaRPr lang="de-DE" b="1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Erklärungsversuche</a:t>
            </a:r>
          </a:p>
          <a:p>
            <a:r>
              <a:rPr lang="de-DE" dirty="0" err="1" smtClean="0"/>
              <a:t>Naming</a:t>
            </a:r>
            <a:r>
              <a:rPr lang="de-DE" dirty="0" smtClean="0"/>
              <a:t> Anti-Patterns</a:t>
            </a:r>
          </a:p>
          <a:p>
            <a:r>
              <a:rPr lang="de-DE" dirty="0" smtClean="0"/>
              <a:t>Formatierung und Kommentare</a:t>
            </a:r>
          </a:p>
          <a:p>
            <a:r>
              <a:rPr lang="de-DE" dirty="0" smtClean="0"/>
              <a:t>Funktionen und Methoden</a:t>
            </a:r>
          </a:p>
          <a:p>
            <a:r>
              <a:rPr lang="de-DE" dirty="0" smtClean="0"/>
              <a:t>Objekte und Daten Strukturen</a:t>
            </a:r>
          </a:p>
          <a:p>
            <a:pPr>
              <a:buClr>
                <a:schemeClr val="tx1"/>
              </a:buClr>
            </a:pPr>
            <a:r>
              <a:rPr lang="de-DE" b="1" dirty="0" smtClean="0">
                <a:solidFill>
                  <a:srgbClr val="C00000"/>
                </a:solidFill>
              </a:rPr>
              <a:t>Schlechte Programmierung</a:t>
            </a:r>
          </a:p>
          <a:p>
            <a:r>
              <a:rPr lang="de-DE" dirty="0" smtClean="0"/>
              <a:t>Lösungsansätze</a:t>
            </a:r>
          </a:p>
          <a:p>
            <a:pPr>
              <a:buNone/>
            </a:pPr>
            <a:endParaRPr lang="de-DE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2" y="259938"/>
            <a:ext cx="8887883" cy="430887"/>
          </a:xfrm>
        </p:spPr>
        <p:txBody>
          <a:bodyPr/>
          <a:lstStyle/>
          <a:p>
            <a:r>
              <a:rPr lang="de-DE" b="1" dirty="0" smtClean="0"/>
              <a:t>Valide Programmierung …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58277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  <a:latin typeface="+mn-lt"/>
              </a:rPr>
              <a:pPr/>
              <a:t>25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13327" y="6592401"/>
            <a:ext cx="2419746" cy="365125"/>
          </a:xfrm>
        </p:spPr>
        <p:txBody>
          <a:bodyPr/>
          <a:lstStyle/>
          <a:p>
            <a:fld id="{44EBEBBE-9405-624B-9AF3-C41B36DD840F}" type="datetime4">
              <a:rPr lang="de-DE" sz="1100" smtClean="0">
                <a:solidFill>
                  <a:schemeClr val="bg1"/>
                </a:solidFill>
                <a:latin typeface="+mn-lt"/>
              </a:rPr>
              <a:pPr/>
              <a:t>18. Januar 2015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6" name="Inhaltsplatzhalter 9"/>
          <p:cNvSpPr>
            <a:spLocks noGrp="1"/>
          </p:cNvSpPr>
          <p:nvPr>
            <p:ph sz="quarter" idx="13"/>
          </p:nvPr>
        </p:nvSpPr>
        <p:spPr>
          <a:xfrm>
            <a:off x="264847" y="1066401"/>
            <a:ext cx="9579240" cy="5172075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class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SmartDatatype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implements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Comparable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Serializable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{   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000" b="1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	</a:t>
            </a:r>
            <a:r>
              <a:rPr lang="de-DE" sz="10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boolean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isValid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() {		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de-DE" sz="1000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isInternalValid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();</a:t>
            </a:r>
            <a:endParaRPr lang="de-DE" sz="1000" dirty="0" smtClean="0">
              <a:solidFill>
                <a:schemeClr val="tx1">
                  <a:lumMod val="50000"/>
                  <a:lumOff val="50000"/>
                </a:schemeClr>
              </a:solidFill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	}  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   </a:t>
            </a:r>
            <a:r>
              <a:rPr lang="de-DE" sz="10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final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boolean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isInternalValid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() {		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de-DE" sz="1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// ...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	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	}   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/>
            </a:r>
            <a:br>
              <a:rPr lang="de-DE" sz="1000" b="1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10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boolean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isExtendedValid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() {		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de-DE" sz="10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10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isInternalExtendedValid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();</a:t>
            </a:r>
            <a:endParaRPr lang="de-DE" sz="1000" dirty="0" smtClean="0">
              <a:solidFill>
                <a:schemeClr val="tx1">
                  <a:lumMod val="50000"/>
                  <a:lumOff val="50000"/>
                </a:schemeClr>
              </a:solidFill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	}   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000" b="1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	</a:t>
            </a:r>
            <a:r>
              <a:rPr lang="de-DE" sz="10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final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boolean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isInternalExtendedValid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() {		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de-DE" sz="1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Lucida Console" pitchFamily="49" charset="0"/>
                <a:cs typeface="Courier New" pitchFamily="49" charset="0"/>
              </a:rPr>
              <a:t>// ...	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	}   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000" b="1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	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  </a:t>
            </a:r>
            <a:r>
              <a:rPr lang="de-DE" sz="10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final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boolean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hasValidationErrors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boolean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Lucida Console" pitchFamily="49" charset="0"/>
                <a:cs typeface="Courier New" pitchFamily="49" charset="0"/>
              </a:rPr>
              <a:t>pResetErrors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) {		</a:t>
            </a:r>
            <a:br>
              <a:rPr lang="de-DE" sz="1000" b="1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  ...</a:t>
            </a:r>
          </a:p>
          <a:p>
            <a:pPr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 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for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ErrorEntry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error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: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errors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 {</a:t>
            </a:r>
            <a:br>
              <a:rPr lang="de-DE" sz="1000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   </a:t>
            </a:r>
            <a:r>
              <a:rPr lang="de-DE" sz="1000" dirty="0" err="1" smtClean="0"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1000" b="1" dirty="0" err="1" smtClean="0">
                <a:solidFill>
                  <a:srgbClr val="C00000"/>
                </a:solidFill>
                <a:latin typeface="Lucida Console" pitchFamily="49" charset="0"/>
                <a:cs typeface="Courier New" pitchFamily="49" charset="0"/>
              </a:rPr>
              <a:t>error.isRealError</a:t>
            </a:r>
            <a:r>
              <a:rPr lang="de-DE" sz="1000" b="1" dirty="0" smtClean="0">
                <a:solidFill>
                  <a:srgbClr val="C00000"/>
                </a:solidFill>
                <a:latin typeface="Lucida Console" pitchFamily="49" charset="0"/>
                <a:cs typeface="Courier New" pitchFamily="49" charset="0"/>
              </a:rPr>
              <a:t>()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)</a:t>
            </a: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{</a:t>
            </a:r>
            <a:br>
              <a:rPr lang="de-DE" sz="1000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       // ...</a:t>
            </a:r>
            <a:br>
              <a:rPr lang="de-DE" sz="1000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   } </a:t>
            </a:r>
            <a:br>
              <a:rPr lang="de-DE" sz="1000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1000" dirty="0" smtClean="0">
                <a:latin typeface="Lucida Console" pitchFamily="49" charset="0"/>
                <a:cs typeface="Courier New" pitchFamily="49" charset="0"/>
              </a:rPr>
              <a:t>   }</a:t>
            </a:r>
            <a:br>
              <a:rPr lang="de-DE" sz="1000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  ...</a:t>
            </a:r>
            <a:endParaRPr lang="de-DE" sz="1000" b="1" dirty="0" smtClean="0">
              <a:solidFill>
                <a:schemeClr val="tx1">
                  <a:lumMod val="50000"/>
                  <a:lumOff val="50000"/>
                </a:schemeClr>
              </a:solidFill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1000" b="1" dirty="0" smtClean="0">
                <a:latin typeface="Lucida Console" pitchFamily="49" charset="0"/>
                <a:cs typeface="Courier New" pitchFamily="49" charset="0"/>
              </a:rPr>
              <a:t>   }	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000" b="1" dirty="0" smtClean="0">
              <a:latin typeface="Lucida Console" pitchFamily="49" charset="0"/>
              <a:cs typeface="Courier New" pitchFamily="49" charset="0"/>
            </a:endParaRPr>
          </a:p>
        </p:txBody>
      </p:sp>
      <p:sp>
        <p:nvSpPr>
          <p:cNvPr id="10" name="Rechteckige Legende 9"/>
          <p:cNvSpPr/>
          <p:nvPr/>
        </p:nvSpPr>
        <p:spPr>
          <a:xfrm>
            <a:off x="4816792" y="2135206"/>
            <a:ext cx="4849813" cy="556259"/>
          </a:xfrm>
          <a:prstGeom prst="wedgeRectCallout">
            <a:avLst>
              <a:gd name="adj1" fmla="val -72454"/>
              <a:gd name="adj2" fmla="val -476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Ist die Methode nun Public oder Internal, </a:t>
            </a:r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ähh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? </a:t>
            </a:r>
          </a:p>
        </p:txBody>
      </p:sp>
      <p:sp>
        <p:nvSpPr>
          <p:cNvPr id="12" name="Rechteckige Legende 11"/>
          <p:cNvSpPr/>
          <p:nvPr/>
        </p:nvSpPr>
        <p:spPr>
          <a:xfrm>
            <a:off x="4242148" y="1347940"/>
            <a:ext cx="5068052" cy="441960"/>
          </a:xfrm>
          <a:prstGeom prst="wedgeRectCallout">
            <a:avLst>
              <a:gd name="adj1" fmla="val -79392"/>
              <a:gd name="adj2" fmla="val 1150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isValid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, ok, </a:t>
            </a:r>
          </a:p>
          <a:p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aber hier könnte auch direkt der Code stehen</a:t>
            </a:r>
          </a:p>
        </p:txBody>
      </p:sp>
      <p:sp>
        <p:nvSpPr>
          <p:cNvPr id="13" name="Rechteckige Legende 12"/>
          <p:cNvSpPr/>
          <p:nvPr/>
        </p:nvSpPr>
        <p:spPr>
          <a:xfrm>
            <a:off x="4659947" y="2882771"/>
            <a:ext cx="2678748" cy="556259"/>
          </a:xfrm>
          <a:prstGeom prst="wedgeRectCallout">
            <a:avLst>
              <a:gd name="adj1" fmla="val -96491"/>
              <a:gd name="adj2" fmla="val -339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Steigerung von valide???</a:t>
            </a:r>
          </a:p>
        </p:txBody>
      </p:sp>
      <p:sp>
        <p:nvSpPr>
          <p:cNvPr id="14" name="Rechteckige Legende 13"/>
          <p:cNvSpPr/>
          <p:nvPr/>
        </p:nvSpPr>
        <p:spPr>
          <a:xfrm>
            <a:off x="5452427" y="3757466"/>
            <a:ext cx="1787208" cy="556259"/>
          </a:xfrm>
          <a:prstGeom prst="wedgeRectCallout">
            <a:avLst>
              <a:gd name="adj1" fmla="val -100648"/>
              <a:gd name="adj2" fmla="val -1982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Ich geb auf!</a:t>
            </a:r>
          </a:p>
        </p:txBody>
      </p:sp>
      <p:sp>
        <p:nvSpPr>
          <p:cNvPr id="15" name="Rechteckige Legende 14"/>
          <p:cNvSpPr/>
          <p:nvPr/>
        </p:nvSpPr>
        <p:spPr>
          <a:xfrm>
            <a:off x="5234882" y="5267011"/>
            <a:ext cx="1787208" cy="556259"/>
          </a:xfrm>
          <a:prstGeom prst="wedgeRectCallout">
            <a:avLst>
              <a:gd name="adj1" fmla="val -100648"/>
              <a:gd name="adj2" fmla="val -1982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200" dirty="0" err="1" smtClean="0">
                <a:latin typeface="Lucida Console" pitchFamily="49" charset="0"/>
                <a:cs typeface="Courier New" pitchFamily="49" charset="0"/>
              </a:rPr>
              <a:t>Dooohhh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!!!</a:t>
            </a:r>
          </a:p>
        </p:txBody>
      </p:sp>
    </p:spTree>
    <p:extLst>
      <p:ext uri="{BB962C8B-B14F-4D97-AF65-F5344CB8AC3E}">
        <p14:creationId xmlns:p14="http://schemas.microsoft.com/office/powerpoint/2010/main" val="199232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2" y="259938"/>
            <a:ext cx="8887883" cy="430887"/>
          </a:xfrm>
        </p:spPr>
        <p:txBody>
          <a:bodyPr/>
          <a:lstStyle/>
          <a:p>
            <a:r>
              <a:rPr lang="de-DE" b="1" dirty="0" smtClean="0"/>
              <a:t>Die dunkle Seite der Java Zeitrechnung hat begonnen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58277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  <a:latin typeface="+mn-lt"/>
              </a:rPr>
              <a:pPr/>
              <a:t>26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13327" y="6592401"/>
            <a:ext cx="2419746" cy="365125"/>
          </a:xfrm>
        </p:spPr>
        <p:txBody>
          <a:bodyPr/>
          <a:lstStyle/>
          <a:p>
            <a:fld id="{44EBEBBE-9405-624B-9AF3-C41B36DD840F}" type="datetime4">
              <a:rPr lang="de-DE" sz="1100" smtClean="0">
                <a:solidFill>
                  <a:schemeClr val="bg1"/>
                </a:solidFill>
                <a:latin typeface="+mn-lt"/>
              </a:rPr>
              <a:pPr/>
              <a:t>18. Januar 2015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pic>
        <p:nvPicPr>
          <p:cNvPr id="8" name="Grafik 7" descr="WSM Date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365" y="1038497"/>
            <a:ext cx="7628137" cy="528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36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Inhaltsplatzhalter 9"/>
          <p:cNvSpPr>
            <a:spLocks noGrp="1"/>
          </p:cNvSpPr>
          <p:nvPr>
            <p:ph sz="quarter" idx="13"/>
          </p:nvPr>
        </p:nvSpPr>
        <p:spPr>
          <a:xfrm>
            <a:off x="302672" y="1201327"/>
            <a:ext cx="9303342" cy="5160975"/>
          </a:xfrm>
        </p:spPr>
        <p:txBody>
          <a:bodyPr>
            <a:normAutofit fontScale="25000" lnSpcReduction="20000"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de-DE" sz="3100" dirty="0" smtClean="0">
                <a:latin typeface="Lucida Console" pitchFamily="49" charset="0"/>
                <a:cs typeface="Courier New" pitchFamily="49" charset="0"/>
              </a:rPr>
              <a:t> </a:t>
            </a:r>
            <a:endParaRPr lang="de-DE" sz="3100" dirty="0" smtClean="0">
              <a:solidFill>
                <a:schemeClr val="accent4"/>
              </a:solidFill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err="1" smtClean="0">
                <a:latin typeface="Courier New" pitchFamily="49" charset="0"/>
                <a:cs typeface="Courier New" pitchFamily="49" charset="0"/>
              </a:rPr>
              <a:t>DateHelper</a:t>
            </a:r>
            <a:endParaRPr lang="en-US" sz="36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    /**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     * The first month in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     */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36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final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JANUARY = </a:t>
            </a:r>
            <a:r>
              <a:rPr lang="en-US" sz="3600" b="1" dirty="0" smtClean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/**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     * Add this offset to values from Java {@link </a:t>
            </a:r>
            <a:r>
              <a:rPr lang="en-US" sz="3600" dirty="0" err="1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Calendar#get</a:t>
            </a: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3600" dirty="0" err="1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)} with {@link </a:t>
            </a:r>
            <a:r>
              <a:rPr lang="en-US" sz="3600" dirty="0" err="1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Calendar#MONTH</a:t>
            </a: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     * to get {@link Date} moth.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     */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final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JAVA_CALENDAR_MONTH_TO_WSM_DATE_OFFSET = JANUARY - </a:t>
            </a:r>
            <a:r>
              <a:rPr lang="en-US" sz="3600" b="1" dirty="0" err="1" smtClean="0">
                <a:latin typeface="Courier New" pitchFamily="49" charset="0"/>
                <a:cs typeface="Courier New" pitchFamily="49" charset="0"/>
              </a:rPr>
              <a:t>Calendar.JANUARY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/**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     * Add this offset to values to {@link Date} month to get set field {@link </a:t>
            </a:r>
            <a:r>
              <a:rPr lang="en-US" sz="3600" dirty="0" err="1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Calendar#MONTH</a:t>
            </a: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} in {@link Calendar}.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     */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36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final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WSM_DATE_TO_JAVA_CALENDAR_OFFSET = </a:t>
            </a:r>
            <a:r>
              <a:rPr lang="en-US" sz="3600" b="1" dirty="0" err="1" smtClean="0">
                <a:latin typeface="Courier New" pitchFamily="49" charset="0"/>
                <a:cs typeface="Courier New" pitchFamily="49" charset="0"/>
              </a:rPr>
              <a:t>Calendar.JANUARY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 - JANUARY;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    /**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     * Creates a new Date instance from given </a:t>
            </a:r>
            <a:r>
              <a:rPr lang="en-US" sz="3600" dirty="0" err="1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params</a:t>
            </a:r>
            <a:endParaRPr lang="en-US" sz="3600" dirty="0" smtClean="0">
              <a:solidFill>
                <a:srgbClr val="009644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solidFill>
                  <a:srgbClr val="009644"/>
                </a:solidFill>
                <a:latin typeface="Courier New" pitchFamily="49" charset="0"/>
                <a:cs typeface="Courier New" pitchFamily="49" charset="0"/>
              </a:rPr>
              <a:t>     */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36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3600" b="1" dirty="0" smtClean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err="1" smtClean="0">
                <a:latin typeface="Courier New" pitchFamily="49" charset="0"/>
                <a:cs typeface="Courier New" pitchFamily="49" charset="0"/>
              </a:rPr>
              <a:t>DateEx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 create(</a:t>
            </a:r>
            <a:r>
              <a:rPr lang="en-US" sz="36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err="1" smtClean="0">
                <a:latin typeface="Courier New" pitchFamily="49" charset="0"/>
                <a:cs typeface="Courier New" pitchFamily="49" charset="0"/>
              </a:rPr>
              <a:t>pYear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6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err="1" smtClean="0">
                <a:latin typeface="Courier New" pitchFamily="49" charset="0"/>
                <a:cs typeface="Courier New" pitchFamily="49" charset="0"/>
              </a:rPr>
              <a:t>pMonth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6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err="1" smtClean="0">
                <a:latin typeface="Courier New" pitchFamily="49" charset="0"/>
                <a:cs typeface="Courier New" pitchFamily="49" charset="0"/>
              </a:rPr>
              <a:t>pDay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6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err="1" smtClean="0">
                <a:latin typeface="Courier New" pitchFamily="49" charset="0"/>
                <a:cs typeface="Courier New" pitchFamily="49" charset="0"/>
              </a:rPr>
              <a:t>pHour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en-US" sz="36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b="1" dirty="0" err="1" smtClean="0">
                <a:latin typeface="Courier New" pitchFamily="49" charset="0"/>
                <a:cs typeface="Courier New" pitchFamily="49" charset="0"/>
              </a:rPr>
              <a:t>pMinute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, String </a:t>
            </a:r>
            <a:r>
              <a:rPr lang="en-US" sz="3600" b="1" dirty="0" err="1" smtClean="0">
                <a:latin typeface="Courier New" pitchFamily="49" charset="0"/>
                <a:cs typeface="Courier New" pitchFamily="49" charset="0"/>
              </a:rPr>
              <a:t>pTimezone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, String </a:t>
            </a:r>
            <a:r>
              <a:rPr lang="en-US" sz="3600" b="1" dirty="0" err="1" smtClean="0">
                <a:latin typeface="Courier New" pitchFamily="49" charset="0"/>
                <a:cs typeface="Courier New" pitchFamily="49" charset="0"/>
              </a:rPr>
              <a:t>pTimezoneId</a:t>
            </a:r>
            <a:r>
              <a:rPr lang="en-US" sz="36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DateEx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newDate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DateEx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newDate.setYear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pYear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newDate.setMonth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pMonth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newDate.setDay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pDay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newDate.setHour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pHour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newDate.setMinute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3600" dirty="0" err="1" smtClean="0">
                <a:latin typeface="Courier New" pitchFamily="49" charset="0"/>
                <a:cs typeface="Courier New" pitchFamily="49" charset="0"/>
              </a:rPr>
              <a:t>pMinute</a:t>
            </a: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);       </a:t>
            </a:r>
            <a:br>
              <a:rPr lang="en-US" sz="3600" dirty="0" smtClean="0">
                <a:latin typeface="Courier New" pitchFamily="49" charset="0"/>
                <a:cs typeface="Courier New" pitchFamily="49" charset="0"/>
              </a:rPr>
            </a:br>
            <a:r>
              <a:rPr lang="en-US" sz="12800" dirty="0" smtClean="0">
                <a:latin typeface="Courier New" pitchFamily="49" charset="0"/>
                <a:cs typeface="Courier New" pitchFamily="49" charset="0"/>
              </a:rPr>
              <a:t> …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 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3600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3600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3600" dirty="0" smtClean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4817" y="288813"/>
            <a:ext cx="8887883" cy="769441"/>
          </a:xfrm>
        </p:spPr>
        <p:txBody>
          <a:bodyPr/>
          <a:lstStyle/>
          <a:p>
            <a:r>
              <a:rPr lang="de-DE" b="1" dirty="0" smtClean="0"/>
              <a:t>Implementierung einer eignen Date-API mit allen verbunden Problemen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60202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  <a:latin typeface="+mn-lt"/>
              </a:rPr>
              <a:pPr/>
              <a:t>27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13327" y="6592401"/>
            <a:ext cx="2419746" cy="365125"/>
          </a:xfrm>
        </p:spPr>
        <p:txBody>
          <a:bodyPr/>
          <a:lstStyle/>
          <a:p>
            <a:fld id="{44EBEBBE-9405-624B-9AF3-C41B36DD840F}" type="datetime4">
              <a:rPr lang="de-DE" sz="1100" smtClean="0">
                <a:solidFill>
                  <a:schemeClr val="bg1"/>
                </a:solidFill>
                <a:latin typeface="+mn-lt"/>
              </a:rPr>
              <a:pPr/>
              <a:t>18. Januar 2015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711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592401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  <a:latin typeface="+mn-lt"/>
              </a:rPr>
              <a:pPr/>
              <a:t>28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13327" y="6602026"/>
            <a:ext cx="2419746" cy="365125"/>
          </a:xfrm>
        </p:spPr>
        <p:txBody>
          <a:bodyPr/>
          <a:lstStyle/>
          <a:p>
            <a:fld id="{44EBEBBE-9405-624B-9AF3-C41B36DD840F}" type="datetime4">
              <a:rPr lang="de-DE" sz="1100" smtClean="0">
                <a:solidFill>
                  <a:schemeClr val="bg1"/>
                </a:solidFill>
                <a:latin typeface="+mn-lt"/>
              </a:rPr>
              <a:pPr/>
              <a:t>18. Januar 2015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pic>
        <p:nvPicPr>
          <p:cNvPr id="9" name="Grafik 8" descr="Joda Ti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780" y="1459230"/>
            <a:ext cx="7082790" cy="490347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43692" y="288813"/>
            <a:ext cx="9152043" cy="769441"/>
          </a:xfrm>
        </p:spPr>
        <p:txBody>
          <a:bodyPr/>
          <a:lstStyle/>
          <a:p>
            <a:r>
              <a:rPr lang="de-DE" b="1" dirty="0" smtClean="0"/>
              <a:t>Wenn nicht die org. API, dann aber eine ausgereifte und durchdachte Bibliothek wie z. B. </a:t>
            </a:r>
            <a:r>
              <a:rPr lang="de-DE" b="1" dirty="0" err="1" smtClean="0"/>
              <a:t>Joda</a:t>
            </a:r>
            <a:r>
              <a:rPr lang="de-DE" b="1" dirty="0" smtClean="0"/>
              <a:t> Time</a:t>
            </a:r>
            <a:endParaRPr lang="de-DE" b="1" dirty="0"/>
          </a:p>
        </p:txBody>
      </p:sp>
    </p:spTree>
    <p:extLst>
      <p:ext uri="{BB962C8B-B14F-4D97-AF65-F5344CB8AC3E}">
        <p14:creationId xmlns:p14="http://schemas.microsoft.com/office/powerpoint/2010/main" val="1263866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692" y="259938"/>
            <a:ext cx="8887883" cy="769441"/>
          </a:xfrm>
        </p:spPr>
        <p:txBody>
          <a:bodyPr/>
          <a:lstStyle/>
          <a:p>
            <a:r>
              <a:rPr lang="de-DE" b="1" dirty="0" smtClean="0"/>
              <a:t>Und wenn doch die originale (und recht schlechte) API, dann bitte dies nicht noch mit solchen Code übertrumpfen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592401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  <a:latin typeface="+mn-lt"/>
              </a:rPr>
              <a:pPr/>
              <a:t>29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13327" y="6592401"/>
            <a:ext cx="2419746" cy="365125"/>
          </a:xfrm>
        </p:spPr>
        <p:txBody>
          <a:bodyPr/>
          <a:lstStyle/>
          <a:p>
            <a:fld id="{44EBEBBE-9405-624B-9AF3-C41B36DD840F}" type="datetime4">
              <a:rPr lang="de-DE" sz="1100" smtClean="0">
                <a:solidFill>
                  <a:schemeClr val="bg1"/>
                </a:solidFill>
                <a:latin typeface="+mn-lt"/>
              </a:rPr>
              <a:pPr/>
              <a:t>18. Januar 2015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6" name="Inhaltsplatzhalter 9"/>
          <p:cNvSpPr>
            <a:spLocks noGrp="1"/>
          </p:cNvSpPr>
          <p:nvPr>
            <p:ph sz="quarter" idx="13"/>
          </p:nvPr>
        </p:nvSpPr>
        <p:spPr>
          <a:xfrm>
            <a:off x="658797" y="1095452"/>
            <a:ext cx="9130086" cy="5132099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 static 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Calendar </a:t>
            </a:r>
            <a:r>
              <a:rPr lang="en-US" sz="1100" b="1" dirty="0" err="1" smtClean="0">
                <a:latin typeface="Courier New" pitchFamily="49" charset="0"/>
                <a:cs typeface="Courier New" pitchFamily="49" charset="0"/>
              </a:rPr>
              <a:t>easternJulian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1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year)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month, day;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a = year % 19;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b = year % 4;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c = year % 7;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d = (19*a+15)%30;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e = (2*b+4*c+6*d+6) % 7;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((</a:t>
            </a:r>
            <a:r>
              <a:rPr lang="en-US" sz="1100" b="1" dirty="0" err="1" smtClean="0">
                <a:latin typeface="Courier New" pitchFamily="49" charset="0"/>
                <a:cs typeface="Courier New" pitchFamily="49" charset="0"/>
              </a:rPr>
              <a:t>d+e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) &lt; 10)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    month = 3;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    day = 22+d+e;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} </a:t>
            </a:r>
            <a:r>
              <a:rPr lang="en-US" sz="11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    month = 4;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    day = d+e-9;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}    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b="1" dirty="0" err="1" smtClean="0">
                <a:latin typeface="Courier New" pitchFamily="49" charset="0"/>
                <a:cs typeface="Courier New" pitchFamily="49" charset="0"/>
              </a:rPr>
              <a:t>GregorianCalendar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b="1" dirty="0" err="1" smtClean="0">
                <a:latin typeface="Courier New" pitchFamily="49" charset="0"/>
                <a:cs typeface="Courier New" pitchFamily="49" charset="0"/>
              </a:rPr>
              <a:t>gc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1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100" b="1" dirty="0" err="1" smtClean="0">
                <a:latin typeface="Courier New" pitchFamily="49" charset="0"/>
                <a:cs typeface="Courier New" pitchFamily="49" charset="0"/>
              </a:rPr>
              <a:t>GregorianCalendar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b="1" dirty="0" err="1" smtClean="0">
                <a:latin typeface="Courier New" pitchFamily="49" charset="0"/>
                <a:cs typeface="Courier New" pitchFamily="49" charset="0"/>
              </a:rPr>
              <a:t>gc.setGregorianChange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1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Date(</a:t>
            </a:r>
            <a:r>
              <a:rPr lang="en-US" sz="1100" b="1" dirty="0" err="1" smtClean="0">
                <a:latin typeface="Courier New" pitchFamily="49" charset="0"/>
                <a:cs typeface="Courier New" pitchFamily="49" charset="0"/>
              </a:rPr>
              <a:t>Long.MAX_VALUE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));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b="1" dirty="0" err="1" smtClean="0">
                <a:latin typeface="Courier New" pitchFamily="49" charset="0"/>
                <a:cs typeface="Courier New" pitchFamily="49" charset="0"/>
              </a:rPr>
              <a:t>gc.set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(year, month-1, day, 0,0,0);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Calendar </a:t>
            </a:r>
            <a:r>
              <a:rPr lang="en-US" sz="1100" b="1" dirty="0" err="1" smtClean="0">
                <a:latin typeface="Courier New" pitchFamily="49" charset="0"/>
                <a:cs typeface="Courier New" pitchFamily="49" charset="0"/>
              </a:rPr>
              <a:t>calendar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1100" b="1" dirty="0" err="1" smtClean="0">
                <a:latin typeface="Courier New" pitchFamily="49" charset="0"/>
                <a:cs typeface="Courier New" pitchFamily="49" charset="0"/>
              </a:rPr>
              <a:t>Calendar.getInstance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b="1" dirty="0" err="1" smtClean="0">
                <a:latin typeface="Courier New" pitchFamily="49" charset="0"/>
                <a:cs typeface="Courier New" pitchFamily="49" charset="0"/>
              </a:rPr>
              <a:t>calendar.setTime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100" b="1" dirty="0" err="1" smtClean="0">
                <a:latin typeface="Courier New" pitchFamily="49" charset="0"/>
                <a:cs typeface="Courier New" pitchFamily="49" charset="0"/>
              </a:rPr>
              <a:t>gc.getTime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());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 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11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calendar;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1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de-DE" sz="11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8" name="Rechteckige Legende 7"/>
          <p:cNvSpPr/>
          <p:nvPr/>
        </p:nvSpPr>
        <p:spPr>
          <a:xfrm>
            <a:off x="4475498" y="2868329"/>
            <a:ext cx="3027521" cy="914400"/>
          </a:xfrm>
          <a:prstGeom prst="wedgeRectCallout">
            <a:avLst>
              <a:gd name="adj1" fmla="val -57461"/>
              <a:gd name="adj2" fmla="val 2400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dirty="0" smtClean="0">
                <a:cs typeface="Courier New" pitchFamily="49" charset="0"/>
              </a:rPr>
              <a:t>Ob der Code wohl auch bei Schaltjahren richtig funktioniert? </a:t>
            </a:r>
            <a:r>
              <a:rPr lang="de-DE" dirty="0" smtClean="0">
                <a:latin typeface="Lucida Console" pitchFamily="49" charset="0"/>
                <a:cs typeface="Courier New" pitchFamily="49" charset="0"/>
                <a:sym typeface="Wingdings" pitchFamily="2" charset="2"/>
              </a:rPr>
              <a:t></a:t>
            </a:r>
            <a:endParaRPr lang="de-DE" dirty="0" smtClean="0">
              <a:latin typeface="Lucida Console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701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774" y="265113"/>
            <a:ext cx="8861425" cy="769441"/>
          </a:xfrm>
        </p:spPr>
        <p:txBody>
          <a:bodyPr/>
          <a:lstStyle/>
          <a:p>
            <a:r>
              <a:rPr lang="de-DE" b="1" dirty="0" smtClean="0"/>
              <a:t>Byte-weises Kopieren einer Datei mittels </a:t>
            </a:r>
            <a:r>
              <a:rPr lang="de-DE" b="1" dirty="0" err="1" smtClean="0"/>
              <a:t>For</a:t>
            </a:r>
            <a:r>
              <a:rPr lang="de-DE" b="1" dirty="0" smtClean="0"/>
              <a:t>-Schleife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30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10" name="Inhaltsplatzhalter 9"/>
          <p:cNvSpPr>
            <a:spLocks noGrp="1"/>
          </p:cNvSpPr>
          <p:nvPr>
            <p:ph sz="quarter" idx="4294967295"/>
          </p:nvPr>
        </p:nvSpPr>
        <p:spPr>
          <a:xfrm>
            <a:off x="300001" y="984916"/>
            <a:ext cx="9528175" cy="5229225"/>
          </a:xfrm>
        </p:spPr>
        <p:txBody>
          <a:bodyPr>
            <a:normAutofit lnSpcReduction="10000"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// read in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radiusd.conf</a:t>
            </a:r>
            <a:endParaRPr lang="en-US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ByteArrayOutputStream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buffer = new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ByteArrayOutputStream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InputStream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radius = null;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try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radius =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freeRadiusFilesystemHandler.getAtomicInputStream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(</a:t>
            </a:r>
            <a:br>
              <a:rPr lang="en-US" sz="1200" dirty="0" smtClean="0">
                <a:latin typeface="Lucida Console" pitchFamily="49" charset="0"/>
                <a:cs typeface="Courier New" pitchFamily="49" charset="0"/>
              </a:rPr>
            </a:b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									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WlanConfigurationDAO.RADIUSD_CONFIG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for (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int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i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;(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i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=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radius.read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())&gt;=0;buffer.write(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i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));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} finally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if (radius!=null)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radius.close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// configure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radiusd.conf</a:t>
            </a:r>
            <a:endParaRPr lang="en-US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atomic =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freeRadiusFilesystemHandler.getAtomicOutputStream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(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										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WlanConfigurationDAO.RADIUSD_CONFIG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writer = new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BufferedWriter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(new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OutputStreamWriter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(atomic));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reader = new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BufferedReader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(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				new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InputStreamReader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(new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ByteArrayInputStream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buffer.toByteArray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()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)));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line = 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reader.readLine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200" b="1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// ..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Zeilenweises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Einlesen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Modifizieren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und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Schreiben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mittels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while()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Schleife</a:t>
            </a:r>
            <a:endParaRPr lang="en-US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b="1" dirty="0" smtClean="0">
              <a:latin typeface="Lucida Console" pitchFamily="49" charset="0"/>
              <a:cs typeface="Courier New" pitchFamily="49" charset="0"/>
            </a:endParaRPr>
          </a:p>
          <a:p>
            <a:pPr>
              <a:buNone/>
            </a:pPr>
            <a:endParaRPr lang="de-DE" dirty="0"/>
          </a:p>
        </p:txBody>
      </p:sp>
      <p:sp>
        <p:nvSpPr>
          <p:cNvPr id="8" name="Rechteckige Legende 7"/>
          <p:cNvSpPr/>
          <p:nvPr/>
        </p:nvSpPr>
        <p:spPr>
          <a:xfrm>
            <a:off x="3435968" y="2982228"/>
            <a:ext cx="1906053" cy="556259"/>
          </a:xfrm>
          <a:prstGeom prst="wedgeRectCallout">
            <a:avLst>
              <a:gd name="adj1" fmla="val -44836"/>
              <a:gd name="adj2" fmla="val -110961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400" dirty="0">
                <a:cs typeface="Courier New" pitchFamily="49" charset="0"/>
              </a:rPr>
              <a:t>e</a:t>
            </a:r>
            <a:r>
              <a:rPr lang="de-DE" sz="1400" dirty="0" smtClean="0">
                <a:cs typeface="Courier New" pitchFamily="49" charset="0"/>
              </a:rPr>
              <a:t>rst Byte-weises Einlesen</a:t>
            </a:r>
            <a:endParaRPr lang="de-DE" sz="1400" dirty="0" smtClean="0">
              <a:latin typeface="Lucida Console" pitchFamily="49" charset="0"/>
              <a:cs typeface="Courier New" pitchFamily="49" charset="0"/>
            </a:endParaRPr>
          </a:p>
        </p:txBody>
      </p:sp>
      <p:sp>
        <p:nvSpPr>
          <p:cNvPr id="9" name="Rechteckige Legende 8"/>
          <p:cNvSpPr/>
          <p:nvPr/>
        </p:nvSpPr>
        <p:spPr>
          <a:xfrm>
            <a:off x="3222609" y="5399773"/>
            <a:ext cx="3293694" cy="394637"/>
          </a:xfrm>
          <a:prstGeom prst="wedgeRectCallout">
            <a:avLst>
              <a:gd name="adj1" fmla="val -66363"/>
              <a:gd name="adj2" fmla="val -1257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400" dirty="0">
                <a:cs typeface="Courier New" pitchFamily="49" charset="0"/>
              </a:rPr>
              <a:t>d</a:t>
            </a:r>
            <a:r>
              <a:rPr lang="de-DE" sz="1400" dirty="0" smtClean="0">
                <a:cs typeface="Courier New" pitchFamily="49" charset="0"/>
              </a:rPr>
              <a:t>ann erneutes zeilenweise Einlesen</a:t>
            </a:r>
            <a:endParaRPr lang="de-DE" sz="1400" dirty="0" smtClean="0">
              <a:latin typeface="Lucida Console" pitchFamily="49" charset="0"/>
              <a:cs typeface="Courier New" pitchFamily="49" charset="0"/>
            </a:endParaRPr>
          </a:p>
        </p:txBody>
      </p:sp>
      <p:pic>
        <p:nvPicPr>
          <p:cNvPr id="5122" name="Picture 2" descr="C:\Users\Reiner\AppData\Local\Microsoft\Windows\Temporary Internet Files\Content.IE5\9OSTINEN\MP900386053[1]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980" y="748197"/>
            <a:ext cx="3335221" cy="2382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8462591" cy="427037"/>
          </a:xfrm>
        </p:spPr>
        <p:txBody>
          <a:bodyPr/>
          <a:lstStyle/>
          <a:p>
            <a:r>
              <a:rPr lang="de-DE" b="1" dirty="0" smtClean="0"/>
              <a:t>Byte-weises Kopieren einer Datei mittels </a:t>
            </a:r>
            <a:r>
              <a:rPr lang="de-DE" b="1" dirty="0" err="1" smtClean="0"/>
              <a:t>For</a:t>
            </a:r>
            <a:r>
              <a:rPr lang="de-DE" b="1" dirty="0" smtClean="0"/>
              <a:t>-Schleife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31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10" name="Inhaltsplatzhalter 9"/>
          <p:cNvSpPr>
            <a:spLocks noGrp="1"/>
          </p:cNvSpPr>
          <p:nvPr>
            <p:ph sz="quarter" idx="4294967295"/>
          </p:nvPr>
        </p:nvSpPr>
        <p:spPr>
          <a:xfrm>
            <a:off x="377825" y="1276350"/>
            <a:ext cx="9528175" cy="4838700"/>
          </a:xfrm>
        </p:spPr>
        <p:txBody>
          <a:bodyPr>
            <a:normAutofit lnSpcReduction="10000"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// read in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radiusd.conf</a:t>
            </a:r>
            <a:endParaRPr lang="en-US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List lines = null;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try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radius =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freeRadiusFilesystemHandler.getAtomicInputStream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(</a:t>
            </a:r>
            <a:br>
              <a:rPr lang="en-US" sz="1200" dirty="0" smtClean="0">
                <a:latin typeface="Lucida Console" pitchFamily="49" charset="0"/>
                <a:cs typeface="Courier New" pitchFamily="49" charset="0"/>
              </a:rPr>
            </a:b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									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WlanConfigurationDAO.RADIUSD_CONFIG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lines = </a:t>
            </a:r>
            <a:r>
              <a:rPr lang="en-US" sz="1200" b="1" dirty="0" err="1" smtClean="0">
                <a:latin typeface="Lucida Console" pitchFamily="49" charset="0"/>
                <a:cs typeface="Courier New" pitchFamily="49" charset="0"/>
              </a:rPr>
              <a:t>IOUtils.readLines</a:t>
            </a:r>
            <a:r>
              <a:rPr lang="en-US" sz="1200" b="1" dirty="0" smtClean="0">
                <a:latin typeface="Lucida Console" pitchFamily="49" charset="0"/>
                <a:cs typeface="Courier New" pitchFamily="49" charset="0"/>
              </a:rPr>
              <a:t>(radius);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} finally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if (radius!=null)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	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radius.close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de-DE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// configure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radiusd.conf</a:t>
            </a:r>
            <a:endParaRPr lang="en-US" sz="1200" dirty="0" smtClean="0">
              <a:latin typeface="Lucida Console" pitchFamily="49" charset="0"/>
              <a:cs typeface="Courier New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atomic =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freeRadiusFilesystemHandler.getAtomicOutputStream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(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											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WlanConfigurationDAO.RADIUSD_CONFIG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writer = new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BufferedWriter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(new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OutputStreamWriter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(atomic));</a:t>
            </a:r>
          </a:p>
          <a:p>
            <a:pPr>
              <a:buNone/>
            </a:pPr>
            <a:endParaRPr lang="de-DE" dirty="0" smtClean="0"/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// ..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Zeilenweises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Modifizieren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und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Schreiben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mittels</a:t>
            </a:r>
            <a:r>
              <a:rPr lang="en-US" sz="1200" dirty="0" smtClean="0">
                <a:latin typeface="Lucida Console" pitchFamily="49" charset="0"/>
                <a:cs typeface="Courier New" pitchFamily="49" charset="0"/>
              </a:rPr>
              <a:t> for() </a:t>
            </a:r>
            <a:r>
              <a:rPr lang="en-US" sz="1200" dirty="0" err="1" smtClean="0">
                <a:latin typeface="Lucida Console" pitchFamily="49" charset="0"/>
                <a:cs typeface="Courier New" pitchFamily="49" charset="0"/>
              </a:rPr>
              <a:t>Schleife</a:t>
            </a:r>
            <a:endParaRPr lang="en-US" sz="1200" dirty="0" smtClean="0">
              <a:latin typeface="Lucida Console" pitchFamily="49" charset="0"/>
              <a:cs typeface="Courier New" pitchFamily="49" charset="0"/>
            </a:endParaRPr>
          </a:p>
        </p:txBody>
      </p:sp>
      <p:sp>
        <p:nvSpPr>
          <p:cNvPr id="8" name="Rechteckige Legende 7"/>
          <p:cNvSpPr/>
          <p:nvPr/>
        </p:nvSpPr>
        <p:spPr>
          <a:xfrm>
            <a:off x="5688280" y="2895599"/>
            <a:ext cx="2339190" cy="906379"/>
          </a:xfrm>
          <a:prstGeom prst="wedgeRectCallout">
            <a:avLst>
              <a:gd name="adj1" fmla="val -97446"/>
              <a:gd name="adj2" fmla="val -7981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400" dirty="0"/>
              <a:t>Besser mittels 3rd Party Library </a:t>
            </a:r>
            <a:r>
              <a:rPr lang="de-DE" sz="1400" dirty="0" smtClean="0"/>
              <a:t/>
            </a:r>
            <a:br>
              <a:rPr lang="de-DE" sz="1400" dirty="0" smtClean="0"/>
            </a:br>
            <a:r>
              <a:rPr lang="de-DE" sz="1400" dirty="0" smtClean="0"/>
              <a:t>(</a:t>
            </a:r>
            <a:r>
              <a:rPr lang="de-DE" sz="1400" b="1" dirty="0" err="1"/>
              <a:t>Commons</a:t>
            </a:r>
            <a:r>
              <a:rPr lang="de-DE" sz="1400" b="1" dirty="0"/>
              <a:t> IO</a:t>
            </a:r>
            <a:r>
              <a:rPr lang="de-DE" sz="1400" dirty="0"/>
              <a:t>) </a:t>
            </a:r>
            <a:r>
              <a:rPr lang="de-DE" sz="1400" dirty="0" smtClean="0"/>
              <a:t> gelöst</a:t>
            </a:r>
            <a:endParaRPr lang="de-DE" sz="1400" dirty="0" smtClean="0">
              <a:latin typeface="Lucida Console" pitchFamily="49" charset="0"/>
              <a:cs typeface="Courier New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8773876" cy="427037"/>
          </a:xfrm>
        </p:spPr>
        <p:txBody>
          <a:bodyPr/>
          <a:lstStyle/>
          <a:p>
            <a:r>
              <a:rPr lang="de-DE" b="1" dirty="0" smtClean="0"/>
              <a:t>Korrektes Leer-String Handling ist nicht schwierig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32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10" name="Inhaltsplatzhalter 9"/>
          <p:cNvSpPr>
            <a:spLocks noGrp="1"/>
          </p:cNvSpPr>
          <p:nvPr>
            <p:ph sz="quarter" idx="4294967295"/>
          </p:nvPr>
        </p:nvSpPr>
        <p:spPr>
          <a:xfrm>
            <a:off x="369651" y="1120911"/>
            <a:ext cx="8950325" cy="4838700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// </a:t>
            </a:r>
            <a:r>
              <a:rPr lang="en-US" sz="1400" dirty="0" err="1" smtClean="0">
                <a:latin typeface="Lucida Console" pitchFamily="49" charset="0"/>
              </a:rPr>
              <a:t>verschiedene</a:t>
            </a:r>
            <a:r>
              <a:rPr lang="en-US" sz="1400" dirty="0" smtClean="0">
                <a:latin typeface="Lucida Console" pitchFamily="49" charset="0"/>
              </a:rPr>
              <a:t> Leer-String </a:t>
            </a:r>
            <a:r>
              <a:rPr lang="en-US" sz="1400" dirty="0" err="1" smtClean="0">
                <a:latin typeface="Lucida Console" pitchFamily="49" charset="0"/>
              </a:rPr>
              <a:t>Prüfungen</a:t>
            </a:r>
            <a:endParaRPr lang="en-US" sz="1400" dirty="0" smtClean="0">
              <a:latin typeface="Lucida Console" pitchFamily="49" charset="0"/>
              <a:sym typeface="Wingdings" pitchFamily="2" charset="2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if( </a:t>
            </a:r>
            <a:r>
              <a:rPr lang="en-US" sz="1400" dirty="0" err="1" smtClean="0">
                <a:latin typeface="Lucida Console" pitchFamily="49" charset="0"/>
              </a:rPr>
              <a:t>icomResult.equals</a:t>
            </a:r>
            <a:r>
              <a:rPr lang="en-US" sz="1400" dirty="0" smtClean="0">
                <a:latin typeface="Lucida Console" pitchFamily="49" charset="0"/>
              </a:rPr>
              <a:t>(</a:t>
            </a:r>
            <a:r>
              <a:rPr lang="en-US" sz="1400" b="1" dirty="0" smtClean="0">
                <a:latin typeface="Lucida Console" pitchFamily="49" charset="0"/>
              </a:rPr>
              <a:t>""</a:t>
            </a:r>
            <a:r>
              <a:rPr lang="en-US" sz="1400" dirty="0" smtClean="0">
                <a:latin typeface="Lucida Console" pitchFamily="49" charset="0"/>
              </a:rPr>
              <a:t>) || </a:t>
            </a:r>
            <a:r>
              <a:rPr lang="en-US" sz="1400" dirty="0" err="1" smtClean="0">
                <a:latin typeface="Lucida Console" pitchFamily="49" charset="0"/>
              </a:rPr>
              <a:t>icomResult</a:t>
            </a:r>
            <a:r>
              <a:rPr lang="en-US" sz="1400" dirty="0" smtClean="0">
                <a:latin typeface="Lucida Console" pitchFamily="49" charset="0"/>
              </a:rPr>
              <a:t> == null ) 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if (</a:t>
            </a:r>
            <a:r>
              <a:rPr lang="en-US" sz="1400" dirty="0" err="1" smtClean="0">
                <a:latin typeface="Lucida Console" pitchFamily="49" charset="0"/>
              </a:rPr>
              <a:t>reqHostname</a:t>
            </a:r>
            <a:r>
              <a:rPr lang="en-US" sz="1400" dirty="0" smtClean="0">
                <a:latin typeface="Lucida Console" pitchFamily="49" charset="0"/>
              </a:rPr>
              <a:t> == null || </a:t>
            </a:r>
            <a:r>
              <a:rPr lang="en-US" sz="1400" dirty="0" err="1" smtClean="0">
                <a:latin typeface="Lucida Console" pitchFamily="49" charset="0"/>
              </a:rPr>
              <a:t>reqHostname.length</a:t>
            </a:r>
            <a:r>
              <a:rPr lang="en-US" sz="1400" dirty="0" smtClean="0">
                <a:latin typeface="Lucida Console" pitchFamily="49" charset="0"/>
              </a:rPr>
              <a:t>() == 0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					       || </a:t>
            </a:r>
            <a:r>
              <a:rPr lang="en-US" sz="1400" dirty="0" err="1" smtClean="0">
                <a:latin typeface="Lucida Console" pitchFamily="49" charset="0"/>
              </a:rPr>
              <a:t>reqHostname.equals</a:t>
            </a:r>
            <a:r>
              <a:rPr lang="en-US" sz="1400" dirty="0" smtClean="0">
                <a:latin typeface="Lucida Console" pitchFamily="49" charset="0"/>
              </a:rPr>
              <a:t>(</a:t>
            </a:r>
            <a:r>
              <a:rPr lang="en-US" sz="1400" b="1" dirty="0" smtClean="0">
                <a:latin typeface="Lucida Console" pitchFamily="49" charset="0"/>
              </a:rPr>
              <a:t>""</a:t>
            </a:r>
            <a:r>
              <a:rPr lang="en-US" sz="1400" dirty="0" smtClean="0">
                <a:latin typeface="Lucida Console" pitchFamily="49" charset="0"/>
              </a:rPr>
              <a:t>)) 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if (</a:t>
            </a:r>
            <a:r>
              <a:rPr lang="en-US" sz="1400" dirty="0" err="1" smtClean="0">
                <a:latin typeface="Lucida Console" pitchFamily="49" charset="0"/>
              </a:rPr>
              <a:t>item.getIpTo</a:t>
            </a:r>
            <a:r>
              <a:rPr lang="en-US" sz="1400" dirty="0" smtClean="0">
                <a:latin typeface="Lucida Console" pitchFamily="49" charset="0"/>
              </a:rPr>
              <a:t>() == null || (</a:t>
            </a:r>
            <a:r>
              <a:rPr lang="en-US" sz="1400" dirty="0" err="1" smtClean="0">
                <a:latin typeface="Lucida Console" pitchFamily="49" charset="0"/>
              </a:rPr>
              <a:t>item.getIpTo</a:t>
            </a:r>
            <a:r>
              <a:rPr lang="en-US" sz="1400" dirty="0" smtClean="0">
                <a:latin typeface="Lucida Console" pitchFamily="49" charset="0"/>
              </a:rPr>
              <a:t>() != null &amp;&amp; </a:t>
            </a:r>
            <a:r>
              <a:rPr lang="en-US" sz="1400" dirty="0" err="1" smtClean="0">
                <a:latin typeface="Lucida Console" pitchFamily="49" charset="0"/>
              </a:rPr>
              <a:t>item.getIpTo</a:t>
            </a:r>
            <a:r>
              <a:rPr lang="en-US" sz="1400" dirty="0" smtClean="0">
                <a:latin typeface="Lucida Console" pitchFamily="49" charset="0"/>
              </a:rPr>
              <a:t>().trim().equals(</a:t>
            </a:r>
            <a:r>
              <a:rPr lang="en-US" sz="1400" b="1" dirty="0" smtClean="0">
                <a:latin typeface="Lucida Console" pitchFamily="49" charset="0"/>
              </a:rPr>
              <a:t>""</a:t>
            </a:r>
            <a:r>
              <a:rPr lang="en-US" sz="1400" dirty="0" smtClean="0">
                <a:latin typeface="Lucida Console" pitchFamily="49" charset="0"/>
              </a:rPr>
              <a:t>)))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// </a:t>
            </a:r>
            <a:r>
              <a:rPr lang="en-US" sz="1400" dirty="0" err="1" smtClean="0">
                <a:latin typeface="Lucida Console" pitchFamily="49" charset="0"/>
              </a:rPr>
              <a:t>Prüfungen</a:t>
            </a:r>
            <a:r>
              <a:rPr lang="en-US" sz="1400" dirty="0" smtClean="0">
                <a:latin typeface="Lucida Console" pitchFamily="49" charset="0"/>
              </a:rPr>
              <a:t> auf Non-Empty String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if(</a:t>
            </a:r>
            <a:r>
              <a:rPr lang="en-US" sz="1400" b="1" dirty="0" smtClean="0">
                <a:latin typeface="Lucida Console" pitchFamily="49" charset="0"/>
              </a:rPr>
              <a:t>!</a:t>
            </a:r>
            <a:r>
              <a:rPr lang="en-US" sz="1400" dirty="0" err="1" smtClean="0">
                <a:latin typeface="Lucida Console" pitchFamily="49" charset="0"/>
              </a:rPr>
              <a:t>value.equals</a:t>
            </a:r>
            <a:r>
              <a:rPr lang="en-US" sz="1400" dirty="0" smtClean="0">
                <a:latin typeface="Lucida Console" pitchFamily="49" charset="0"/>
              </a:rPr>
              <a:t>(</a:t>
            </a:r>
            <a:r>
              <a:rPr lang="en-US" sz="1400" b="1" dirty="0" smtClean="0">
                <a:latin typeface="Lucida Console" pitchFamily="49" charset="0"/>
              </a:rPr>
              <a:t>""</a:t>
            </a:r>
            <a:r>
              <a:rPr lang="en-US" sz="1400" dirty="0" smtClean="0">
                <a:latin typeface="Lucida Console" pitchFamily="49" charset="0"/>
              </a:rPr>
              <a:t>)) 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if (brand != null &amp;&amp; </a:t>
            </a:r>
            <a:r>
              <a:rPr lang="en-US" sz="1400" b="1" dirty="0" smtClean="0">
                <a:latin typeface="Lucida Console" pitchFamily="49" charset="0"/>
              </a:rPr>
              <a:t>!</a:t>
            </a:r>
            <a:r>
              <a:rPr lang="en-US" sz="1400" dirty="0" err="1" smtClean="0">
                <a:latin typeface="Lucida Console" pitchFamily="49" charset="0"/>
              </a:rPr>
              <a:t>brand.equals</a:t>
            </a:r>
            <a:r>
              <a:rPr lang="en-US" sz="1400" dirty="0" smtClean="0">
                <a:latin typeface="Lucida Console" pitchFamily="49" charset="0"/>
              </a:rPr>
              <a:t>(</a:t>
            </a:r>
            <a:r>
              <a:rPr lang="en-US" sz="1400" b="1" dirty="0" smtClean="0">
                <a:latin typeface="Lucida Console" pitchFamily="49" charset="0"/>
              </a:rPr>
              <a:t>""</a:t>
            </a:r>
            <a:r>
              <a:rPr lang="en-US" sz="1400" dirty="0" smtClean="0">
                <a:latin typeface="Lucida Console" pitchFamily="49" charset="0"/>
              </a:rPr>
              <a:t>)) 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// determine a default value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if ((value == null) || (</a:t>
            </a:r>
            <a:r>
              <a:rPr lang="en-US" sz="1400" b="1" dirty="0" smtClean="0">
                <a:latin typeface="Lucida Console" pitchFamily="49" charset="0"/>
              </a:rPr>
              <a:t>""</a:t>
            </a:r>
            <a:r>
              <a:rPr lang="en-US" sz="1400" dirty="0" smtClean="0">
                <a:latin typeface="Lucida Console" pitchFamily="49" charset="0"/>
              </a:rPr>
              <a:t>.equals(value) == true))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	return </a:t>
            </a:r>
            <a:r>
              <a:rPr lang="en-US" sz="1400" dirty="0" err="1" smtClean="0">
                <a:latin typeface="Lucida Console" pitchFamily="49" charset="0"/>
              </a:rPr>
              <a:t>defaultValue</a:t>
            </a:r>
            <a:r>
              <a:rPr lang="en-US" sz="1400" dirty="0" smtClean="0">
                <a:latin typeface="Lucida Console" pitchFamily="49" charset="0"/>
              </a:rPr>
              <a:t>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}</a:t>
            </a:r>
          </a:p>
          <a:p>
            <a:pPr>
              <a:buNone/>
            </a:pPr>
            <a:endParaRPr lang="en-US" sz="1400" dirty="0" smtClean="0">
              <a:latin typeface="Lucida Console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7655195" cy="427037"/>
          </a:xfrm>
        </p:spPr>
        <p:txBody>
          <a:bodyPr/>
          <a:lstStyle/>
          <a:p>
            <a:r>
              <a:rPr lang="de-DE" b="1" dirty="0" smtClean="0"/>
              <a:t>Korrektes Leer-String Handling ist nicht schwierig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33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10" name="Inhaltsplatzhalter 9"/>
          <p:cNvSpPr>
            <a:spLocks noGrp="1"/>
          </p:cNvSpPr>
          <p:nvPr>
            <p:ph sz="quarter" idx="4294967295"/>
          </p:nvPr>
        </p:nvSpPr>
        <p:spPr>
          <a:xfrm>
            <a:off x="447473" y="1013501"/>
            <a:ext cx="8950325" cy="4838700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// </a:t>
            </a:r>
            <a:r>
              <a:rPr lang="en-US" sz="1400" dirty="0" err="1" smtClean="0">
                <a:latin typeface="Lucida Console" pitchFamily="49" charset="0"/>
              </a:rPr>
              <a:t>verschiedene</a:t>
            </a:r>
            <a:r>
              <a:rPr lang="en-US" sz="1400" dirty="0" smtClean="0">
                <a:latin typeface="Lucida Console" pitchFamily="49" charset="0"/>
              </a:rPr>
              <a:t> Leer-String </a:t>
            </a:r>
            <a:r>
              <a:rPr lang="en-US" sz="1400" dirty="0" err="1" smtClean="0">
                <a:latin typeface="Lucida Console" pitchFamily="49" charset="0"/>
              </a:rPr>
              <a:t>Prüfungen</a:t>
            </a:r>
            <a:endParaRPr lang="en-US" sz="1400" dirty="0" smtClean="0">
              <a:latin typeface="Lucida Console" pitchFamily="49" charset="0"/>
              <a:sym typeface="Wingdings" pitchFamily="2" charset="2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if( </a:t>
            </a:r>
            <a:r>
              <a:rPr lang="en-US" sz="1400" dirty="0" err="1" smtClean="0">
                <a:latin typeface="Lucida Console" pitchFamily="49" charset="0"/>
              </a:rPr>
              <a:t>StringUtils.</a:t>
            </a:r>
            <a:r>
              <a:rPr lang="en-US" sz="1400" b="1" dirty="0" err="1" smtClean="0">
                <a:latin typeface="Lucida Console" pitchFamily="49" charset="0"/>
              </a:rPr>
              <a:t>isEmpty</a:t>
            </a:r>
            <a:r>
              <a:rPr lang="en-US" sz="1400" dirty="0" smtClean="0">
                <a:latin typeface="Lucida Console" pitchFamily="49" charset="0"/>
              </a:rPr>
              <a:t>(</a:t>
            </a:r>
            <a:r>
              <a:rPr lang="en-US" sz="1400" dirty="0" err="1" smtClean="0">
                <a:latin typeface="Lucida Console" pitchFamily="49" charset="0"/>
              </a:rPr>
              <a:t>icomResult</a:t>
            </a:r>
            <a:r>
              <a:rPr lang="en-US" sz="1400" dirty="0" smtClean="0">
                <a:latin typeface="Lucida Console" pitchFamily="49" charset="0"/>
              </a:rPr>
              <a:t>) ) 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if( </a:t>
            </a:r>
            <a:r>
              <a:rPr lang="en-US" sz="1400" dirty="0" err="1" smtClean="0">
                <a:latin typeface="Lucida Console" pitchFamily="49" charset="0"/>
              </a:rPr>
              <a:t>StringUtils.</a:t>
            </a:r>
            <a:r>
              <a:rPr lang="en-US" sz="1400" b="1" dirty="0" err="1" smtClean="0">
                <a:latin typeface="Lucida Console" pitchFamily="49" charset="0"/>
              </a:rPr>
              <a:t>isBlank</a:t>
            </a:r>
            <a:r>
              <a:rPr lang="en-US" sz="1400" dirty="0" smtClean="0">
                <a:latin typeface="Lucida Console" pitchFamily="49" charset="0"/>
              </a:rPr>
              <a:t>(</a:t>
            </a:r>
            <a:r>
              <a:rPr lang="en-US" sz="1400" dirty="0" err="1" smtClean="0">
                <a:latin typeface="Lucida Console" pitchFamily="49" charset="0"/>
              </a:rPr>
              <a:t>item.getIpTo</a:t>
            </a:r>
            <a:r>
              <a:rPr lang="en-US" sz="1400" dirty="0" smtClean="0">
                <a:latin typeface="Lucida Console" pitchFamily="49" charset="0"/>
              </a:rPr>
              <a:t>()) ) 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// </a:t>
            </a:r>
            <a:r>
              <a:rPr lang="en-US" sz="1400" dirty="0" err="1" smtClean="0">
                <a:latin typeface="Lucida Console" pitchFamily="49" charset="0"/>
              </a:rPr>
              <a:t>Prüfungen</a:t>
            </a:r>
            <a:r>
              <a:rPr lang="en-US" sz="1400" dirty="0" smtClean="0">
                <a:latin typeface="Lucida Console" pitchFamily="49" charset="0"/>
              </a:rPr>
              <a:t> auf Non-Empty String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if( </a:t>
            </a:r>
            <a:r>
              <a:rPr lang="en-US" sz="1400" dirty="0" err="1" smtClean="0">
                <a:latin typeface="Lucida Console" pitchFamily="49" charset="0"/>
              </a:rPr>
              <a:t>StringUtils.</a:t>
            </a:r>
            <a:r>
              <a:rPr lang="en-US" sz="1400" b="1" dirty="0" err="1" smtClean="0">
                <a:latin typeface="Lucida Console" pitchFamily="49" charset="0"/>
              </a:rPr>
              <a:t>isNotEmpty</a:t>
            </a:r>
            <a:r>
              <a:rPr lang="en-US" sz="1400" dirty="0" smtClean="0">
                <a:latin typeface="Lucida Console" pitchFamily="49" charset="0"/>
              </a:rPr>
              <a:t>(value) ) 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if( </a:t>
            </a:r>
            <a:r>
              <a:rPr lang="en-US" sz="1400" dirty="0" err="1" smtClean="0">
                <a:latin typeface="Lucida Console" pitchFamily="49" charset="0"/>
              </a:rPr>
              <a:t>StringUtils.</a:t>
            </a:r>
            <a:r>
              <a:rPr lang="en-US" sz="1400" b="1" dirty="0" err="1" smtClean="0">
                <a:latin typeface="Lucida Console" pitchFamily="49" charset="0"/>
              </a:rPr>
              <a:t>isNotBlank</a:t>
            </a:r>
            <a:r>
              <a:rPr lang="en-US" sz="1400" dirty="0" smtClean="0">
                <a:latin typeface="Lucida Console" pitchFamily="49" charset="0"/>
              </a:rPr>
              <a:t>(brand) ) { .. 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smtClean="0">
                <a:latin typeface="Lucida Console" pitchFamily="49" charset="0"/>
              </a:rPr>
              <a:t>// determine a default value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dirty="0" err="1" smtClean="0">
                <a:latin typeface="Lucida Console" pitchFamily="49" charset="0"/>
              </a:rPr>
              <a:t>StringUtils.</a:t>
            </a:r>
            <a:r>
              <a:rPr lang="en-US" sz="1400" b="1" dirty="0" err="1" smtClean="0">
                <a:latin typeface="Lucida Console" pitchFamily="49" charset="0"/>
              </a:rPr>
              <a:t>defaultIfEmpty</a:t>
            </a:r>
            <a:r>
              <a:rPr lang="en-US" sz="1400" dirty="0" smtClean="0">
                <a:latin typeface="Lucida Console" pitchFamily="49" charset="0"/>
              </a:rPr>
              <a:t>(value, </a:t>
            </a:r>
            <a:r>
              <a:rPr lang="en-US" sz="1400" dirty="0" err="1" smtClean="0">
                <a:latin typeface="Lucida Console" pitchFamily="49" charset="0"/>
              </a:rPr>
              <a:t>defaultValue</a:t>
            </a:r>
            <a:r>
              <a:rPr lang="en-US" sz="1400" dirty="0" smtClean="0">
                <a:latin typeface="Lucida Console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400" dirty="0" smtClean="0">
              <a:latin typeface="Lucida Console" pitchFamily="49" charset="0"/>
            </a:endParaRPr>
          </a:p>
          <a:p>
            <a:pPr>
              <a:buNone/>
            </a:pPr>
            <a:r>
              <a:rPr lang="en-US" sz="1400" dirty="0" err="1" smtClean="0">
                <a:latin typeface="Lucida Console" pitchFamily="49" charset="0"/>
              </a:rPr>
              <a:t>StringUtils.</a:t>
            </a:r>
            <a:r>
              <a:rPr lang="en-US" sz="1400" b="1" dirty="0" err="1" smtClean="0">
                <a:latin typeface="Lucida Console" pitchFamily="49" charset="0"/>
              </a:rPr>
              <a:t>defaultString</a:t>
            </a:r>
            <a:r>
              <a:rPr lang="en-US" sz="1400" dirty="0" smtClean="0">
                <a:latin typeface="Lucida Console" pitchFamily="49" charset="0"/>
              </a:rPr>
              <a:t>(value, </a:t>
            </a:r>
            <a:r>
              <a:rPr lang="en-US" sz="1400" dirty="0" err="1" smtClean="0">
                <a:latin typeface="Lucida Console" pitchFamily="49" charset="0"/>
              </a:rPr>
              <a:t>defaultValue</a:t>
            </a:r>
            <a:r>
              <a:rPr lang="en-US" sz="1400" dirty="0" smtClean="0">
                <a:latin typeface="Lucida Console" pitchFamily="49" charset="0"/>
              </a:rPr>
              <a:t>);</a:t>
            </a:r>
          </a:p>
        </p:txBody>
      </p:sp>
      <p:sp>
        <p:nvSpPr>
          <p:cNvPr id="8" name="Rechteckige Legende 7"/>
          <p:cNvSpPr/>
          <p:nvPr/>
        </p:nvSpPr>
        <p:spPr>
          <a:xfrm>
            <a:off x="6545179" y="2452837"/>
            <a:ext cx="2906830" cy="829377"/>
          </a:xfrm>
          <a:prstGeom prst="wedgeRectCallout">
            <a:avLst>
              <a:gd name="adj1" fmla="val -46834"/>
              <a:gd name="adj2" fmla="val 1362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400" dirty="0"/>
              <a:t>Besser mittels 3rd Party Library </a:t>
            </a:r>
            <a:r>
              <a:rPr lang="de-DE" sz="1400" dirty="0" smtClean="0"/>
              <a:t/>
            </a:r>
            <a:br>
              <a:rPr lang="de-DE" sz="1400" dirty="0" smtClean="0"/>
            </a:br>
            <a:r>
              <a:rPr lang="de-DE" sz="1400" dirty="0" smtClean="0"/>
              <a:t>(</a:t>
            </a:r>
            <a:r>
              <a:rPr lang="de-DE" sz="1400" b="1" dirty="0" err="1"/>
              <a:t>Commons</a:t>
            </a:r>
            <a:r>
              <a:rPr lang="de-DE" sz="1400" b="1" dirty="0"/>
              <a:t> </a:t>
            </a:r>
            <a:r>
              <a:rPr lang="de-DE" sz="1400" b="1" dirty="0" smtClean="0"/>
              <a:t>Lang</a:t>
            </a:r>
            <a:r>
              <a:rPr lang="de-DE" sz="1400" dirty="0" smtClean="0"/>
              <a:t>)  gelöst</a:t>
            </a:r>
            <a:endParaRPr lang="de-DE" sz="1400" dirty="0" smtClean="0">
              <a:latin typeface="Lucida Console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„Catch </a:t>
            </a:r>
            <a:r>
              <a:rPr lang="de-DE" b="1" dirty="0" err="1" smtClean="0"/>
              <a:t>NullPointerException</a:t>
            </a:r>
            <a:r>
              <a:rPr lang="de-DE" b="1" dirty="0" smtClean="0"/>
              <a:t>“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34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10" name="Inhaltsplatzhalter 9"/>
          <p:cNvSpPr>
            <a:spLocks noGrp="1"/>
          </p:cNvSpPr>
          <p:nvPr>
            <p:ph sz="quarter" idx="4294967295"/>
          </p:nvPr>
        </p:nvSpPr>
        <p:spPr>
          <a:xfrm>
            <a:off x="330740" y="1072677"/>
            <a:ext cx="8950325" cy="5372100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// Set </a:t>
            </a:r>
            <a:r>
              <a:rPr lang="en-US" sz="1200" dirty="0" err="1" smtClean="0">
                <a:latin typeface="Lucida Console" pitchFamily="49" charset="0"/>
              </a:rPr>
              <a:t>mac</a:t>
            </a:r>
            <a:r>
              <a:rPr lang="en-US" sz="1200" dirty="0" smtClean="0">
                <a:latin typeface="Lucida Console" pitchFamily="49" charset="0"/>
              </a:rPr>
              <a:t> address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try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	</a:t>
            </a:r>
            <a:r>
              <a:rPr lang="en-US" sz="1200" dirty="0" err="1" smtClean="0">
                <a:latin typeface="Lucida Console" pitchFamily="49" charset="0"/>
              </a:rPr>
              <a:t>config.setMacAddress</a:t>
            </a:r>
            <a:r>
              <a:rPr lang="en-US" sz="1200" dirty="0" smtClean="0">
                <a:latin typeface="Lucida Console" pitchFamily="49" charset="0"/>
              </a:rPr>
              <a:t>(</a:t>
            </a:r>
            <a:r>
              <a:rPr lang="en-US" sz="1200" dirty="0" err="1" smtClean="0">
                <a:latin typeface="Lucida Console" pitchFamily="49" charset="0"/>
              </a:rPr>
              <a:t>networkInterfaceConfiguration.</a:t>
            </a:r>
            <a:r>
              <a:rPr lang="en-US" sz="1200" b="1" dirty="0" err="1" smtClean="0">
                <a:latin typeface="Lucida Console" pitchFamily="49" charset="0"/>
              </a:rPr>
              <a:t>getMacAddress</a:t>
            </a:r>
            <a:r>
              <a:rPr lang="en-US" sz="1200" b="1" dirty="0" smtClean="0">
                <a:latin typeface="Lucida Console" pitchFamily="49" charset="0"/>
              </a:rPr>
              <a:t>().trim()</a:t>
            </a:r>
            <a:r>
              <a:rPr lang="en-US" sz="1200" dirty="0" smtClean="0">
                <a:latin typeface="Lucida Console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} </a:t>
            </a:r>
            <a:r>
              <a:rPr lang="en-US" sz="1200" b="1" dirty="0" smtClean="0">
                <a:latin typeface="Lucida Console" pitchFamily="49" charset="0"/>
              </a:rPr>
              <a:t>catch (</a:t>
            </a:r>
            <a:r>
              <a:rPr lang="en-US" sz="1200" b="1" dirty="0" err="1" smtClean="0">
                <a:latin typeface="Lucida Console" pitchFamily="49" charset="0"/>
              </a:rPr>
              <a:t>NullPointerException</a:t>
            </a:r>
            <a:r>
              <a:rPr lang="en-US" sz="1200" b="1" dirty="0" smtClean="0">
                <a:latin typeface="Lucida Console" pitchFamily="49" charset="0"/>
              </a:rPr>
              <a:t> e) </a:t>
            </a:r>
            <a:r>
              <a:rPr lang="en-US" sz="1200" dirty="0" smtClean="0">
                <a:latin typeface="Lucida Console" pitchFamily="49" charset="0"/>
              </a:rPr>
              <a:t>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	// nothing...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200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// Set </a:t>
            </a:r>
            <a:r>
              <a:rPr lang="en-US" sz="1200" dirty="0" err="1" smtClean="0">
                <a:latin typeface="Lucida Console" pitchFamily="49" charset="0"/>
              </a:rPr>
              <a:t>ip</a:t>
            </a:r>
            <a:endParaRPr lang="en-US" sz="1200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try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	</a:t>
            </a:r>
            <a:r>
              <a:rPr lang="en-US" sz="1200" dirty="0" err="1" smtClean="0">
                <a:latin typeface="Lucida Console" pitchFamily="49" charset="0"/>
              </a:rPr>
              <a:t>config.setIp</a:t>
            </a:r>
            <a:r>
              <a:rPr lang="en-US" sz="1200" dirty="0" smtClean="0">
                <a:latin typeface="Lucida Console" pitchFamily="49" charset="0"/>
              </a:rPr>
              <a:t>(</a:t>
            </a:r>
            <a:r>
              <a:rPr lang="en-US" sz="1200" dirty="0" err="1" smtClean="0">
                <a:latin typeface="Lucida Console" pitchFamily="49" charset="0"/>
              </a:rPr>
              <a:t>networkInterfaceConfiguration.</a:t>
            </a:r>
            <a:r>
              <a:rPr lang="en-US" sz="1200" b="1" dirty="0" err="1" smtClean="0">
                <a:latin typeface="Lucida Console" pitchFamily="49" charset="0"/>
              </a:rPr>
              <a:t>getIpAddress</a:t>
            </a:r>
            <a:r>
              <a:rPr lang="en-US" sz="1200" b="1" dirty="0" smtClean="0">
                <a:latin typeface="Lucida Console" pitchFamily="49" charset="0"/>
              </a:rPr>
              <a:t>().trim()</a:t>
            </a:r>
            <a:r>
              <a:rPr lang="en-US" sz="1200" dirty="0" smtClean="0">
                <a:latin typeface="Lucida Console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} </a:t>
            </a:r>
            <a:r>
              <a:rPr lang="en-US" sz="1200" b="1" dirty="0" smtClean="0">
                <a:latin typeface="Lucida Console" pitchFamily="49" charset="0"/>
              </a:rPr>
              <a:t>catch (</a:t>
            </a:r>
            <a:r>
              <a:rPr lang="en-US" sz="1200" b="1" dirty="0" err="1" smtClean="0">
                <a:latin typeface="Lucida Console" pitchFamily="49" charset="0"/>
              </a:rPr>
              <a:t>NullPointerException</a:t>
            </a:r>
            <a:r>
              <a:rPr lang="en-US" sz="1200" b="1" dirty="0" smtClean="0">
                <a:latin typeface="Lucida Console" pitchFamily="49" charset="0"/>
              </a:rPr>
              <a:t> e</a:t>
            </a:r>
            <a:r>
              <a:rPr lang="en-US" sz="1200" dirty="0" smtClean="0">
                <a:latin typeface="Lucida Console" pitchFamily="49" charset="0"/>
              </a:rPr>
              <a:t>)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	// nothing...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200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// Set default gateway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try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	</a:t>
            </a:r>
            <a:r>
              <a:rPr lang="en-US" sz="1200" dirty="0" err="1" smtClean="0">
                <a:latin typeface="Lucida Console" pitchFamily="49" charset="0"/>
              </a:rPr>
              <a:t>config.setDefaultGateway</a:t>
            </a:r>
            <a:r>
              <a:rPr lang="en-US" sz="1200" dirty="0" smtClean="0">
                <a:latin typeface="Lucida Console" pitchFamily="49" charset="0"/>
              </a:rPr>
              <a:t>(</a:t>
            </a:r>
            <a:r>
              <a:rPr lang="en-US" sz="1200" dirty="0" err="1" smtClean="0">
                <a:latin typeface="Lucida Console" pitchFamily="49" charset="0"/>
              </a:rPr>
              <a:t>networkInterfaceConfiguration.</a:t>
            </a:r>
            <a:r>
              <a:rPr lang="en-US" sz="1200" b="1" dirty="0" err="1" smtClean="0">
                <a:latin typeface="Lucida Console" pitchFamily="49" charset="0"/>
              </a:rPr>
              <a:t>getGateway</a:t>
            </a:r>
            <a:r>
              <a:rPr lang="en-US" sz="1200" b="1" dirty="0" smtClean="0">
                <a:latin typeface="Lucida Console" pitchFamily="49" charset="0"/>
              </a:rPr>
              <a:t>().trim()</a:t>
            </a:r>
            <a:r>
              <a:rPr lang="en-US" sz="1200" dirty="0" smtClean="0">
                <a:latin typeface="Lucida Console" pitchFamily="49" charset="0"/>
              </a:rPr>
              <a:t>);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} </a:t>
            </a:r>
            <a:r>
              <a:rPr lang="en-US" sz="1200" b="1" dirty="0" smtClean="0">
                <a:latin typeface="Lucida Console" pitchFamily="49" charset="0"/>
              </a:rPr>
              <a:t>catch (</a:t>
            </a:r>
            <a:r>
              <a:rPr lang="en-US" sz="1200" b="1" dirty="0" err="1" smtClean="0">
                <a:latin typeface="Lucida Console" pitchFamily="49" charset="0"/>
              </a:rPr>
              <a:t>NullPointerException</a:t>
            </a:r>
            <a:r>
              <a:rPr lang="en-US" sz="1200" b="1" dirty="0" smtClean="0">
                <a:latin typeface="Lucida Console" pitchFamily="49" charset="0"/>
              </a:rPr>
              <a:t> e)</a:t>
            </a:r>
            <a:r>
              <a:rPr lang="en-US" sz="1200" dirty="0" smtClean="0">
                <a:latin typeface="Lucida Console" pitchFamily="49" charset="0"/>
              </a:rPr>
              <a:t> {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	// nothing...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}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endParaRPr lang="en-US" sz="1200" dirty="0" smtClean="0">
              <a:latin typeface="Lucida Console" pitchFamily="49" charset="0"/>
            </a:endParaRP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// Set network mask</a:t>
            </a:r>
          </a:p>
          <a:p>
            <a:pPr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 smtClean="0">
                <a:latin typeface="Lucida Console" pitchFamily="49" charset="0"/>
              </a:rPr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691" y="269563"/>
            <a:ext cx="9059863" cy="430887"/>
          </a:xfrm>
        </p:spPr>
        <p:txBody>
          <a:bodyPr/>
          <a:lstStyle/>
          <a:p>
            <a:r>
              <a:rPr lang="de-DE" b="1" dirty="0" smtClean="0"/>
              <a:t>Da bekommt man echt Zustände (1)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58277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  <a:latin typeface="+mn-lt"/>
              </a:rPr>
              <a:pPr/>
              <a:t>35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13327" y="6582776"/>
            <a:ext cx="2419746" cy="365125"/>
          </a:xfrm>
        </p:spPr>
        <p:txBody>
          <a:bodyPr/>
          <a:lstStyle/>
          <a:p>
            <a:fld id="{44EBEBBE-9405-624B-9AF3-C41B36DD840F}" type="datetime4">
              <a:rPr lang="de-DE" sz="1100" smtClean="0">
                <a:solidFill>
                  <a:schemeClr val="bg1"/>
                </a:solidFill>
                <a:latin typeface="+mn-lt"/>
              </a:rPr>
              <a:pPr/>
              <a:t>18. Januar 2015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7" name="Inhaltsplatzhalter 26"/>
          <p:cNvSpPr>
            <a:spLocks noGrp="1"/>
          </p:cNvSpPr>
          <p:nvPr>
            <p:ph sz="quarter" idx="13"/>
          </p:nvPr>
        </p:nvSpPr>
        <p:spPr>
          <a:xfrm>
            <a:off x="316442" y="897160"/>
            <a:ext cx="8949796" cy="539686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de-DE" sz="10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volatile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isAbteilung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de-DE" sz="10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volatile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isBereich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de-DE" sz="10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volatile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isTeam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marL="0">
              <a:buNone/>
            </a:pPr>
            <a:r>
              <a:rPr lang="de-DE" sz="1400" dirty="0" smtClean="0"/>
              <a:t>:</a:t>
            </a:r>
            <a:br>
              <a:rPr lang="de-DE" sz="1400" dirty="0" smtClean="0"/>
            </a:br>
            <a:r>
              <a:rPr lang="de-DE" sz="1400" dirty="0" smtClean="0"/>
              <a:t/>
            </a:r>
            <a:br>
              <a:rPr lang="de-DE" sz="1400" dirty="0" smtClean="0"/>
            </a:br>
            <a:endParaRPr lang="de-DE" sz="1400" b="1" dirty="0" smtClean="0">
              <a:solidFill>
                <a:srgbClr val="2045AC"/>
              </a:solidFill>
              <a:cs typeface="Courier New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setAbteilung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isAbteilung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isAbteilung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isBereich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isTeam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this.isAbteilung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isAbteilung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setBereich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isBereich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(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isBereich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isAbteilung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isTeam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this.isBereich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isBereich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setTeam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isTeam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...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de-DE" sz="1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Rechteckige Legende 7"/>
          <p:cNvSpPr/>
          <p:nvPr/>
        </p:nvSpPr>
        <p:spPr>
          <a:xfrm>
            <a:off x="5919284" y="1058796"/>
            <a:ext cx="2810827" cy="1280159"/>
          </a:xfrm>
          <a:prstGeom prst="wedgeRectCallout">
            <a:avLst>
              <a:gd name="adj1" fmla="val -107376"/>
              <a:gd name="adj2" fmla="val -2873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>
              <a:buNone/>
            </a:pPr>
            <a:r>
              <a:rPr lang="de-DE" sz="1400" dirty="0"/>
              <a:t>Wie speichert man, in welchem Editiermodus man sich gerade befindet</a:t>
            </a:r>
            <a:r>
              <a:rPr lang="de-DE" sz="1400" dirty="0" smtClean="0"/>
              <a:t>?</a:t>
            </a:r>
            <a:br>
              <a:rPr lang="de-DE" sz="1400" dirty="0" smtClean="0"/>
            </a:br>
            <a:r>
              <a:rPr lang="de-DE" sz="1400" dirty="0"/>
              <a:t/>
            </a:r>
            <a:br>
              <a:rPr lang="de-DE" sz="1400" dirty="0"/>
            </a:br>
            <a:r>
              <a:rPr lang="de-DE" sz="1400" dirty="0" smtClean="0"/>
              <a:t>„Richtig“: </a:t>
            </a:r>
            <a:r>
              <a:rPr lang="de-DE" sz="1400" dirty="0"/>
              <a:t>für jeden Modus einen </a:t>
            </a:r>
            <a:r>
              <a:rPr lang="de-DE" sz="1400" dirty="0" smtClean="0"/>
              <a:t/>
            </a:r>
            <a:br>
              <a:rPr lang="de-DE" sz="1400" dirty="0" smtClean="0"/>
            </a:br>
            <a:r>
              <a:rPr lang="de-DE" sz="1400" dirty="0" smtClean="0"/>
              <a:t>               </a:t>
            </a:r>
            <a:r>
              <a:rPr lang="de-DE" sz="1400" dirty="0" err="1" smtClean="0"/>
              <a:t>Bool</a:t>
            </a:r>
            <a:r>
              <a:rPr lang="de-DE" sz="1400" dirty="0" smtClean="0"/>
              <a:t> </a:t>
            </a:r>
            <a:r>
              <a:rPr lang="de-DE" sz="1400" dirty="0" smtClean="0">
                <a:sym typeface="Wingdings" pitchFamily="2" charset="2"/>
              </a:rPr>
              <a:t></a:t>
            </a:r>
            <a:endParaRPr lang="de-DE" sz="1400" dirty="0"/>
          </a:p>
        </p:txBody>
      </p:sp>
      <p:sp>
        <p:nvSpPr>
          <p:cNvPr id="9" name="Rechteckige Legende 8"/>
          <p:cNvSpPr/>
          <p:nvPr/>
        </p:nvSpPr>
        <p:spPr>
          <a:xfrm>
            <a:off x="6052439" y="3675250"/>
            <a:ext cx="2810827" cy="1280159"/>
          </a:xfrm>
          <a:prstGeom prst="wedgeRectCallout">
            <a:avLst>
              <a:gd name="adj1" fmla="val -107376"/>
              <a:gd name="adj2" fmla="val -2873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>
              <a:buNone/>
            </a:pPr>
            <a:r>
              <a:rPr lang="de-DE" sz="1400" dirty="0"/>
              <a:t>Und wie schreibt man dafür Setter?</a:t>
            </a:r>
            <a:br>
              <a:rPr lang="de-DE" sz="1400" dirty="0"/>
            </a:br>
            <a:r>
              <a:rPr lang="de-DE" sz="1400" dirty="0" smtClean="0"/>
              <a:t>„So natürlich“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825068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691" y="269563"/>
            <a:ext cx="9059863" cy="430887"/>
          </a:xfrm>
        </p:spPr>
        <p:txBody>
          <a:bodyPr/>
          <a:lstStyle/>
          <a:p>
            <a:r>
              <a:rPr lang="de-DE" b="1" dirty="0" smtClean="0"/>
              <a:t>Da bekommt man echt Zustände (2)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592401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  <a:latin typeface="+mn-lt"/>
              </a:rPr>
              <a:pPr/>
              <a:t>36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13327" y="6592401"/>
            <a:ext cx="2419746" cy="365125"/>
          </a:xfrm>
        </p:spPr>
        <p:txBody>
          <a:bodyPr/>
          <a:lstStyle/>
          <a:p>
            <a:fld id="{44EBEBBE-9405-624B-9AF3-C41B36DD840F}" type="datetime4">
              <a:rPr lang="de-DE" sz="1100" smtClean="0">
                <a:solidFill>
                  <a:schemeClr val="bg1"/>
                </a:solidFill>
                <a:latin typeface="+mn-lt"/>
              </a:rPr>
              <a:pPr/>
              <a:t>18. Januar 2015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7" name="Inhaltsplatzhalter 26"/>
          <p:cNvSpPr>
            <a:spLocks noGrp="1"/>
          </p:cNvSpPr>
          <p:nvPr>
            <p:ph sz="quarter" idx="13"/>
          </p:nvPr>
        </p:nvSpPr>
        <p:spPr>
          <a:xfrm>
            <a:off x="316442" y="1089660"/>
            <a:ext cx="8949796" cy="539686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isTeam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isTeam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boolean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isTeamMode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TeamWrapper.class.equals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selectedWrapper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!= </a:t>
            </a:r>
            <a:r>
              <a:rPr lang="de-DE" sz="10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?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selectedWrapper.getClass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() : </a:t>
            </a:r>
            <a:r>
              <a:rPr lang="de-DE" sz="1000" b="1" dirty="0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null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de-DE" sz="1000" dirty="0" smtClean="0"/>
              <a:t>:</a:t>
            </a:r>
          </a:p>
          <a:p>
            <a:pPr>
              <a:buNone/>
            </a:pPr>
            <a:endParaRPr lang="de-DE" sz="1000" dirty="0" smtClean="0"/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bereichMode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setBereich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setAbteilung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setTeam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abteilungMode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setBereich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setAbteilung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setTeam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teamMode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setBereich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setAbteilung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false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    </a:t>
            </a:r>
            <a:r>
              <a:rPr lang="de-DE" sz="1000" b="1" dirty="0" err="1" smtClean="0">
                <a:latin typeface="Courier New" pitchFamily="49" charset="0"/>
                <a:cs typeface="Courier New" pitchFamily="49" charset="0"/>
              </a:rPr>
              <a:t>setTeam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de-DE" sz="1000" b="1" dirty="0" err="1" smtClean="0">
                <a:solidFill>
                  <a:srgbClr val="2045AC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de-DE" sz="1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Rechteckige Legende 7"/>
          <p:cNvSpPr/>
          <p:nvPr/>
        </p:nvSpPr>
        <p:spPr>
          <a:xfrm>
            <a:off x="7286324" y="500536"/>
            <a:ext cx="2310033" cy="1280159"/>
          </a:xfrm>
          <a:prstGeom prst="wedgeRectCallout">
            <a:avLst>
              <a:gd name="adj1" fmla="val -118210"/>
              <a:gd name="adj2" fmla="val -913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400" dirty="0"/>
              <a:t>Und wie schreibt man dafür Getter?  </a:t>
            </a:r>
            <a:endParaRPr lang="de-DE" sz="1400" dirty="0" smtClean="0"/>
          </a:p>
          <a:p>
            <a:endParaRPr lang="de-DE" sz="1400" dirty="0"/>
          </a:p>
          <a:p>
            <a:r>
              <a:rPr lang="de-DE" sz="1400" dirty="0" smtClean="0"/>
              <a:t>„Richtig“: </a:t>
            </a:r>
            <a:r>
              <a:rPr lang="de-DE" sz="1400" dirty="0"/>
              <a:t>möglichst </a:t>
            </a:r>
            <a:r>
              <a:rPr lang="de-DE" sz="1400" dirty="0" smtClean="0"/>
              <a:t>viele</a:t>
            </a:r>
            <a:endParaRPr lang="de-DE" sz="1400" dirty="0"/>
          </a:p>
        </p:txBody>
      </p:sp>
      <p:sp>
        <p:nvSpPr>
          <p:cNvPr id="9" name="Rechteckige Legende 8"/>
          <p:cNvSpPr/>
          <p:nvPr/>
        </p:nvSpPr>
        <p:spPr>
          <a:xfrm>
            <a:off x="6206438" y="3290253"/>
            <a:ext cx="2810827" cy="1368374"/>
          </a:xfrm>
          <a:prstGeom prst="wedgeRectCallout">
            <a:avLst>
              <a:gd name="adj1" fmla="val -107376"/>
              <a:gd name="adj2" fmla="val -2873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de-DE" sz="1400" b="1" dirty="0"/>
              <a:t>Und nun die Krönung</a:t>
            </a:r>
            <a:r>
              <a:rPr lang="de-DE" sz="1400" dirty="0"/>
              <a:t>… </a:t>
            </a:r>
            <a:endParaRPr lang="de-DE" sz="1400" dirty="0" smtClean="0"/>
          </a:p>
          <a:p>
            <a:pPr>
              <a:buNone/>
            </a:pPr>
            <a:r>
              <a:rPr lang="de-DE" sz="1400" dirty="0" smtClean="0"/>
              <a:t>     </a:t>
            </a:r>
            <a:endParaRPr lang="de-DE" sz="1400" dirty="0"/>
          </a:p>
          <a:p>
            <a:pPr>
              <a:buNone/>
            </a:pPr>
            <a:r>
              <a:rPr lang="de-DE" sz="1400" dirty="0"/>
              <a:t>Weil die Setter anscheinend nicht ausreichen, wurden einfach nochmal Setter für die Setter geschrieben</a:t>
            </a:r>
          </a:p>
        </p:txBody>
      </p:sp>
    </p:spTree>
    <p:extLst>
      <p:ext uri="{BB962C8B-B14F-4D97-AF65-F5344CB8AC3E}">
        <p14:creationId xmlns:p14="http://schemas.microsoft.com/office/powerpoint/2010/main" val="1750084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Agenda</a:t>
            </a:r>
            <a:endParaRPr lang="de-DE" b="1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Erklärungsversuche</a:t>
            </a:r>
          </a:p>
          <a:p>
            <a:pPr>
              <a:buClrTx/>
            </a:pPr>
            <a:r>
              <a:rPr lang="de-DE" dirty="0" err="1" smtClean="0"/>
              <a:t>Naming</a:t>
            </a:r>
            <a:r>
              <a:rPr lang="de-DE" dirty="0" smtClean="0"/>
              <a:t> Anti-Patterns</a:t>
            </a:r>
          </a:p>
          <a:p>
            <a:r>
              <a:rPr lang="de-DE" dirty="0" smtClean="0"/>
              <a:t>Formatierung und Kommentare</a:t>
            </a:r>
          </a:p>
          <a:p>
            <a:r>
              <a:rPr lang="de-DE" dirty="0" smtClean="0"/>
              <a:t>Funktionen und Methoden</a:t>
            </a:r>
          </a:p>
          <a:p>
            <a:r>
              <a:rPr lang="de-DE" dirty="0" smtClean="0"/>
              <a:t>Objekte und Daten Strukturen</a:t>
            </a:r>
          </a:p>
          <a:p>
            <a:r>
              <a:rPr lang="de-DE" dirty="0" smtClean="0"/>
              <a:t>Schlechte Programmierung</a:t>
            </a:r>
          </a:p>
          <a:p>
            <a:pPr>
              <a:buClr>
                <a:schemeClr val="tx1"/>
              </a:buClr>
            </a:pPr>
            <a:r>
              <a:rPr lang="de-DE" b="1" dirty="0" smtClean="0">
                <a:solidFill>
                  <a:srgbClr val="C00000"/>
                </a:solidFill>
              </a:rPr>
              <a:t>Lösungsansätze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692" y="259939"/>
            <a:ext cx="8887883" cy="430887"/>
          </a:xfrm>
        </p:spPr>
        <p:txBody>
          <a:bodyPr/>
          <a:lstStyle/>
          <a:p>
            <a:r>
              <a:rPr lang="de-DE" b="1" dirty="0" smtClean="0"/>
              <a:t>Lösungsansätze schauen so nicht aus!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58277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  <a:latin typeface="+mn-lt"/>
              </a:rPr>
              <a:pPr/>
              <a:t>38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13327" y="6592401"/>
            <a:ext cx="2419746" cy="365125"/>
          </a:xfrm>
        </p:spPr>
        <p:txBody>
          <a:bodyPr/>
          <a:lstStyle/>
          <a:p>
            <a:fld id="{44EBEBBE-9405-624B-9AF3-C41B36DD840F}" type="datetime4">
              <a:rPr lang="de-DE" sz="1100" smtClean="0">
                <a:solidFill>
                  <a:schemeClr val="bg1"/>
                </a:solidFill>
                <a:latin typeface="+mn-lt"/>
              </a:rPr>
              <a:pPr/>
              <a:t>18. Januar 2015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pic>
        <p:nvPicPr>
          <p:cNvPr id="12" name="Grafik 11" descr="IMG_096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169" y="1276952"/>
            <a:ext cx="7119515" cy="492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11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Wie schreibt man nun </a:t>
            </a:r>
            <a:r>
              <a:rPr lang="de-DE" b="1" dirty="0"/>
              <a:t>s</a:t>
            </a:r>
            <a:r>
              <a:rPr lang="de-DE" b="1" dirty="0" smtClean="0"/>
              <a:t>auberen Code? 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6238" y="6603262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39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294967295"/>
          </p:nvPr>
        </p:nvSpPr>
        <p:spPr>
          <a:xfrm>
            <a:off x="413875" y="1276350"/>
            <a:ext cx="8950325" cy="3055018"/>
          </a:xfrm>
        </p:spPr>
        <p:txBody>
          <a:bodyPr/>
          <a:lstStyle/>
          <a:p>
            <a:r>
              <a:rPr lang="de-DE" dirty="0" smtClean="0"/>
              <a:t>Handwerksstolz</a:t>
            </a:r>
          </a:p>
          <a:p>
            <a:r>
              <a:rPr lang="de-DE" dirty="0" smtClean="0"/>
              <a:t>Peer Reviews (mit erfahrenen Entwicklern)</a:t>
            </a:r>
          </a:p>
          <a:p>
            <a:r>
              <a:rPr lang="de-DE" dirty="0" smtClean="0"/>
              <a:t>Frühes </a:t>
            </a:r>
            <a:r>
              <a:rPr lang="de-DE" dirty="0" err="1" smtClean="0"/>
              <a:t>Refactoring</a:t>
            </a:r>
            <a:r>
              <a:rPr lang="de-DE" dirty="0" smtClean="0"/>
              <a:t> während der Entwicklung</a:t>
            </a:r>
          </a:p>
          <a:p>
            <a:r>
              <a:rPr lang="de-DE" dirty="0" smtClean="0"/>
              <a:t>Studium von empfohlener Literatur</a:t>
            </a:r>
          </a:p>
          <a:p>
            <a:r>
              <a:rPr lang="de-DE" b="1" dirty="0" smtClean="0"/>
              <a:t>Viel Erfahrung im Projekt-Alltag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13327" y="4884836"/>
            <a:ext cx="8887883" cy="538762"/>
          </a:xfrm>
          <a:prstGeom prst="rect">
            <a:avLst/>
          </a:prstGeom>
        </p:spPr>
        <p:txBody>
          <a:bodyPr vert="horz" lIns="0" tIns="45720" rIns="91440" bIns="45720" rtlCol="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3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4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Stay</a:t>
            </a:r>
            <a:r>
              <a:rPr kumimoji="0" lang="de-DE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Clean </a:t>
            </a:r>
            <a:r>
              <a:rPr kumimoji="0" lang="de-DE" sz="4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and</a:t>
            </a:r>
            <a:r>
              <a:rPr kumimoji="0" lang="de-DE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Keep</a:t>
            </a:r>
            <a:r>
              <a:rPr kumimoji="0" lang="de-DE" sz="40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r>
              <a:rPr kumimoji="0" lang="de-DE" sz="4000" b="1" i="0" u="none" strike="noStrike" kern="1200" cap="none" spc="0" normalizeH="0" noProof="0" dirty="0" err="1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Coding</a:t>
            </a:r>
            <a:r>
              <a:rPr kumimoji="0" lang="de-DE" sz="40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!</a:t>
            </a:r>
            <a:endParaRPr kumimoji="0" lang="de-DE" sz="4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Backup</a:t>
            </a:r>
            <a:endParaRPr lang="de-DE" b="1" dirty="0"/>
          </a:p>
        </p:txBody>
      </p:sp>
      <p:sp>
        <p:nvSpPr>
          <p:cNvPr id="6" name="Tex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Weitere Beispiele</a:t>
            </a:r>
          </a:p>
        </p:txBody>
      </p:sp>
    </p:spTree>
    <p:extLst>
      <p:ext uri="{BB962C8B-B14F-4D97-AF65-F5344CB8AC3E}">
        <p14:creationId xmlns:p14="http://schemas.microsoft.com/office/powerpoint/2010/main" val="198292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"Die erste Version ist die beste Version„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603262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41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418304" y="1256488"/>
            <a:ext cx="8950325" cy="4832350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ac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int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i = </a:t>
            </a:r>
            <a:r>
              <a:rPr lang="de-DE" sz="1400" dirty="0" smtClean="0">
                <a:solidFill>
                  <a:srgbClr val="0000FF"/>
                </a:solidFill>
                <a:latin typeface="Lucida Console" pitchFamily="49" charset="0"/>
                <a:cs typeface="Consolas" pitchFamily="49" charset="0"/>
              </a:rPr>
              <a:t>0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i &lt;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size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 i++)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get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(i).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get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(i).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get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(i).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get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(i).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get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(i).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 } 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46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1.0.1)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93534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42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398848" y="1257264"/>
            <a:ext cx="8950325" cy="4832350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ac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int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 i = 0; i &lt; 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size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(); i++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get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(i).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get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(i).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get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(i).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get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(i</a:t>
            </a:r>
            <a:r>
              <a:rPr lang="de-DE" sz="1400" b="1" dirty="0" smtClean="0">
                <a:solidFill>
                  <a:schemeClr val="accent1"/>
                </a:solidFill>
                <a:latin typeface="Lucida Console" pitchFamily="49" charset="0"/>
                <a:cs typeface="Consolas" pitchFamily="49" charset="0"/>
              </a:rPr>
              <a:t>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get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(i).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 } 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858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1.0.1)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93534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43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418304" y="1256472"/>
            <a:ext cx="8950325" cy="4832350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ac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: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 } 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325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1.0.2)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603262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44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457200" y="1256489"/>
            <a:ext cx="8950325" cy="4832350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ac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: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 } 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29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decel="100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1.0.2)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93534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45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428018" y="1256489"/>
            <a:ext cx="8950325" cy="4625975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ac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: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 } 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916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1.0.3)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93534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46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447474" y="1256490"/>
            <a:ext cx="8950325" cy="4625975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ac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: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isSetLoadmodule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			} 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 } 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107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1.0.3)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47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428017" y="1256489"/>
            <a:ext cx="8950325" cy="3609975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ac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: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 } 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39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1.0.3)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603262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48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398835" y="1256489"/>
            <a:ext cx="8950325" cy="3609975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ac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: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isSetStatus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			} 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 } 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152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1.0.3)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49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447475" y="1256489"/>
            <a:ext cx="8950325" cy="2593975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ac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: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 } 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874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1.0.4)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50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408561" y="1256490"/>
            <a:ext cx="8950325" cy="2593975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ac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: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().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 } 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269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1.0.4)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74078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51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340468" y="1256489"/>
            <a:ext cx="8950325" cy="2847975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ac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: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locations.isSetLoadmodule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locations.isSetStatus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 } 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205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1.0.4)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52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398834" y="1256490"/>
            <a:ext cx="8950325" cy="4117975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ac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: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locations.isSetLoadmodule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locations.isSetStatus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584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1.0.5)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53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408562" y="1256489"/>
            <a:ext cx="8950325" cy="4117975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ac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: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) { 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; 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b="1" dirty="0" err="1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b="1" dirty="0" smtClean="0">
                <a:solidFill>
                  <a:srgbClr val="C00000"/>
                </a:solidFill>
                <a:latin typeface="Lucida Console" pitchFamily="49" charset="0"/>
                <a:cs typeface="Consolas" pitchFamily="49" charset="0"/>
              </a:rPr>
              <a:t>; break; 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locations.isSetLoadmodule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locations.isSetStatus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418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decel="100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1.0.5)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93534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54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418291" y="1256488"/>
            <a:ext cx="8950325" cy="4832350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ac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en-US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	ac = as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}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: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locations.isSetLoadmodule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locations.isSetStatus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ac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as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8618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1.0.6)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74078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55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418289" y="1256490"/>
            <a:ext cx="8950325" cy="4832350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en-US" sz="1400" dirty="0" err="1" smtClean="0">
                <a:latin typeface="Lucida Console" pitchFamily="49" charset="0"/>
              </a:rPr>
              <a:t>authRequiredForContent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en-US" sz="1400" dirty="0" err="1" smtClean="0">
                <a:latin typeface="Lucida Console" pitchFamily="49" charset="0"/>
              </a:rPr>
              <a:t>authRequiredForStatus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false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en-US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	</a:t>
            </a:r>
            <a:r>
              <a:rPr lang="en-US" sz="1400" dirty="0" err="1" smtClean="0">
                <a:latin typeface="Lucida Console" pitchFamily="49" charset="0"/>
              </a:rPr>
              <a:t>authRequiredForContent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en-US" sz="1400" dirty="0" err="1" smtClean="0">
                <a:latin typeface="Lucida Console" pitchFamily="49" charset="0"/>
              </a:rPr>
              <a:t>authRequiredForStatus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}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: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en-US" sz="1400" dirty="0" err="1" smtClean="0">
                <a:latin typeface="Lucida Console" pitchFamily="49" charset="0"/>
              </a:rPr>
              <a:t>authRequiredForContent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locations.isSetLoadmodule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en-US" sz="1400" dirty="0" err="1" smtClean="0">
                <a:latin typeface="Lucida Console" pitchFamily="49" charset="0"/>
              </a:rPr>
              <a:t>authRequiredForStatus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locations.isSetStatus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}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else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en-US" sz="1400" dirty="0" err="1" smtClean="0">
                <a:latin typeface="Lucida Console" pitchFamily="49" charset="0"/>
              </a:rPr>
              <a:t>authRequiredForContent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en-US" sz="1400" dirty="0" err="1" smtClean="0">
                <a:latin typeface="Lucida Console" pitchFamily="49" charset="0"/>
              </a:rPr>
              <a:t>authRequiredForStatus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525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(WIP, Version 1.0.7)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93534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56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379379" y="1256489"/>
            <a:ext cx="8950325" cy="3609975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en-US" sz="1400" dirty="0" err="1" smtClean="0">
                <a:latin typeface="Lucida Console" pitchFamily="49" charset="0"/>
              </a:rPr>
              <a:t>authRequiredForContent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en-US" sz="1400" dirty="0" err="1" smtClean="0">
                <a:latin typeface="Lucida Console" pitchFamily="49" charset="0"/>
              </a:rPr>
              <a:t>authRequiredForStatus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true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 (!</a:t>
            </a:r>
            <a:r>
              <a:rPr lang="en-US" sz="1400" dirty="0" err="1" smtClean="0">
                <a:latin typeface="Lucida Console" pitchFamily="49" charset="0"/>
                <a:cs typeface="Consolas" pitchFamily="49" charset="0"/>
              </a:rPr>
              <a:t>isLoggedIn</a:t>
            </a:r>
            <a:r>
              <a:rPr lang="en-US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: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  <a:cs typeface="Consolas" pitchFamily="49" charset="0"/>
              </a:rPr>
              <a:t>NOT_LOGGED_IN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en-US" sz="1400" dirty="0" err="1" smtClean="0">
                <a:latin typeface="Lucida Console" pitchFamily="49" charset="0"/>
              </a:rPr>
              <a:t>authRequiredForContent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locations.isSetLoadmodule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en-US" sz="1400" dirty="0" err="1" smtClean="0">
                <a:latin typeface="Lucida Console" pitchFamily="49" charset="0"/>
              </a:rPr>
              <a:t>authRequiredForStatus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  <a:cs typeface="Consolas" pitchFamily="49" charset="0"/>
              </a:rPr>
              <a:t>locations.isSetStatus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  <a:cs typeface="Consolas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</a:pPr>
            <a:r>
              <a:rPr lang="de-DE" sz="1400" dirty="0" smtClean="0">
                <a:latin typeface="Lucida Console" pitchFamily="49" charset="0"/>
                <a:cs typeface="Consolas" pitchFamily="49" charset="0"/>
              </a:rPr>
              <a:t>}</a:t>
            </a:r>
            <a:endParaRPr lang="de-DE" sz="1400" dirty="0">
              <a:latin typeface="Lucida Console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65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39775" y="265113"/>
            <a:ext cx="5713413" cy="769441"/>
          </a:xfrm>
        </p:spPr>
        <p:txBody>
          <a:bodyPr/>
          <a:lstStyle/>
          <a:p>
            <a:r>
              <a:rPr lang="de-DE" b="1" dirty="0" smtClean="0"/>
              <a:t>"Die erste Version ist die beste Version"</a:t>
            </a:r>
            <a:br>
              <a:rPr lang="de-DE" b="1" dirty="0" smtClean="0"/>
            </a:br>
            <a:r>
              <a:rPr lang="de-DE" b="1" dirty="0" smtClean="0"/>
              <a:t>(</a:t>
            </a:r>
            <a:r>
              <a:rPr lang="de-DE" b="1" dirty="0" err="1" smtClean="0"/>
              <a:t>Refactored</a:t>
            </a:r>
            <a:r>
              <a:rPr lang="de-DE" b="1" dirty="0" smtClean="0"/>
              <a:t>, Version 1.1)</a:t>
            </a:r>
            <a:endParaRPr lang="de-DE" b="1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>
          <a:xfrm>
            <a:off x="9266238" y="6583806"/>
            <a:ext cx="577850" cy="3651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</a:rPr>
              <a:pPr/>
              <a:t>57</a:t>
            </a:fld>
            <a:endParaRPr lang="de-DE" sz="1100" dirty="0">
              <a:solidFill>
                <a:schemeClr val="bg1"/>
              </a:solidFill>
            </a:endParaRP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4EBEBBE-9405-624B-9AF3-C41B36DD840F}" type="datetime4">
              <a:rPr lang="de-DE" smtClean="0"/>
              <a:pPr/>
              <a:t>18. Januar 2015</a:t>
            </a:fld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294967295"/>
          </p:nvPr>
        </p:nvSpPr>
        <p:spPr>
          <a:xfrm>
            <a:off x="408561" y="1256489"/>
            <a:ext cx="8950325" cy="3863975"/>
          </a:xfr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//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authentication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is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always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required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unless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the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module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defines</a:t>
            </a:r>
            <a:endParaRPr lang="de-DE" sz="1400" i="1" dirty="0" smtClean="0">
              <a:solidFill>
                <a:srgbClr val="808080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//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load-module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URL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and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/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or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status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URL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for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anonymous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users</a:t>
            </a:r>
            <a:endParaRPr lang="de-DE" sz="1400" i="1" dirty="0" smtClean="0">
              <a:solidFill>
                <a:srgbClr val="808080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</a:rPr>
              <a:t> </a:t>
            </a:r>
            <a:r>
              <a:rPr lang="en-US" sz="1400" dirty="0" err="1" smtClean="0">
                <a:latin typeface="Lucida Console" pitchFamily="49" charset="0"/>
              </a:rPr>
              <a:t>authRequiredForContent</a:t>
            </a:r>
            <a:r>
              <a:rPr lang="en-US" sz="1400" dirty="0" smtClean="0">
                <a:latin typeface="Lucida Console" pitchFamily="49" charset="0"/>
              </a:rPr>
              <a:t>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</a:rPr>
              <a:t>true</a:t>
            </a:r>
            <a:r>
              <a:rPr lang="en-US" sz="1400" dirty="0" smtClean="0">
                <a:latin typeface="Lucida Console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en-US" sz="1400" dirty="0" err="1" smtClean="0">
                <a:solidFill>
                  <a:srgbClr val="000080"/>
                </a:solidFill>
                <a:latin typeface="Lucida Console" pitchFamily="49" charset="0"/>
              </a:rPr>
              <a:t>boolean</a:t>
            </a:r>
            <a:r>
              <a:rPr lang="en-US" sz="1400" dirty="0" smtClean="0">
                <a:latin typeface="Lucida Console" pitchFamily="49" charset="0"/>
              </a:rPr>
              <a:t> </a:t>
            </a:r>
            <a:r>
              <a:rPr lang="en-US" sz="1400" dirty="0" err="1" smtClean="0">
                <a:latin typeface="Lucida Console" pitchFamily="49" charset="0"/>
              </a:rPr>
              <a:t>authRequiredForStatus</a:t>
            </a:r>
            <a:r>
              <a:rPr lang="en-US" sz="1400" dirty="0" smtClean="0">
                <a:latin typeface="Lucida Console" pitchFamily="49" charset="0"/>
              </a:rPr>
              <a:t> = </a:t>
            </a:r>
            <a:r>
              <a:rPr lang="en-US" sz="1400" dirty="0" smtClean="0">
                <a:solidFill>
                  <a:srgbClr val="000080"/>
                </a:solidFill>
                <a:latin typeface="Lucida Console" pitchFamily="49" charset="0"/>
              </a:rPr>
              <a:t>true</a:t>
            </a:r>
            <a:r>
              <a:rPr lang="en-US" sz="1400" dirty="0" smtClean="0">
                <a:latin typeface="Lucida Console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</a:rPr>
              <a:t> (!</a:t>
            </a:r>
            <a:r>
              <a:rPr lang="de-DE" sz="1400" dirty="0" err="1" smtClean="0">
                <a:latin typeface="Lucida Console" pitchFamily="49" charset="0"/>
              </a:rPr>
              <a:t>isLoggedIn</a:t>
            </a:r>
            <a:r>
              <a:rPr lang="de-DE" sz="1400" dirty="0" smtClean="0">
                <a:latin typeface="Lucida Console" pitchFamily="49" charset="0"/>
              </a:rPr>
              <a:t>) {	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//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only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bother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to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check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if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user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is</a:t>
            </a:r>
            <a:r>
              <a:rPr lang="de-DE" sz="1400" i="1" dirty="0" smtClean="0">
                <a:solidFill>
                  <a:srgbClr val="808080"/>
                </a:solidFill>
                <a:latin typeface="Lucida Console" pitchFamily="49" charset="0"/>
              </a:rPr>
              <a:t> </a:t>
            </a:r>
            <a:r>
              <a:rPr lang="de-DE" sz="1400" i="1" dirty="0" err="1" smtClean="0">
                <a:solidFill>
                  <a:srgbClr val="808080"/>
                </a:solidFill>
                <a:latin typeface="Lucida Console" pitchFamily="49" charset="0"/>
              </a:rPr>
              <a:t>anonymous</a:t>
            </a:r>
            <a:endParaRPr lang="de-DE" sz="1400" i="1" dirty="0" smtClean="0">
              <a:solidFill>
                <a:srgbClr val="808080"/>
              </a:solidFill>
              <a:latin typeface="Lucida Console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dirty="0" smtClean="0">
                <a:latin typeface="Lucida Console" pitchFamily="49" charset="0"/>
              </a:rPr>
              <a:t>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</a:rPr>
              <a:t>for</a:t>
            </a:r>
            <a:r>
              <a:rPr lang="de-DE" sz="1400" dirty="0" smtClean="0">
                <a:latin typeface="Lucida Console" pitchFamily="49" charset="0"/>
              </a:rPr>
              <a:t> (Login </a:t>
            </a:r>
            <a:r>
              <a:rPr lang="de-DE" sz="1400" dirty="0" err="1" smtClean="0">
                <a:latin typeface="Lucida Console" pitchFamily="49" charset="0"/>
              </a:rPr>
              <a:t>login</a:t>
            </a:r>
            <a:r>
              <a:rPr lang="de-DE" sz="1400" dirty="0" smtClean="0">
                <a:latin typeface="Lucida Console" pitchFamily="49" charset="0"/>
              </a:rPr>
              <a:t> : </a:t>
            </a:r>
            <a:r>
              <a:rPr lang="de-DE" sz="1400" dirty="0" err="1" smtClean="0">
                <a:latin typeface="Lucida Console" pitchFamily="49" charset="0"/>
              </a:rPr>
              <a:t>d.getLoginList</a:t>
            </a:r>
            <a:r>
              <a:rPr lang="de-DE" sz="1400" dirty="0" smtClean="0">
                <a:latin typeface="Lucida Console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dirty="0" smtClean="0">
                <a:latin typeface="Lucida Console" pitchFamily="49" charset="0"/>
              </a:rPr>
              <a:t>		</a:t>
            </a:r>
            <a:r>
              <a:rPr lang="de-DE" sz="1400" dirty="0" err="1" smtClean="0">
                <a:solidFill>
                  <a:srgbClr val="000080"/>
                </a:solidFill>
                <a:latin typeface="Lucida Console" pitchFamily="49" charset="0"/>
              </a:rPr>
              <a:t>if</a:t>
            </a:r>
            <a:r>
              <a:rPr lang="de-DE" sz="1400" dirty="0" smtClean="0">
                <a:latin typeface="Lucida Console" pitchFamily="49" charset="0"/>
              </a:rPr>
              <a:t> (</a:t>
            </a:r>
            <a:r>
              <a:rPr lang="de-DE" sz="1400" dirty="0" err="1" smtClean="0">
                <a:latin typeface="Lucida Console" pitchFamily="49" charset="0"/>
              </a:rPr>
              <a:t>login.getState</a:t>
            </a:r>
            <a:r>
              <a:rPr lang="de-DE" sz="1400" dirty="0" smtClean="0">
                <a:latin typeface="Lucida Console" pitchFamily="49" charset="0"/>
              </a:rPr>
              <a:t>() == </a:t>
            </a:r>
            <a:r>
              <a:rPr lang="de-DE" sz="1400" dirty="0" err="1" smtClean="0">
                <a:latin typeface="Lucida Console" pitchFamily="49" charset="0"/>
              </a:rPr>
              <a:t>LoginType.</a:t>
            </a:r>
            <a:r>
              <a:rPr lang="de-DE" sz="1400" dirty="0" err="1" smtClean="0">
                <a:solidFill>
                  <a:srgbClr val="660E7A"/>
                </a:solidFill>
                <a:latin typeface="Lucida Console" pitchFamily="49" charset="0"/>
              </a:rPr>
              <a:t>NOT_LOGGED_IN</a:t>
            </a:r>
            <a:endParaRPr lang="de-DE" sz="1400" dirty="0" smtClean="0">
              <a:latin typeface="Lucida Console" pitchFamily="49" charset="0"/>
            </a:endParaRP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dirty="0" smtClean="0">
                <a:latin typeface="Lucida Console" pitchFamily="49" charset="0"/>
              </a:rPr>
              <a:t>				&amp;&amp; </a:t>
            </a:r>
            <a:r>
              <a:rPr lang="de-DE" sz="1400" dirty="0" err="1" smtClean="0">
                <a:latin typeface="Lucida Console" pitchFamily="49" charset="0"/>
              </a:rPr>
              <a:t>login.isSetLocations</a:t>
            </a:r>
            <a:r>
              <a:rPr lang="de-DE" sz="1400" dirty="0" smtClean="0">
                <a:latin typeface="Lucida Console" pitchFamily="49" charset="0"/>
              </a:rPr>
              <a:t>()) {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dirty="0" smtClean="0">
                <a:latin typeface="Lucida Console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</a:rPr>
              <a:t>Locations</a:t>
            </a:r>
            <a:r>
              <a:rPr lang="de-DE" sz="1400" dirty="0" smtClean="0">
                <a:latin typeface="Lucida Console" pitchFamily="49" charset="0"/>
              </a:rPr>
              <a:t> </a:t>
            </a:r>
            <a:r>
              <a:rPr lang="de-DE" sz="1400" dirty="0" err="1" smtClean="0">
                <a:latin typeface="Lucida Console" pitchFamily="49" charset="0"/>
              </a:rPr>
              <a:t>locations</a:t>
            </a:r>
            <a:r>
              <a:rPr lang="de-DE" sz="1400" dirty="0" smtClean="0">
                <a:latin typeface="Lucida Console" pitchFamily="49" charset="0"/>
              </a:rPr>
              <a:t> = </a:t>
            </a:r>
            <a:r>
              <a:rPr lang="de-DE" sz="1400" dirty="0" err="1" smtClean="0">
                <a:latin typeface="Lucida Console" pitchFamily="49" charset="0"/>
              </a:rPr>
              <a:t>login.getLocations</a:t>
            </a:r>
            <a:r>
              <a:rPr lang="de-DE" sz="1400" dirty="0" smtClean="0">
                <a:latin typeface="Lucida Console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dirty="0" smtClean="0">
                <a:latin typeface="Lucida Console" pitchFamily="49" charset="0"/>
              </a:rPr>
              <a:t>			</a:t>
            </a:r>
            <a:r>
              <a:rPr lang="en-US" sz="1400" dirty="0" err="1" smtClean="0">
                <a:latin typeface="Lucida Console" pitchFamily="49" charset="0"/>
              </a:rPr>
              <a:t>authRequiredForContent</a:t>
            </a:r>
            <a:r>
              <a:rPr lang="de-DE" sz="1400" dirty="0" smtClean="0">
                <a:latin typeface="Lucida Console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</a:rPr>
              <a:t>locations.isSetLoadModule</a:t>
            </a:r>
            <a:r>
              <a:rPr lang="de-DE" sz="1400" dirty="0" smtClean="0">
                <a:latin typeface="Lucida Console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dirty="0" smtClean="0">
                <a:latin typeface="Lucida Console" pitchFamily="49" charset="0"/>
              </a:rPr>
              <a:t>			</a:t>
            </a:r>
            <a:r>
              <a:rPr lang="de-DE" sz="1400" dirty="0" err="1" smtClean="0">
                <a:latin typeface="Lucida Console" pitchFamily="49" charset="0"/>
              </a:rPr>
              <a:t>authRequiredForStatus</a:t>
            </a:r>
            <a:r>
              <a:rPr lang="de-DE" sz="1400" dirty="0" smtClean="0">
                <a:latin typeface="Lucida Console" pitchFamily="49" charset="0"/>
              </a:rPr>
              <a:t> = !</a:t>
            </a:r>
            <a:r>
              <a:rPr lang="de-DE" sz="1400" dirty="0" err="1" smtClean="0">
                <a:latin typeface="Lucida Console" pitchFamily="49" charset="0"/>
              </a:rPr>
              <a:t>locations.isSetStatus</a:t>
            </a:r>
            <a:r>
              <a:rPr lang="de-DE" sz="1400" dirty="0" smtClean="0">
                <a:latin typeface="Lucida Console" pitchFamily="49" charset="0"/>
              </a:rPr>
              <a:t>();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dirty="0" smtClean="0">
                <a:latin typeface="Lucida Console" pitchFamily="49" charset="0"/>
              </a:rPr>
              <a:t>			</a:t>
            </a:r>
            <a:r>
              <a:rPr lang="de-DE" sz="1400" dirty="0" smtClean="0">
                <a:solidFill>
                  <a:srgbClr val="000080"/>
                </a:solidFill>
                <a:latin typeface="Lucida Console" pitchFamily="49" charset="0"/>
              </a:rPr>
              <a:t>break</a:t>
            </a:r>
            <a:r>
              <a:rPr lang="de-DE" sz="1400" dirty="0" smtClean="0">
                <a:latin typeface="Lucida Console" pitchFamily="49" charset="0"/>
              </a:rPr>
              <a:t>;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dirty="0" smtClean="0">
                <a:latin typeface="Lucida Console" pitchFamily="49" charset="0"/>
              </a:rPr>
              <a:t>	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dirty="0" smtClean="0">
                <a:latin typeface="Lucida Console" pitchFamily="49" charset="0"/>
              </a:rPr>
              <a:t>	}</a:t>
            </a:r>
          </a:p>
          <a:p>
            <a:pPr>
              <a:spcBef>
                <a:spcPts val="0"/>
              </a:spcBef>
              <a:spcAft>
                <a:spcPts val="300"/>
              </a:spcAft>
              <a:buNone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</a:tabLst>
            </a:pPr>
            <a:r>
              <a:rPr lang="de-DE" sz="1400" dirty="0" smtClean="0">
                <a:latin typeface="Lucida Console" pitchFamily="49" charset="0"/>
              </a:rPr>
              <a:t>}</a:t>
            </a:r>
            <a:endParaRPr lang="de-DE" sz="1400" dirty="0">
              <a:latin typeface="Lucida Console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688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61" y="253658"/>
            <a:ext cx="8700443" cy="430887"/>
          </a:xfrm>
        </p:spPr>
        <p:txBody>
          <a:bodyPr/>
          <a:lstStyle/>
          <a:p>
            <a:r>
              <a:rPr lang="de-DE" b="1" dirty="0" smtClean="0"/>
              <a:t>Sinnlos aber nicht Harmlos – Teil 1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559826"/>
            <a:ext cx="577850" cy="291825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  <a:latin typeface="+mn-lt"/>
              </a:rPr>
              <a:pPr/>
              <a:t>58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7" name="Inhaltsplatzhalter 26"/>
          <p:cNvSpPr>
            <a:spLocks noGrp="1"/>
          </p:cNvSpPr>
          <p:nvPr>
            <p:ph sz="quarter" idx="13"/>
          </p:nvPr>
        </p:nvSpPr>
        <p:spPr>
          <a:xfrm>
            <a:off x="316442" y="1089661"/>
            <a:ext cx="8949796" cy="4759325"/>
          </a:xfrm>
        </p:spPr>
        <p:txBody>
          <a:bodyPr>
            <a:normAutofit fontScale="32500" lnSpcReduction="20000"/>
          </a:bodyPr>
          <a:lstStyle/>
          <a:p>
            <a:pPr>
              <a:buNone/>
            </a:pPr>
            <a:r>
              <a:rPr lang="de-DE" sz="37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37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void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validate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FacesContext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context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UIComponent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component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Object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value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)  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ValidatorException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{</a:t>
            </a:r>
          </a:p>
          <a:p>
            <a:pPr lvl="1">
              <a:buNone/>
            </a:pPr>
            <a:r>
              <a:rPr lang="de-DE" sz="3700" b="1" dirty="0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 </a:t>
            </a:r>
            <a:r>
              <a:rPr lang="de-DE" sz="3700" b="1" dirty="0" err="1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3700" b="1" dirty="0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3700" b="1" dirty="0" err="1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true</a:t>
            </a:r>
            <a:r>
              <a:rPr lang="de-DE" sz="3700" b="1" dirty="0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)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 lvl="1">
              <a:buNone/>
            </a:pP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        ...</a:t>
            </a:r>
          </a:p>
          <a:p>
            <a:pPr lvl="1">
              <a:buNone/>
            </a:pP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 }</a:t>
            </a:r>
          </a:p>
          <a:p>
            <a:pPr>
              <a:buNone/>
            </a:pP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endParaRPr lang="de-DE" sz="3000" b="1" dirty="0" smtClean="0">
              <a:solidFill>
                <a:srgbClr val="2045AC"/>
              </a:solidFill>
              <a:latin typeface="Lucida Console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de-DE" sz="37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List&lt;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Object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&gt; 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saveAnsprechpartnerList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(List&lt;Ansprechpartner&gt; 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ansprechpartners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) {</a:t>
            </a:r>
          </a:p>
          <a:p>
            <a:pPr>
              <a:buNone/>
            </a:pP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   </a:t>
            </a:r>
            <a:r>
              <a:rPr lang="de-DE" sz="37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try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buNone/>
            </a:pP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       </a:t>
            </a:r>
            <a:r>
              <a:rPr lang="de-DE" sz="37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for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(Ansprechpartner 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ansprechpartner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: 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ansprechpartners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) {</a:t>
            </a:r>
            <a:br>
              <a:rPr lang="de-DE" sz="3700" b="1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   </a:t>
            </a:r>
            <a:br>
              <a:rPr lang="de-DE" sz="3700" b="1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       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entityManager.merge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ansprechpartner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);</a:t>
            </a:r>
            <a:br>
              <a:rPr lang="de-DE" sz="3700" b="1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    }</a:t>
            </a:r>
          </a:p>
          <a:p>
            <a:pPr>
              <a:buNone/>
            </a:pP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   } </a:t>
            </a:r>
            <a:r>
              <a:rPr lang="de-DE" sz="37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catch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Exception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e) {</a:t>
            </a:r>
            <a:br>
              <a:rPr lang="de-DE" sz="3700" b="1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/>
            </a:r>
            <a:br>
              <a:rPr lang="de-DE" sz="3700" b="1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    </a:t>
            </a:r>
            <a:r>
              <a:rPr lang="de-DE" sz="3700" b="1" dirty="0" err="1" smtClean="0">
                <a:latin typeface="Lucida Console" pitchFamily="49" charset="0"/>
                <a:cs typeface="Courier New" pitchFamily="49" charset="0"/>
              </a:rPr>
              <a:t>log.error</a:t>
            </a: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(e);</a:t>
            </a:r>
            <a:br>
              <a:rPr lang="de-DE" sz="3700" b="1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}</a:t>
            </a:r>
          </a:p>
          <a:p>
            <a:pPr>
              <a:buNone/>
            </a:pP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    </a:t>
            </a:r>
            <a:r>
              <a:rPr lang="de-DE" sz="3700" b="1" dirty="0" err="1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3700" b="1" dirty="0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 null;</a:t>
            </a:r>
          </a:p>
          <a:p>
            <a:pPr>
              <a:buNone/>
            </a:pPr>
            <a:r>
              <a:rPr lang="de-DE" sz="3700" b="1" dirty="0" smtClean="0">
                <a:latin typeface="Lucida Console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de-DE" dirty="0" smtClean="0"/>
              <a:t/>
            </a:r>
            <a:br>
              <a:rPr lang="de-DE" dirty="0" smtClean="0"/>
            </a:br>
            <a:r>
              <a:rPr lang="de-DE" dirty="0" smtClean="0"/>
              <a:t/>
            </a:r>
            <a:br>
              <a:rPr lang="de-DE" dirty="0" smtClean="0"/>
            </a:br>
            <a:endParaRPr lang="de-DE" dirty="0"/>
          </a:p>
        </p:txBody>
      </p:sp>
      <p:sp>
        <p:nvSpPr>
          <p:cNvPr id="29" name="Rechteckige Legende 28"/>
          <p:cNvSpPr/>
          <p:nvPr/>
        </p:nvSpPr>
        <p:spPr>
          <a:xfrm>
            <a:off x="2469852" y="5261609"/>
            <a:ext cx="4664589" cy="587376"/>
          </a:xfrm>
          <a:prstGeom prst="wedgeRectCallout">
            <a:avLst>
              <a:gd name="adj1" fmla="val -47990"/>
              <a:gd name="adj2" fmla="val -175334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400" dirty="0" smtClean="0">
                <a:cs typeface="Courier New" pitchFamily="49" charset="0"/>
              </a:rPr>
              <a:t>Der </a:t>
            </a:r>
            <a:r>
              <a:rPr lang="de-DE" sz="1400" dirty="0" err="1" smtClean="0">
                <a:cs typeface="Courier New" pitchFamily="49" charset="0"/>
              </a:rPr>
              <a:t>Aufrufercode</a:t>
            </a:r>
            <a:r>
              <a:rPr lang="de-DE" sz="1400" dirty="0" smtClean="0">
                <a:cs typeface="Courier New" pitchFamily="49" charset="0"/>
              </a:rPr>
              <a:t> ist hier in der Praxis von einem sinnvollen Rückgabewert ausgegangen</a:t>
            </a:r>
          </a:p>
        </p:txBody>
      </p:sp>
      <p:sp>
        <p:nvSpPr>
          <p:cNvPr id="10" name="Date Placeholder 4"/>
          <p:cNvSpPr>
            <a:spLocks noGrp="1"/>
          </p:cNvSpPr>
          <p:nvPr>
            <p:ph type="dt" sz="half" idx="4294967295"/>
          </p:nvPr>
        </p:nvSpPr>
        <p:spPr>
          <a:xfrm>
            <a:off x="413401" y="6609522"/>
            <a:ext cx="2153180" cy="222251"/>
          </a:xfrm>
          <a:prstGeom prst="rect">
            <a:avLst/>
          </a:prstGeom>
        </p:spPr>
        <p:txBody>
          <a:bodyPr/>
          <a:lstStyle/>
          <a:p>
            <a:fld id="{44EBEBBE-9405-624B-9AF3-C41B36DD840F}" type="datetime4">
              <a:rPr lang="de-DE" sz="1100" smtClean="0">
                <a:solidFill>
                  <a:schemeClr val="bg1"/>
                </a:solidFill>
                <a:latin typeface="+mn-lt"/>
              </a:rPr>
              <a:pPr/>
              <a:t>18. Januar 2015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47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043" y="273536"/>
            <a:ext cx="8730261" cy="430887"/>
          </a:xfrm>
        </p:spPr>
        <p:txBody>
          <a:bodyPr/>
          <a:lstStyle/>
          <a:p>
            <a:r>
              <a:rPr lang="de-DE" b="1" dirty="0" smtClean="0"/>
              <a:t>Sinnlos aber nicht Harmlos – Teil 2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599583"/>
            <a:ext cx="577850" cy="252068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  <a:latin typeface="+mn-lt"/>
              </a:rPr>
              <a:pPr/>
              <a:t>59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13327" y="6589643"/>
            <a:ext cx="2419746" cy="271947"/>
          </a:xfrm>
        </p:spPr>
        <p:txBody>
          <a:bodyPr/>
          <a:lstStyle/>
          <a:p>
            <a:fld id="{44EBEBBE-9405-624B-9AF3-C41B36DD840F}" type="datetime4">
              <a:rPr lang="de-DE" sz="1100" smtClean="0">
                <a:solidFill>
                  <a:schemeClr val="bg1"/>
                </a:solidFill>
                <a:latin typeface="+mn-lt"/>
              </a:rPr>
              <a:pPr/>
              <a:t>18. Januar 2015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7" name="Inhaltsplatzhalter 26"/>
          <p:cNvSpPr>
            <a:spLocks noGrp="1"/>
          </p:cNvSpPr>
          <p:nvPr>
            <p:ph sz="quarter" idx="13"/>
          </p:nvPr>
        </p:nvSpPr>
        <p:spPr>
          <a:xfrm>
            <a:off x="316442" y="1089660"/>
            <a:ext cx="8949796" cy="513588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de-DE" sz="12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2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boolean</a:t>
            </a:r>
            <a:r>
              <a:rPr lang="de-DE" sz="12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is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(String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benutzername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) {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   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benutzer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200" b="1" dirty="0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null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   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boolean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istAngemeldet</a:t>
            </a:r>
            <a:r>
              <a:rPr lang="de-DE" sz="1200" b="1" dirty="0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200" b="1" dirty="0" err="1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false</a:t>
            </a:r>
            <a:r>
              <a:rPr lang="de-DE" sz="1200" b="1" dirty="0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   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EntityVector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&lt;Benutzer&gt;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entitiesBenutzer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2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new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EntityVector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&lt;Benutzer&gt;();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    </a:t>
            </a:r>
            <a:r>
              <a:rPr lang="de-DE" sz="12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// </a:t>
            </a:r>
            <a:r>
              <a:rPr lang="de-DE" sz="1200" b="1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Benutzer.getAll</a:t>
            </a:r>
            <a:r>
              <a:rPr lang="de-DE" sz="12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200" b="1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entityManager</a:t>
            </a:r>
            <a:r>
              <a:rPr lang="de-DE" sz="12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200" b="1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benutzername</a:t>
            </a:r>
            <a:r>
              <a:rPr lang="de-DE" sz="12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de-DE" sz="12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     ... weiterer auskommentierter Code ...</a:t>
            </a:r>
          </a:p>
          <a:p>
            <a:pPr>
              <a:buNone/>
            </a:pPr>
            <a:r>
              <a:rPr lang="de-DE" sz="12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     // }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    </a:t>
            </a:r>
            <a:r>
              <a:rPr lang="de-DE" sz="12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1200" b="1" dirty="0" err="1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entitiesBenutzer.size</a:t>
            </a:r>
            <a:r>
              <a:rPr lang="de-DE" sz="1200" b="1" dirty="0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() &gt; 1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) {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       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istAngemeldet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2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true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    }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    </a:t>
            </a:r>
            <a:r>
              <a:rPr lang="de-DE" sz="12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// Benutzer </a:t>
            </a:r>
            <a:r>
              <a:rPr lang="de-DE" sz="1200" b="1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tmpBenutzer</a:t>
            </a:r>
            <a:r>
              <a:rPr lang="de-DE" sz="12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200" b="1" dirty="0" err="1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entitiesBenutzer.firstElement</a:t>
            </a:r>
            <a:r>
              <a:rPr lang="de-DE" sz="12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r>
              <a:rPr lang="de-DE" sz="12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     ... weiterer auskommentierter Code ...</a:t>
            </a:r>
          </a:p>
          <a:p>
            <a:pPr>
              <a:buNone/>
            </a:pPr>
            <a:r>
              <a:rPr lang="de-DE" sz="1200" b="1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Lucida Console" pitchFamily="49" charset="0"/>
                <a:cs typeface="Courier New" pitchFamily="49" charset="0"/>
              </a:rPr>
              <a:t>     // }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    </a:t>
            </a:r>
            <a:r>
              <a:rPr lang="de-DE" sz="12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istAngemeldet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}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/>
            </a:r>
            <a:br>
              <a:rPr lang="de-DE" sz="1200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/>
            </a:r>
            <a:br>
              <a:rPr lang="de-DE" sz="1200" dirty="0" smtClean="0">
                <a:latin typeface="Lucida Console" pitchFamily="49" charset="0"/>
                <a:cs typeface="Courier New" pitchFamily="49" charset="0"/>
              </a:rPr>
            </a:br>
            <a:endParaRPr lang="de-DE" sz="1200" dirty="0">
              <a:latin typeface="Lucida Console" pitchFamily="49" charset="0"/>
              <a:cs typeface="Courier New" pitchFamily="49" charset="0"/>
            </a:endParaRPr>
          </a:p>
        </p:txBody>
      </p:sp>
      <p:sp>
        <p:nvSpPr>
          <p:cNvPr id="8" name="Rechteckige Legende 7"/>
          <p:cNvSpPr/>
          <p:nvPr/>
        </p:nvSpPr>
        <p:spPr>
          <a:xfrm>
            <a:off x="5347151" y="5724263"/>
            <a:ext cx="4305774" cy="587376"/>
          </a:xfrm>
          <a:prstGeom prst="wedgeRectCallout">
            <a:avLst>
              <a:gd name="adj1" fmla="val -20752"/>
              <a:gd name="adj2" fmla="val -5011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400" dirty="0" smtClean="0"/>
              <a:t>Diese Methode gibt unabhängig vom Benutzernamen immer FALSE zurück.</a:t>
            </a:r>
          </a:p>
        </p:txBody>
      </p:sp>
    </p:spTree>
    <p:extLst>
      <p:ext uri="{BB962C8B-B14F-4D97-AF65-F5344CB8AC3E}">
        <p14:creationId xmlns:p14="http://schemas.microsoft.com/office/powerpoint/2010/main" val="370095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104" y="263597"/>
            <a:ext cx="8740200" cy="430887"/>
          </a:xfrm>
        </p:spPr>
        <p:txBody>
          <a:bodyPr/>
          <a:lstStyle/>
          <a:p>
            <a:r>
              <a:rPr lang="de-DE" b="1" dirty="0" smtClean="0"/>
              <a:t>Sinnlos aber nicht Harmlos – Teil 3</a:t>
            </a:r>
            <a:endParaRPr lang="de-D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9266238" y="6579704"/>
            <a:ext cx="577850" cy="271947"/>
          </a:xfrm>
        </p:spPr>
        <p:txBody>
          <a:bodyPr/>
          <a:lstStyle/>
          <a:p>
            <a:fld id="{EBCCEB8C-0C59-3646-8774-4E9611D20F23}" type="slidenum">
              <a:rPr lang="de-DE" sz="1100" smtClean="0">
                <a:solidFill>
                  <a:schemeClr val="bg1"/>
                </a:solidFill>
                <a:latin typeface="+mn-lt"/>
              </a:rPr>
              <a:pPr/>
              <a:t>60</a:t>
            </a:fld>
            <a:endParaRPr lang="de-DE" sz="11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413327" y="6589643"/>
            <a:ext cx="2419746" cy="262008"/>
          </a:xfrm>
        </p:spPr>
        <p:txBody>
          <a:bodyPr/>
          <a:lstStyle/>
          <a:p>
            <a:fld id="{44EBEBBE-9405-624B-9AF3-C41B36DD840F}" type="datetime4">
              <a:rPr lang="de-DE" sz="110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/>
              <a:t>18. Januar 2015</a:t>
            </a:fld>
            <a:endParaRPr lang="de-DE" sz="1100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dirty="0" smtClean="0"/>
              <a:t>Software Museum: Gruselkabinett</a:t>
            </a:r>
          </a:p>
          <a:p>
            <a:endParaRPr lang="de-DE" dirty="0"/>
          </a:p>
        </p:txBody>
      </p:sp>
      <p:sp>
        <p:nvSpPr>
          <p:cNvPr id="27" name="Inhaltsplatzhalter 26"/>
          <p:cNvSpPr>
            <a:spLocks noGrp="1"/>
          </p:cNvSpPr>
          <p:nvPr>
            <p:ph sz="quarter" idx="13"/>
          </p:nvPr>
        </p:nvSpPr>
        <p:spPr>
          <a:xfrm>
            <a:off x="316442" y="1089660"/>
            <a:ext cx="8949796" cy="513588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de-DE" sz="12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public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synchronized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String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rejectTask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(Task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task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TaskInfo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taskInfo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, Long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userId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) </a:t>
            </a:r>
            <a:r>
              <a:rPr lang="de-DE" sz="12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throws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ApplicationLayerException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    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task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entityManager.find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Task.class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task.getId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());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    </a:t>
            </a:r>
            <a:r>
              <a:rPr lang="de-DE" sz="12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(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task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== null) {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        </a:t>
            </a:r>
            <a:r>
              <a:rPr lang="de-DE" sz="12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"Diese Aufgabe konnte nicht beendet werden."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    }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    </a:t>
            </a:r>
            <a:r>
              <a:rPr lang="de-DE" sz="12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if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200" b="1" dirty="0" err="1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Task.Status.Offen.equals</a:t>
            </a:r>
            <a:r>
              <a:rPr lang="de-DE" sz="1200" b="1" dirty="0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200" b="1" dirty="0" err="1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task.getStatus</a:t>
            </a:r>
            <a:r>
              <a:rPr lang="de-DE" sz="1200" b="1" dirty="0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())) {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        Benutzer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benutzer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=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getBenutzerById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userId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        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TaskManager.reject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(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entityManager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benutzer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task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, </a:t>
            </a:r>
            <a:r>
              <a:rPr lang="de-DE" sz="1200" b="1" dirty="0" err="1" smtClean="0">
                <a:latin typeface="Lucida Console" pitchFamily="49" charset="0"/>
                <a:cs typeface="Courier New" pitchFamily="49" charset="0"/>
              </a:rPr>
              <a:t>taskInfo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        </a:t>
            </a:r>
            <a:r>
              <a:rPr lang="de-DE" sz="1200" b="1" dirty="0" err="1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1200" b="1" dirty="0" smtClean="0">
                <a:solidFill>
                  <a:srgbClr val="FF0000"/>
                </a:solidFill>
                <a:latin typeface="Lucida Console" pitchFamily="49" charset="0"/>
                <a:cs typeface="Courier New" pitchFamily="49" charset="0"/>
              </a:rPr>
              <a:t> null;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    } </a:t>
            </a:r>
            <a:r>
              <a:rPr lang="de-DE" sz="12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else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{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        </a:t>
            </a:r>
            <a:r>
              <a:rPr lang="de-DE" sz="1200" b="1" dirty="0" err="1" smtClean="0">
                <a:solidFill>
                  <a:srgbClr val="2045AC"/>
                </a:solidFill>
                <a:latin typeface="Lucida Console" pitchFamily="49" charset="0"/>
                <a:cs typeface="Courier New" pitchFamily="49" charset="0"/>
              </a:rPr>
              <a:t>return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 </a:t>
            </a:r>
            <a:r>
              <a:rPr lang="de-DE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"Die Aufgabe konnte nicht abgelehnt werden, da diese in der Zwischenzeit </a:t>
            </a:r>
            <a:br>
              <a:rPr lang="de-DE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</a:br>
            <a:r>
              <a:rPr lang="de-DE" sz="1200" b="1" dirty="0" smtClean="0">
                <a:solidFill>
                  <a:srgbClr val="009644"/>
                </a:solidFill>
                <a:latin typeface="Lucida Console" pitchFamily="49" charset="0"/>
                <a:cs typeface="Courier New" pitchFamily="49" charset="0"/>
              </a:rPr>
              <a:t>		    bereits erledigt wurde."</a:t>
            </a: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;</a:t>
            </a:r>
          </a:p>
          <a:p>
            <a:pPr>
              <a:buNone/>
            </a:pPr>
            <a:r>
              <a:rPr lang="de-DE" sz="1200" b="1" dirty="0" smtClean="0">
                <a:latin typeface="Lucida Console" pitchFamily="49" charset="0"/>
                <a:cs typeface="Courier New" pitchFamily="49" charset="0"/>
              </a:rPr>
              <a:t>  </a:t>
            </a: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  }</a:t>
            </a:r>
          </a:p>
          <a:p>
            <a:pPr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>}</a:t>
            </a:r>
          </a:p>
          <a:p>
            <a:pPr>
              <a:buNone/>
            </a:pP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/>
            </a:r>
            <a:br>
              <a:rPr lang="de-DE" sz="1200" dirty="0" smtClean="0">
                <a:latin typeface="Lucida Console" pitchFamily="49" charset="0"/>
                <a:cs typeface="Courier New" pitchFamily="49" charset="0"/>
              </a:rPr>
            </a:br>
            <a:r>
              <a:rPr lang="de-DE" sz="1200" dirty="0" smtClean="0">
                <a:latin typeface="Lucida Console" pitchFamily="49" charset="0"/>
                <a:cs typeface="Courier New" pitchFamily="49" charset="0"/>
              </a:rPr>
              <a:t/>
            </a:r>
            <a:br>
              <a:rPr lang="de-DE" sz="1200" dirty="0" smtClean="0">
                <a:latin typeface="Lucida Console" pitchFamily="49" charset="0"/>
                <a:cs typeface="Courier New" pitchFamily="49" charset="0"/>
              </a:rPr>
            </a:br>
            <a:endParaRPr lang="de-DE" sz="1200" dirty="0">
              <a:latin typeface="Lucida Console" pitchFamily="49" charset="0"/>
              <a:cs typeface="Courier New" pitchFamily="49" charset="0"/>
            </a:endParaRPr>
          </a:p>
        </p:txBody>
      </p:sp>
      <p:sp>
        <p:nvSpPr>
          <p:cNvPr id="8" name="Rechteckige Legende 7"/>
          <p:cNvSpPr/>
          <p:nvPr/>
        </p:nvSpPr>
        <p:spPr>
          <a:xfrm>
            <a:off x="5347151" y="5754080"/>
            <a:ext cx="4305774" cy="587376"/>
          </a:xfrm>
          <a:prstGeom prst="wedgeRectCallout">
            <a:avLst>
              <a:gd name="adj1" fmla="val -20752"/>
              <a:gd name="adj2" fmla="val -5011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de-DE" sz="1400" dirty="0" smtClean="0"/>
              <a:t>Die Methode gibt NULL zurück wenn sie erfolgreich durchläuft. Ansonsten eine Fehlermeldung</a:t>
            </a:r>
          </a:p>
        </p:txBody>
      </p:sp>
    </p:spTree>
    <p:extLst>
      <p:ext uri="{BB962C8B-B14F-4D97-AF65-F5344CB8AC3E}">
        <p14:creationId xmlns:p14="http://schemas.microsoft.com/office/powerpoint/2010/main" val="2444484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rvice_demo">
  <a:themeElements>
    <a:clrScheme name="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C5C1B9"/>
      </a:accent1>
      <a:accent2>
        <a:srgbClr val="0052BA"/>
      </a:accent2>
      <a:accent3>
        <a:srgbClr val="FFFFFF"/>
      </a:accent3>
      <a:accent4>
        <a:srgbClr val="000000"/>
      </a:accent4>
      <a:accent5>
        <a:srgbClr val="DFDDD9"/>
      </a:accent5>
      <a:accent6>
        <a:srgbClr val="0049A8"/>
      </a:accent6>
      <a:hlink>
        <a:srgbClr val="FF0000"/>
      </a:hlink>
      <a:folHlink>
        <a:srgbClr val="FFCC00"/>
      </a:folHlink>
    </a:clrScheme>
    <a:fontScheme name="service_dem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DECFF"/>
        </a:solidFill>
        <a:ln w="9525">
          <a:solidFill>
            <a:schemeClr val="tx1"/>
          </a:solidFill>
          <a:miter lim="800000"/>
          <a:headEnd/>
          <a:tailEnd/>
        </a:ln>
      </a:spPr>
      <a:bodyPr wrap="none" anchor="ctr"/>
      <a:lstStyle>
        <a:defPPr algn="ctr">
          <a:buClrTx/>
          <a:buFontTx/>
          <a:buNone/>
          <a:defRPr sz="1400" b="1"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CFFFF">
            <a:alpha val="50000"/>
          </a:srgbClr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chemeClr val="tx1"/>
          </a:buClr>
          <a:buSzTx/>
          <a:buFont typeface="Wingdings" pitchFamily="2" charset="2"/>
          <a:buNone/>
          <a:tabLst/>
          <a:defRPr kumimoji="0" lang="en-US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</a:defRPr>
        </a:defPPr>
      </a:lstStyle>
    </a:lnDef>
  </a:objectDefaults>
  <a:extraClrSchemeLst>
    <a:extraClrScheme>
      <a:clrScheme name="service_demo 1">
        <a:dk1>
          <a:srgbClr val="5F5F5F"/>
        </a:dk1>
        <a:lt1>
          <a:srgbClr val="FFFFFF"/>
        </a:lt1>
        <a:dk2>
          <a:srgbClr val="000000"/>
        </a:dk2>
        <a:lt2>
          <a:srgbClr val="333333"/>
        </a:lt2>
        <a:accent1>
          <a:srgbClr val="009999"/>
        </a:accent1>
        <a:accent2>
          <a:srgbClr val="0033CC"/>
        </a:accent2>
        <a:accent3>
          <a:srgbClr val="FFFFFF"/>
        </a:accent3>
        <a:accent4>
          <a:srgbClr val="505050"/>
        </a:accent4>
        <a:accent5>
          <a:srgbClr val="AACACA"/>
        </a:accent5>
        <a:accent6>
          <a:srgbClr val="002DB9"/>
        </a:accent6>
        <a:hlink>
          <a:srgbClr val="CC0066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D:\memIQ\Application\Demos\service_demo.pot</Template>
  <TotalTime>0</TotalTime>
  <Words>4136</Words>
  <Application>Microsoft Office PowerPoint</Application>
  <PresentationFormat>A4-Papier (210x297 mm)</PresentationFormat>
  <Paragraphs>1403</Paragraphs>
  <Slides>60</Slides>
  <Notes>60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60</vt:i4>
      </vt:variant>
    </vt:vector>
  </HeadingPairs>
  <TitlesOfParts>
    <vt:vector size="68" baseType="lpstr">
      <vt:lpstr>Arial</vt:lpstr>
      <vt:lpstr>Consolas</vt:lpstr>
      <vt:lpstr>Courier New</vt:lpstr>
      <vt:lpstr>Lucida Console</vt:lpstr>
      <vt:lpstr>Times</vt:lpstr>
      <vt:lpstr>Wingdings</vt:lpstr>
      <vt:lpstr>Zapf Dingbats</vt:lpstr>
      <vt:lpstr>service_demo</vt:lpstr>
      <vt:lpstr>Programmieren 3</vt:lpstr>
      <vt:lpstr>Software Museum: Gruselkabinett Anti-Patterns aus dem Projekt-Alltag</vt:lpstr>
      <vt:lpstr>Agenda</vt:lpstr>
      <vt:lpstr>Wie und warum entsteht Dirty Code? Erklärungsversuche … </vt:lpstr>
      <vt:lpstr>Agenda</vt:lpstr>
      <vt:lpstr>Wähle Namen bewusst und nicht zufällig …</vt:lpstr>
      <vt:lpstr>Keinen Rattenschwanz als Klassen-Namen</vt:lpstr>
      <vt:lpstr>"Kurze Namen sparen Platz“</vt:lpstr>
      <vt:lpstr>Wieso anschnallen? Wer oder was ist „schnulli“ ?</vt:lpstr>
      <vt:lpstr>Verdammt, Jürgen!</vt:lpstr>
      <vt:lpstr>Agenda</vt:lpstr>
      <vt:lpstr>"Vielleicht brauchen wir es später noch“</vt:lpstr>
      <vt:lpstr>„PRIO1-3 @all“</vt:lpstr>
      <vt:lpstr>Formatierung und Strukturierung</vt:lpstr>
      <vt:lpstr>Agenda</vt:lpstr>
      <vt:lpstr>„Kreativität in der Namensgebung“  </vt:lpstr>
      <vt:lpstr>„This method is too complex to analyze.“</vt:lpstr>
      <vt:lpstr>Hey Dummy, may the force be with you</vt:lpstr>
      <vt:lpstr>Agenda</vt:lpstr>
      <vt:lpstr>Matroschka Interfaces und Klassen</vt:lpstr>
      <vt:lpstr>„Generrhoe“</vt:lpstr>
      <vt:lpstr>Generic Deep Clone vs. Copy Constructor</vt:lpstr>
      <vt:lpstr>The Almighty Manager-Facade</vt:lpstr>
      <vt:lpstr>Agenda</vt:lpstr>
      <vt:lpstr>Valide Programmierung …</vt:lpstr>
      <vt:lpstr>Die dunkle Seite der Java Zeitrechnung hat begonnen</vt:lpstr>
      <vt:lpstr>Implementierung einer eignen Date-API mit allen verbunden Problemen</vt:lpstr>
      <vt:lpstr>Wenn nicht die org. API, dann aber eine ausgereifte und durchdachte Bibliothek wie z. B. Joda Time</vt:lpstr>
      <vt:lpstr>Und wenn doch die originale (und recht schlechte) API, dann bitte dies nicht noch mit solchen Code übertrumpfen</vt:lpstr>
      <vt:lpstr>Byte-weises Kopieren einer Datei mittels For-Schleife</vt:lpstr>
      <vt:lpstr>Byte-weises Kopieren einer Datei mittels For-Schleife</vt:lpstr>
      <vt:lpstr>Korrektes Leer-String Handling ist nicht schwierig</vt:lpstr>
      <vt:lpstr>Korrektes Leer-String Handling ist nicht schwierig</vt:lpstr>
      <vt:lpstr>„Catch NullPointerException“</vt:lpstr>
      <vt:lpstr>Da bekommt man echt Zustände (1)</vt:lpstr>
      <vt:lpstr>Da bekommt man echt Zustände (2)</vt:lpstr>
      <vt:lpstr>Agenda</vt:lpstr>
      <vt:lpstr>Lösungsansätze schauen so nicht aus!</vt:lpstr>
      <vt:lpstr>Wie schreibt man nun sauberen Code? </vt:lpstr>
      <vt:lpstr>Backup</vt:lpstr>
      <vt:lpstr>"Die erste Version ist die beste Version„</vt:lpstr>
      <vt:lpstr>"Die erste Version ist die beste Version" (WIP, Version 1.0.1)</vt:lpstr>
      <vt:lpstr>"Die erste Version ist die beste Version" (WIP, Version 1.0.1)</vt:lpstr>
      <vt:lpstr>"Die erste Version ist die beste Version" (WIP, Version 1.0.2)</vt:lpstr>
      <vt:lpstr>"Die erste Version ist die beste Version" (WIP, Version 1.0.2)</vt:lpstr>
      <vt:lpstr>"Die erste Version ist die beste Version" (WIP, Version 1.0.3)</vt:lpstr>
      <vt:lpstr>"Die erste Version ist die beste Version" (WIP, Version 1.0.3)</vt:lpstr>
      <vt:lpstr>"Die erste Version ist die beste Version" (WIP, Version 1.0.3)</vt:lpstr>
      <vt:lpstr>"Die erste Version ist die beste Version" (WIP, Version 1.0.3)</vt:lpstr>
      <vt:lpstr>"Die erste Version ist die beste Version" (WIP, Version 1.0.4)</vt:lpstr>
      <vt:lpstr>"Die erste Version ist die beste Version" (WIP, Version 1.0.4)</vt:lpstr>
      <vt:lpstr>"Die erste Version ist die beste Version" (WIP, Version 1.0.4)</vt:lpstr>
      <vt:lpstr>"Die erste Version ist die beste Version" (WIP, Version 1.0.5)</vt:lpstr>
      <vt:lpstr>"Die erste Version ist die beste Version" (WIP, Version 1.0.5)</vt:lpstr>
      <vt:lpstr>"Die erste Version ist die beste Version" (WIP, Version 1.0.6)</vt:lpstr>
      <vt:lpstr>"Die erste Version ist die beste Version" (WIP, Version 1.0.7)</vt:lpstr>
      <vt:lpstr>"Die erste Version ist die beste Version" (Refactored, Version 1.1)</vt:lpstr>
      <vt:lpstr>Sinnlos aber nicht Harmlos – Teil 1</vt:lpstr>
      <vt:lpstr>Sinnlos aber nicht Harmlos – Teil 2</vt:lpstr>
      <vt:lpstr>Sinnlos aber nicht Harmlos – Teil 3</vt:lpstr>
    </vt:vector>
  </TitlesOfParts>
  <Company>FH Rosenheim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Programmieren 2</dc:title>
  <dc:creator>Reiner Hüttl</dc:creator>
  <cp:lastModifiedBy>Martin Binder</cp:lastModifiedBy>
  <cp:revision>691</cp:revision>
  <cp:lastPrinted>2013-01-07T22:18:32Z</cp:lastPrinted>
  <dcterms:created xsi:type="dcterms:W3CDTF">1999-09-08T07:38:49Z</dcterms:created>
  <dcterms:modified xsi:type="dcterms:W3CDTF">2015-01-18T17:49:14Z</dcterms:modified>
</cp:coreProperties>
</file>