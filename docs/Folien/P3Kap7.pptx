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35"/>
  </p:notesMasterIdLst>
  <p:handoutMasterIdLst>
    <p:handoutMasterId r:id="rId36"/>
  </p:handoutMasterIdLst>
  <p:sldIdLst>
    <p:sldId id="374" r:id="rId2"/>
    <p:sldId id="601" r:id="rId3"/>
    <p:sldId id="603" r:id="rId4"/>
    <p:sldId id="604" r:id="rId5"/>
    <p:sldId id="606" r:id="rId6"/>
    <p:sldId id="608" r:id="rId7"/>
    <p:sldId id="609" r:id="rId8"/>
    <p:sldId id="610" r:id="rId9"/>
    <p:sldId id="618" r:id="rId10"/>
    <p:sldId id="620" r:id="rId11"/>
    <p:sldId id="621" r:id="rId12"/>
    <p:sldId id="622" r:id="rId13"/>
    <p:sldId id="623" r:id="rId14"/>
    <p:sldId id="624" r:id="rId15"/>
    <p:sldId id="625" r:id="rId16"/>
    <p:sldId id="626" r:id="rId17"/>
    <p:sldId id="633" r:id="rId18"/>
    <p:sldId id="634" r:id="rId19"/>
    <p:sldId id="635" r:id="rId20"/>
    <p:sldId id="636" r:id="rId21"/>
    <p:sldId id="637" r:id="rId22"/>
    <p:sldId id="638" r:id="rId23"/>
    <p:sldId id="639" r:id="rId24"/>
    <p:sldId id="640" r:id="rId25"/>
    <p:sldId id="641" r:id="rId26"/>
    <p:sldId id="642" r:id="rId27"/>
    <p:sldId id="643" r:id="rId28"/>
    <p:sldId id="644" r:id="rId29"/>
    <p:sldId id="645" r:id="rId30"/>
    <p:sldId id="646" r:id="rId31"/>
    <p:sldId id="647" r:id="rId32"/>
    <p:sldId id="649" r:id="rId33"/>
    <p:sldId id="648" r:id="rId34"/>
  </p:sldIdLst>
  <p:sldSz cx="9906000" cy="6858000" type="A4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8">
          <p15:clr>
            <a:srgbClr val="A4A3A4"/>
          </p15:clr>
        </p15:guide>
        <p15:guide id="2" pos="1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FF99"/>
    <a:srgbClr val="CCFFCC"/>
    <a:srgbClr val="FF7C80"/>
    <a:srgbClr val="99FF66"/>
    <a:srgbClr val="FFCC99"/>
    <a:srgbClr val="CC3300"/>
    <a:srgbClr val="C0C0C0"/>
    <a:srgbClr val="9C9C9C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83618" autoAdjust="0"/>
  </p:normalViewPr>
  <p:slideViewPr>
    <p:cSldViewPr snapToGrid="0">
      <p:cViewPr varScale="1">
        <p:scale>
          <a:sx n="104" d="100"/>
          <a:sy n="104" d="100"/>
        </p:scale>
        <p:origin x="1500" y="114"/>
      </p:cViewPr>
      <p:guideLst>
        <p:guide orient="horz" pos="1318"/>
        <p:guide pos="1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1524" y="360"/>
      </p:cViewPr>
      <p:guideLst>
        <p:guide orient="horz" pos="3224"/>
        <p:guide pos="22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t" anchorCtr="0" compatLnSpc="1">
            <a:prstTxWarp prst="textNoShape">
              <a:avLst/>
            </a:prstTxWarp>
          </a:bodyPr>
          <a:lstStyle>
            <a:lvl1pPr defTabSz="962025">
              <a:buClrTx/>
              <a:buFontTx/>
              <a:buNone/>
              <a:defRPr sz="1300" smtClean="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t" anchorCtr="0" compatLnSpc="1">
            <a:prstTxWarp prst="textNoShape">
              <a:avLst/>
            </a:prstTxWarp>
          </a:bodyPr>
          <a:lstStyle>
            <a:lvl1pPr algn="r" defTabSz="962025">
              <a:buClrTx/>
              <a:buFontTx/>
              <a:buNone/>
              <a:defRPr sz="1300" smtClean="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b" anchorCtr="0" compatLnSpc="1">
            <a:prstTxWarp prst="textNoShape">
              <a:avLst/>
            </a:prstTxWarp>
          </a:bodyPr>
          <a:lstStyle>
            <a:lvl1pPr defTabSz="962025">
              <a:buClrTx/>
              <a:buFontTx/>
              <a:buNone/>
              <a:defRPr sz="1300" smtClean="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b" anchorCtr="0" compatLnSpc="1">
            <a:prstTxWarp prst="textNoShape">
              <a:avLst/>
            </a:prstTxWarp>
          </a:bodyPr>
          <a:lstStyle>
            <a:lvl1pPr algn="r" defTabSz="962025">
              <a:buClrTx/>
              <a:buFontTx/>
              <a:buNone/>
              <a:defRPr sz="1300" smtClean="0">
                <a:latin typeface="Times" charset="0"/>
              </a:defRPr>
            </a:lvl1pPr>
          </a:lstStyle>
          <a:p>
            <a:pPr>
              <a:defRPr/>
            </a:pPr>
            <a:fld id="{BAD3F0AD-45F5-4D7F-980A-98F9C1364F7F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2118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ctr" anchorCtr="0" compatLnSpc="1">
            <a:prstTxWarp prst="textNoShape">
              <a:avLst/>
            </a:prstTxWarp>
          </a:bodyPr>
          <a:lstStyle>
            <a:lvl1pPr defTabSz="962025">
              <a:spcBef>
                <a:spcPct val="50000"/>
              </a:spcBef>
              <a:buClr>
                <a:srgbClr val="6699FF"/>
              </a:buClr>
              <a:buFont typeface="Zapf Dingbats" charset="2"/>
              <a:buChar char="n"/>
              <a:defRPr sz="1300" b="1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ctr" anchorCtr="0" compatLnSpc="1">
            <a:prstTxWarp prst="textNoShape">
              <a:avLst/>
            </a:prstTxWarp>
          </a:bodyPr>
          <a:lstStyle>
            <a:lvl1pPr algn="r" defTabSz="962025">
              <a:spcBef>
                <a:spcPct val="50000"/>
              </a:spcBef>
              <a:buClr>
                <a:srgbClr val="6699FF"/>
              </a:buClr>
              <a:buFont typeface="Zapf Dingbats" charset="2"/>
              <a:buChar char="n"/>
              <a:defRPr sz="1300" b="1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9463" y="768350"/>
            <a:ext cx="554196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04900" y="5116513"/>
            <a:ext cx="5203825" cy="43497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b" anchorCtr="0" compatLnSpc="1">
            <a:prstTxWarp prst="textNoShape">
              <a:avLst/>
            </a:prstTxWarp>
          </a:bodyPr>
          <a:lstStyle>
            <a:lvl1pPr defTabSz="962025">
              <a:spcBef>
                <a:spcPct val="50000"/>
              </a:spcBef>
              <a:buClr>
                <a:srgbClr val="6699FF"/>
              </a:buClr>
              <a:buFont typeface="Zapf Dingbats" charset="2"/>
              <a:buChar char="n"/>
              <a:defRPr sz="1300" b="1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b" anchorCtr="0" compatLnSpc="1">
            <a:prstTxWarp prst="textNoShape">
              <a:avLst/>
            </a:prstTxWarp>
          </a:bodyPr>
          <a:lstStyle>
            <a:lvl1pPr algn="r" defTabSz="962025">
              <a:spcBef>
                <a:spcPct val="50000"/>
              </a:spcBef>
              <a:buClr>
                <a:srgbClr val="6699FF"/>
              </a:buClr>
              <a:buFont typeface="Zapf Dingbats" charset="2"/>
              <a:buChar char="n"/>
              <a:defRPr sz="1300" b="1" smtClean="0">
                <a:latin typeface="Arial" pitchFamily="34" charset="0"/>
              </a:defRPr>
            </a:lvl1pPr>
          </a:lstStyle>
          <a:p>
            <a:pPr>
              <a:defRPr/>
            </a:pPr>
            <a:fld id="{6B0022A2-3F7F-4A57-AEC3-FF68DC5EDC8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8798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31B576-75B7-4EF8-BEE2-43928A40DE4B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40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91349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183AD0-FE87-44B6-BC73-5B5668FF48B8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419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419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59338"/>
            <a:ext cx="5203825" cy="4605337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124" tIns="47562" rIns="95124" bIns="47562" anchor="t"/>
          <a:lstStyle/>
          <a:p>
            <a:pPr marL="101600" indent="-101600"/>
            <a:r>
              <a:rPr lang="de-DE" dirty="0" smtClean="0"/>
              <a:t>Thread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Control</a:t>
            </a:r>
            <a:r>
              <a:rPr lang="de-DE" dirty="0" smtClean="0"/>
              <a:t>: Pfad, den ein Programm bei der Ausführung nimmt.</a:t>
            </a:r>
          </a:p>
          <a:p>
            <a:pPr marL="101600" indent="-101600"/>
            <a:r>
              <a:rPr lang="de-DE" dirty="0" smtClean="0"/>
              <a:t>Sequentieller Ablauf: Zu jedem Zeitpunkt wird genau eine Anweisung ausgeführt oder es wird auf etwas gewartet. </a:t>
            </a:r>
          </a:p>
          <a:p>
            <a:pPr marL="101600" indent="-101600"/>
            <a:endParaRPr lang="de-DE" dirty="0" smtClean="0"/>
          </a:p>
          <a:p>
            <a:pPr marL="101600" indent="-101600"/>
            <a:r>
              <a:rPr lang="de-DE" dirty="0" smtClean="0"/>
              <a:t>Threads erlauben einem Programm, mehrere Aufgaben gleichzeitig zu erfüllen:</a:t>
            </a:r>
          </a:p>
          <a:p>
            <a:pPr marL="571500" lvl="1" indent="-114300"/>
            <a:r>
              <a:rPr lang="de-DE" dirty="0" smtClean="0"/>
              <a:t>Email schreiben, während man gerade empfangene Emails vom Server holt.</a:t>
            </a:r>
          </a:p>
          <a:p>
            <a:pPr marL="571500" lvl="1" indent="-114300"/>
            <a:r>
              <a:rPr lang="de-DE" dirty="0" smtClean="0"/>
              <a:t>Eine Web-Seite scrollen, während sich gerade noch die Grafiken aufbauen.</a:t>
            </a:r>
          </a:p>
          <a:p>
            <a:pPr marL="571500" lvl="1" indent="-114300"/>
            <a:r>
              <a:rPr lang="de-DE" dirty="0" smtClean="0"/>
              <a:t>Im Hintergrund drucken, während man ein Dokument editiert.</a:t>
            </a:r>
          </a:p>
        </p:txBody>
      </p:sp>
    </p:spTree>
    <p:extLst>
      <p:ext uri="{BB962C8B-B14F-4D97-AF65-F5344CB8AC3E}">
        <p14:creationId xmlns:p14="http://schemas.microsoft.com/office/powerpoint/2010/main" val="3968214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265DB5-8105-4F03-8676-2A3A3A58CE7B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440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440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r>
              <a:rPr lang="de-DE" smtClean="0"/>
              <a:t>Bessere Interaktion mit dem Benutzer durch dedizierte Threads für Benutzereingabe und -ausgabe</a:t>
            </a:r>
          </a:p>
          <a:p>
            <a:endParaRPr lang="de-DE" smtClean="0"/>
          </a:p>
          <a:p>
            <a:r>
              <a:rPr lang="de-DE" smtClean="0"/>
              <a:t>Es ist gut, dass Threads Bestandteil der Sprache sind, daher ist der Einstieg leicht, aber der Umgang mit den Threads bleibt trotzdem schwer zu beherrschen</a:t>
            </a:r>
          </a:p>
        </p:txBody>
      </p:sp>
    </p:spTree>
    <p:extLst>
      <p:ext uri="{BB962C8B-B14F-4D97-AF65-F5344CB8AC3E}">
        <p14:creationId xmlns:p14="http://schemas.microsoft.com/office/powerpoint/2010/main" val="1519863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A31ACF-F955-471E-B0FE-8A25ADEBD915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450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450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r>
              <a:rPr lang="de-DE" dirty="0" smtClean="0"/>
              <a:t> weitere Threads die von VM gestartet werden: </a:t>
            </a:r>
            <a:r>
              <a:rPr lang="de-DE" dirty="0" err="1" smtClean="0"/>
              <a:t>ScreenUpdater</a:t>
            </a:r>
            <a:r>
              <a:rPr lang="de-DE" dirty="0" smtClean="0"/>
              <a:t>, </a:t>
            </a:r>
            <a:r>
              <a:rPr lang="de-DE" dirty="0" err="1" smtClean="0"/>
              <a:t>Finalizer</a:t>
            </a:r>
            <a:r>
              <a:rPr lang="de-DE" dirty="0" smtClean="0"/>
              <a:t>, Win32CallBack,…</a:t>
            </a:r>
          </a:p>
        </p:txBody>
      </p:sp>
    </p:spTree>
    <p:extLst>
      <p:ext uri="{BB962C8B-B14F-4D97-AF65-F5344CB8AC3E}">
        <p14:creationId xmlns:p14="http://schemas.microsoft.com/office/powerpoint/2010/main" val="4101905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4F15D3-B314-4E83-970A-EE3F9D7A8A86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471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471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r>
              <a:rPr lang="de-DE" smtClean="0"/>
              <a:t>Insbesondere können Threads mit einer hohen Rechenlast vor Threads mit geringer Rechenlast fertig werden </a:t>
            </a:r>
            <a:r>
              <a:rPr lang="de-DE" smtClean="0">
                <a:sym typeface="Wingdings" pitchFamily="2" charset="2"/>
              </a:rPr>
              <a:t> Annahmen dieser Art müssen vermieden werden.</a:t>
            </a:r>
          </a:p>
          <a:p>
            <a:r>
              <a:rPr lang="de-DE" smtClean="0">
                <a:sym typeface="Wingdings" pitchFamily="2" charset="2"/>
              </a:rPr>
              <a:t>in OO-Designs nicht für jedes Objekt einen eigenen Thread starten, sondern nur dann wenn es Sinn macht (z.B. bei asynchronen Aufrufen).</a:t>
            </a:r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554126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29A68E-B009-462C-8DE3-89F2A31A5DD5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491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491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59338"/>
            <a:ext cx="5203825" cy="4605337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124" tIns="47562" rIns="95124" bIns="47562" anchor="t"/>
          <a:lstStyle/>
          <a:p>
            <a:pPr marL="101600" indent="-101600"/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2344664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CAA418-4DE7-4C0A-9A30-21A983DA19A9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501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501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59338"/>
            <a:ext cx="5203825" cy="4605337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124" tIns="47562" rIns="95124" bIns="47562" anchor="t"/>
          <a:lstStyle/>
          <a:p>
            <a:pPr marL="101600" indent="-101600"/>
            <a:r>
              <a:rPr lang="de-DE" smtClean="0"/>
              <a:t>In der 2. Version muss dann eine Instanz der Runnable-Klasse an den Konstruktor von Thread übergeben werden.</a:t>
            </a:r>
          </a:p>
          <a:p>
            <a:pPr marL="101600" indent="-101600"/>
            <a:endParaRPr lang="de-DE" smtClean="0"/>
          </a:p>
          <a:p>
            <a:pPr marL="101600" indent="-101600"/>
            <a:r>
              <a:rPr lang="de-DE" smtClean="0"/>
              <a:t>Welche Version sollte man benutzen? Eigentlich Geschmackssache, jedoch kann man argumentieren, dass die Interface-Lösung nach OO-Kriterien sauberer ist.</a:t>
            </a:r>
          </a:p>
        </p:txBody>
      </p:sp>
    </p:spTree>
    <p:extLst>
      <p:ext uri="{BB962C8B-B14F-4D97-AF65-F5344CB8AC3E}">
        <p14:creationId xmlns:p14="http://schemas.microsoft.com/office/powerpoint/2010/main" val="771461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637AC3-66F7-4EAE-8B0A-9BF061DB192F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512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512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pPr>
              <a:buNone/>
            </a:pPr>
            <a:r>
              <a:rPr lang="de-DE" dirty="0" smtClean="0"/>
              <a:t>Ergebnis: 10 mal Main </a:t>
            </a:r>
            <a:r>
              <a:rPr lang="de-DE" dirty="0" err="1" smtClean="0"/>
              <a:t>thread</a:t>
            </a:r>
            <a:r>
              <a:rPr lang="de-DE" dirty="0" smtClean="0"/>
              <a:t> dann 10 mal New </a:t>
            </a:r>
            <a:r>
              <a:rPr lang="de-DE" dirty="0" err="1" smtClean="0"/>
              <a:t>thread</a:t>
            </a:r>
            <a:r>
              <a:rPr lang="de-DE" dirty="0" smtClean="0"/>
              <a:t>, d.h. bis Thread gestartet wird ist </a:t>
            </a:r>
            <a:r>
              <a:rPr lang="de-DE" dirty="0" err="1" smtClean="0"/>
              <a:t>main</a:t>
            </a:r>
            <a:r>
              <a:rPr lang="de-DE" dirty="0" smtClean="0"/>
              <a:t>-Thread</a:t>
            </a:r>
            <a:r>
              <a:rPr lang="de-DE" baseline="0" dirty="0" smtClean="0"/>
              <a:t> schon fertig</a:t>
            </a:r>
          </a:p>
          <a:p>
            <a:pPr>
              <a:buNone/>
            </a:pPr>
            <a:endParaRPr lang="de-DE" baseline="0" dirty="0" smtClean="0"/>
          </a:p>
          <a:p>
            <a:pPr>
              <a:buNone/>
            </a:pPr>
            <a:r>
              <a:rPr lang="de-DE" baseline="0" dirty="0" smtClean="0"/>
              <a:t>Alternative Implementierung mit </a:t>
            </a:r>
            <a:r>
              <a:rPr lang="de-DE" baseline="0" dirty="0" err="1" smtClean="0"/>
              <a:t>Runnable</a:t>
            </a:r>
            <a:r>
              <a:rPr lang="de-DE" baseline="0" dirty="0" smtClean="0"/>
              <a:t>:</a:t>
            </a:r>
          </a:p>
          <a:p>
            <a:pPr>
              <a:buNone/>
            </a:pPr>
            <a:r>
              <a:rPr lang="de-DE" dirty="0" err="1" smtClean="0"/>
              <a:t>public</a:t>
            </a:r>
            <a:r>
              <a:rPr lang="de-DE" dirty="0" smtClean="0"/>
              <a:t> </a:t>
            </a:r>
            <a:r>
              <a:rPr lang="de-DE" dirty="0" err="1" smtClean="0"/>
              <a:t>class</a:t>
            </a:r>
            <a:r>
              <a:rPr lang="de-DE" dirty="0" smtClean="0"/>
              <a:t> </a:t>
            </a:r>
            <a:r>
              <a:rPr lang="de-DE" dirty="0" err="1" smtClean="0"/>
              <a:t>TwoThread</a:t>
            </a:r>
            <a:r>
              <a:rPr lang="de-DE" dirty="0" smtClean="0"/>
              <a:t> </a:t>
            </a:r>
            <a:r>
              <a:rPr lang="de-DE" dirty="0" err="1" smtClean="0"/>
              <a:t>implements</a:t>
            </a:r>
            <a:r>
              <a:rPr lang="de-DE" dirty="0" smtClean="0"/>
              <a:t> </a:t>
            </a:r>
            <a:r>
              <a:rPr lang="de-DE" dirty="0" err="1" smtClean="0"/>
              <a:t>Runnable</a:t>
            </a:r>
            <a:r>
              <a:rPr lang="de-DE" dirty="0" smtClean="0"/>
              <a:t> { … }</a:t>
            </a:r>
          </a:p>
          <a:p>
            <a:pPr>
              <a:buNone/>
            </a:pPr>
            <a:endParaRPr lang="de-DE" dirty="0" smtClean="0"/>
          </a:p>
          <a:p>
            <a:pPr>
              <a:buNone/>
            </a:pPr>
            <a:r>
              <a:rPr lang="de-DE" dirty="0" err="1" smtClean="0"/>
              <a:t>Runnable</a:t>
            </a:r>
            <a:r>
              <a:rPr lang="de-DE" dirty="0" smtClean="0"/>
              <a:t> </a:t>
            </a:r>
            <a:r>
              <a:rPr lang="de-DE" dirty="0" err="1" smtClean="0"/>
              <a:t>tr</a:t>
            </a:r>
            <a:r>
              <a:rPr lang="de-DE" dirty="0" smtClean="0"/>
              <a:t> = </a:t>
            </a:r>
            <a:r>
              <a:rPr lang="de-DE" dirty="0" err="1" smtClean="0"/>
              <a:t>new</a:t>
            </a:r>
            <a:r>
              <a:rPr lang="de-DE" dirty="0" smtClean="0"/>
              <a:t> </a:t>
            </a:r>
            <a:r>
              <a:rPr lang="de-DE" dirty="0" err="1" smtClean="0"/>
              <a:t>TwoThread</a:t>
            </a:r>
            <a:r>
              <a:rPr lang="de-DE" dirty="0" smtClean="0"/>
              <a:t>();</a:t>
            </a:r>
          </a:p>
          <a:p>
            <a:pPr>
              <a:buNone/>
            </a:pPr>
            <a:r>
              <a:rPr lang="de-DE" dirty="0" err="1" smtClean="0"/>
              <a:t>new</a:t>
            </a:r>
            <a:r>
              <a:rPr lang="de-DE" dirty="0" smtClean="0"/>
              <a:t> Thread(</a:t>
            </a:r>
            <a:r>
              <a:rPr lang="de-DE" dirty="0" err="1" smtClean="0"/>
              <a:t>tr</a:t>
            </a:r>
            <a:r>
              <a:rPr lang="de-DE" dirty="0" smtClean="0"/>
              <a:t>).</a:t>
            </a:r>
            <a:r>
              <a:rPr lang="de-DE" dirty="0" err="1" smtClean="0"/>
              <a:t>start</a:t>
            </a:r>
            <a:r>
              <a:rPr lang="de-DE" dirty="0" smtClean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568454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9DE0B3-EA1D-4094-A07A-BB33CDA89711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522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522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r>
              <a:rPr lang="de-DE" smtClean="0"/>
              <a:t>Threads können sogar die gleiche Methode abarbeiten!</a:t>
            </a:r>
          </a:p>
          <a:p>
            <a:r>
              <a:rPr lang="de-DE" smtClean="0"/>
              <a:t>Beispiel-Code: BothInMethod</a:t>
            </a:r>
          </a:p>
        </p:txBody>
      </p:sp>
    </p:spTree>
    <p:extLst>
      <p:ext uri="{BB962C8B-B14F-4D97-AF65-F5344CB8AC3E}">
        <p14:creationId xmlns:p14="http://schemas.microsoft.com/office/powerpoint/2010/main" val="3012646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1546B2-EEE3-49AF-B789-D54362026C5A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542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542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67481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A925B5-F000-4B1A-942E-4A54F70ED494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553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553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pPr>
              <a:buNone/>
            </a:pPr>
            <a:r>
              <a:rPr lang="de-DE" dirty="0" smtClean="0"/>
              <a:t>Ergebnis:</a:t>
            </a:r>
            <a:r>
              <a:rPr lang="de-DE" baseline="0" dirty="0" smtClean="0"/>
              <a:t> </a:t>
            </a:r>
          </a:p>
          <a:p>
            <a:pPr>
              <a:buNone/>
            </a:pPr>
            <a:r>
              <a:rPr lang="de-DE" baseline="0" dirty="0" smtClean="0"/>
              <a:t>Zuerst Ausgabe 1, -1, 2, -2, 3, -3, …</a:t>
            </a:r>
          </a:p>
          <a:p>
            <a:pPr>
              <a:buNone/>
            </a:pPr>
            <a:r>
              <a:rPr lang="de-DE" baseline="0" dirty="0" smtClean="0"/>
              <a:t>Bis irgendein </a:t>
            </a:r>
            <a:r>
              <a:rPr lang="de-DE" baseline="0" dirty="0" err="1" smtClean="0"/>
              <a:t>thread</a:t>
            </a:r>
            <a:r>
              <a:rPr lang="de-DE" baseline="0" dirty="0" smtClean="0"/>
              <a:t> falschen Wert liest</a:t>
            </a:r>
          </a:p>
          <a:p>
            <a:pPr>
              <a:buNone/>
            </a:pPr>
            <a:r>
              <a:rPr lang="de-DE" baseline="0" dirty="0" smtClean="0"/>
              <a:t>plötzlich stehen beide bei selben Wert z.B. -75</a:t>
            </a:r>
          </a:p>
          <a:p>
            <a:pPr>
              <a:buNone/>
            </a:pPr>
            <a:r>
              <a:rPr lang="de-DE" dirty="0" smtClean="0"/>
              <a:t>Ein </a:t>
            </a:r>
            <a:r>
              <a:rPr lang="de-DE" dirty="0" err="1" smtClean="0"/>
              <a:t>thread</a:t>
            </a:r>
            <a:r>
              <a:rPr lang="de-DE" dirty="0" smtClean="0"/>
              <a:t> wird manchmal fertig</a:t>
            </a:r>
          </a:p>
          <a:p>
            <a:pPr>
              <a:buNone/>
            </a:pPr>
            <a:r>
              <a:rPr lang="de-DE" dirty="0" smtClean="0"/>
              <a:t>Einer</a:t>
            </a:r>
            <a:r>
              <a:rPr lang="de-DE" baseline="0" dirty="0" smtClean="0"/>
              <a:t> ist am Ende auf falschen Wert, manchmal beide auf falschen Wert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713769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64DC9E-BF76-4483-8A87-E8A686CF64BB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563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563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1649855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0DED85-20EC-4161-BE1E-89E5EB190B2E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73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573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2030769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4D27BE-F746-4BE3-95AC-31E28192794F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583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583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483039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6F90AB-262B-432A-B839-5DF5D0D5ED48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593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593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r>
              <a:rPr lang="de-DE" dirty="0" err="1" smtClean="0"/>
              <a:t>Synchronized</a:t>
            </a:r>
            <a:r>
              <a:rPr lang="de-DE" dirty="0" smtClean="0"/>
              <a:t> kann man auch auf Klassenmethoden anwenden!</a:t>
            </a:r>
          </a:p>
        </p:txBody>
      </p:sp>
    </p:spTree>
    <p:extLst>
      <p:ext uri="{BB962C8B-B14F-4D97-AF65-F5344CB8AC3E}">
        <p14:creationId xmlns:p14="http://schemas.microsoft.com/office/powerpoint/2010/main" val="3222372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851E49-890E-4290-9706-B9FF524AF483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604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604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pPr>
              <a:buFont typeface="Wingdings" pitchFamily="2" charset="2"/>
              <a:buNone/>
            </a:pPr>
            <a:r>
              <a:rPr lang="de-DE" dirty="0" smtClean="0"/>
              <a:t>Immer abwechselnder Zugriff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de-DE" dirty="0" smtClean="0"/>
              <a:t>Ausgabe: </a:t>
            </a:r>
          </a:p>
          <a:p>
            <a:pPr>
              <a:buFont typeface="Wingdings" pitchFamily="2" charset="2"/>
              <a:buNone/>
            </a:pPr>
            <a:r>
              <a:rPr lang="de-DE" dirty="0" smtClean="0"/>
              <a:t>-1, 0, -1, 0, …</a:t>
            </a:r>
          </a:p>
          <a:p>
            <a:pPr>
              <a:buFont typeface="Wingdings" pitchFamily="2" charset="2"/>
              <a:buNone/>
            </a:pPr>
            <a:r>
              <a:rPr lang="de-DE" dirty="0" smtClean="0"/>
              <a:t>2,1,2,1, ….</a:t>
            </a:r>
          </a:p>
          <a:p>
            <a:pPr>
              <a:buFont typeface="Wingdings" pitchFamily="2" charset="2"/>
              <a:buNone/>
            </a:pPr>
            <a:r>
              <a:rPr lang="de-DE" dirty="0" smtClean="0"/>
              <a:t>1,0,1,0, ….</a:t>
            </a:r>
          </a:p>
          <a:p>
            <a:pPr>
              <a:buFont typeface="Wingdings" pitchFamily="2" charset="2"/>
              <a:buNone/>
            </a:pPr>
            <a:r>
              <a:rPr lang="de-DE" dirty="0" smtClean="0"/>
              <a:t>-2,-1,-2,-1, …</a:t>
            </a:r>
          </a:p>
          <a:p>
            <a:pPr>
              <a:buFont typeface="Wingdings" pitchFamily="2" charset="2"/>
              <a:buNone/>
            </a:pPr>
            <a:r>
              <a:rPr lang="de-DE" dirty="0" smtClean="0"/>
              <a:t>Je </a:t>
            </a:r>
            <a:r>
              <a:rPr lang="de-DE" dirty="0" err="1" smtClean="0"/>
              <a:t>nachden</a:t>
            </a:r>
            <a:r>
              <a:rPr lang="de-DE" dirty="0" smtClean="0"/>
              <a:t> wer am Anfang zum Zug kommt</a:t>
            </a:r>
          </a:p>
        </p:txBody>
      </p:sp>
    </p:spTree>
    <p:extLst>
      <p:ext uri="{BB962C8B-B14F-4D97-AF65-F5344CB8AC3E}">
        <p14:creationId xmlns:p14="http://schemas.microsoft.com/office/powerpoint/2010/main" val="2150705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CD9631-E32E-4410-A557-3F002C06E6B3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614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614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r>
              <a:rPr lang="de-DE" dirty="0" err="1" smtClean="0"/>
              <a:t>Listings</a:t>
            </a:r>
            <a:r>
              <a:rPr lang="de-DE" dirty="0" smtClean="0"/>
              <a:t>: Deadlock</a:t>
            </a:r>
          </a:p>
          <a:p>
            <a:r>
              <a:rPr lang="de-DE" dirty="0" smtClean="0"/>
              <a:t>Deadlock Vermeidung</a:t>
            </a:r>
          </a:p>
          <a:p>
            <a:pPr lvl="1"/>
            <a:r>
              <a:rPr lang="de-DE" dirty="0" smtClean="0"/>
              <a:t>Halte die Sperre möglichst kurz</a:t>
            </a:r>
          </a:p>
          <a:p>
            <a:pPr lvl="1"/>
            <a:r>
              <a:rPr lang="de-DE" dirty="0" smtClean="0"/>
              <a:t>Vermeide </a:t>
            </a:r>
            <a:r>
              <a:rPr lang="de-DE" dirty="0" err="1" smtClean="0"/>
              <a:t>kaskadierende</a:t>
            </a:r>
            <a:r>
              <a:rPr lang="de-DE" dirty="0" smtClean="0"/>
              <a:t> Sperren</a:t>
            </a:r>
          </a:p>
          <a:p>
            <a:pPr lvl="1"/>
            <a:r>
              <a:rPr lang="de-DE" dirty="0" smtClean="0"/>
              <a:t>Besser ein große Sperre, statt mehrerer kleiner Sperren hintereinander</a:t>
            </a:r>
          </a:p>
          <a:p>
            <a:r>
              <a:rPr lang="de-DE" dirty="0" smtClean="0"/>
              <a:t>Bei Deadlocks hilft auch kein „</a:t>
            </a:r>
            <a:r>
              <a:rPr lang="de-DE" dirty="0" err="1" smtClean="0"/>
              <a:t>interrupt</a:t>
            </a:r>
            <a:r>
              <a:rPr lang="de-DE" dirty="0" smtClean="0"/>
              <a:t>“ eines Threads! (Falls die Threads wegen </a:t>
            </a:r>
            <a:r>
              <a:rPr lang="de-DE" dirty="0" err="1" smtClean="0"/>
              <a:t>synchronized</a:t>
            </a:r>
            <a:r>
              <a:rPr lang="de-DE" dirty="0" smtClean="0"/>
              <a:t> blockiert sind.)</a:t>
            </a:r>
          </a:p>
        </p:txBody>
      </p:sp>
    </p:spTree>
    <p:extLst>
      <p:ext uri="{BB962C8B-B14F-4D97-AF65-F5344CB8AC3E}">
        <p14:creationId xmlns:p14="http://schemas.microsoft.com/office/powerpoint/2010/main" val="2005000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12A81B-BFEB-4182-9253-681BE2517258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624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624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endParaRPr lang="de-DE" dirty="0" smtClean="0"/>
          </a:p>
          <a:p>
            <a:r>
              <a:rPr lang="de-DE" dirty="0" smtClean="0"/>
              <a:t>Tipp</a:t>
            </a:r>
          </a:p>
          <a:p>
            <a:pPr lvl="1"/>
            <a:r>
              <a:rPr lang="de-DE" dirty="0" err="1" smtClean="0"/>
              <a:t>MissedNotify</a:t>
            </a:r>
            <a:r>
              <a:rPr lang="de-DE" dirty="0" smtClean="0"/>
              <a:t>: Bei Unsicherheit besser </a:t>
            </a:r>
            <a:r>
              <a:rPr lang="de-DE" i="1" dirty="0" err="1" smtClean="0"/>
              <a:t>notifAll</a:t>
            </a:r>
            <a:r>
              <a:rPr lang="de-DE" i="1" dirty="0" smtClean="0"/>
              <a:t>()</a:t>
            </a:r>
            <a:r>
              <a:rPr lang="de-DE" dirty="0" smtClean="0"/>
              <a:t> statt </a:t>
            </a:r>
            <a:r>
              <a:rPr lang="de-DE" i="1" dirty="0" err="1" smtClean="0"/>
              <a:t>notify</a:t>
            </a:r>
            <a:r>
              <a:rPr lang="de-DE" i="1" dirty="0" smtClean="0"/>
              <a:t>()</a:t>
            </a:r>
            <a:r>
              <a:rPr lang="de-DE" dirty="0" smtClean="0"/>
              <a:t>. Könnte überflüssig sein, ist aber sicherer!</a:t>
            </a:r>
          </a:p>
          <a:p>
            <a:r>
              <a:rPr lang="de-DE" dirty="0" smtClean="0"/>
              <a:t>Bemerkung </a:t>
            </a:r>
            <a:r>
              <a:rPr lang="de-DE" dirty="0" err="1" smtClean="0"/>
              <a:t>EarlyNotify</a:t>
            </a:r>
            <a:r>
              <a:rPr lang="de-DE" dirty="0" smtClean="0"/>
              <a:t>: Bei </a:t>
            </a:r>
            <a:r>
              <a:rPr lang="de-DE" i="1" dirty="0" err="1" smtClean="0">
                <a:latin typeface="Courier New" pitchFamily="49" charset="0"/>
              </a:rPr>
              <a:t>wait</a:t>
            </a:r>
            <a:r>
              <a:rPr lang="de-DE" i="1" dirty="0" smtClean="0">
                <a:latin typeface="Courier New" pitchFamily="49" charset="0"/>
              </a:rPr>
              <a:t>(</a:t>
            </a:r>
            <a:r>
              <a:rPr lang="de-DE" i="1" dirty="0" err="1" smtClean="0">
                <a:latin typeface="Courier New" pitchFamily="49" charset="0"/>
              </a:rPr>
              <a:t>long</a:t>
            </a:r>
            <a:r>
              <a:rPr lang="de-DE" i="1" dirty="0" smtClean="0">
                <a:latin typeface="Courier New" pitchFamily="49" charset="0"/>
              </a:rPr>
              <a:t>)</a:t>
            </a:r>
            <a:r>
              <a:rPr lang="de-DE" i="1" dirty="0" smtClean="0"/>
              <a:t> </a:t>
            </a:r>
            <a:r>
              <a:rPr lang="de-DE" dirty="0" smtClean="0"/>
              <a:t>ist es nicht trivial zwischen zu unterscheiden, ob  wegen </a:t>
            </a:r>
            <a:r>
              <a:rPr lang="de-DE" dirty="0" err="1" smtClean="0"/>
              <a:t>timeout</a:t>
            </a:r>
            <a:r>
              <a:rPr lang="de-DE" dirty="0" smtClean="0"/>
              <a:t> oder </a:t>
            </a:r>
            <a:r>
              <a:rPr lang="de-DE" dirty="0" err="1" smtClean="0"/>
              <a:t>notify</a:t>
            </a:r>
            <a:r>
              <a:rPr lang="de-DE" dirty="0" smtClean="0"/>
              <a:t> (Verweis Chapter 14)</a:t>
            </a:r>
          </a:p>
          <a:p>
            <a:endParaRPr lang="de-DE" dirty="0" smtClean="0"/>
          </a:p>
          <a:p>
            <a:pPr>
              <a:buNone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6972893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ABB065-528C-45F0-8E40-C23C72452334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634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81050" y="769938"/>
            <a:ext cx="5540375" cy="3835400"/>
          </a:xfrm>
          <a:ln/>
        </p:spPr>
      </p:sp>
      <p:sp>
        <p:nvSpPr>
          <p:cNvPr id="634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4469" tIns="47235" rIns="94469" bIns="47235" anchor="t"/>
          <a:lstStyle/>
          <a:p>
            <a:pPr marL="101600" indent="-101600"/>
            <a:r>
              <a:rPr lang="de-DE" dirty="0" smtClean="0"/>
              <a:t>Falls ein Thread noch nicht wartet, kann er das </a:t>
            </a:r>
            <a:r>
              <a:rPr lang="de-DE" dirty="0" err="1" smtClean="0"/>
              <a:t>notify</a:t>
            </a:r>
            <a:r>
              <a:rPr lang="de-DE" dirty="0" smtClean="0"/>
              <a:t>() verpassen!</a:t>
            </a:r>
          </a:p>
          <a:p>
            <a:pPr marL="101600" indent="-101600"/>
            <a:endParaRPr lang="de-DE" dirty="0" smtClean="0"/>
          </a:p>
          <a:p>
            <a:pPr marL="101600" indent="-101600"/>
            <a:r>
              <a:rPr lang="de-DE" dirty="0" smtClean="0"/>
              <a:t> </a:t>
            </a:r>
            <a:r>
              <a:rPr lang="de-DE" dirty="0" err="1" smtClean="0"/>
              <a:t>wait</a:t>
            </a:r>
            <a:r>
              <a:rPr lang="de-DE" dirty="0" smtClean="0"/>
              <a:t>() sollte in einer Schleife stattfinden die eine Bedingung prüft</a:t>
            </a:r>
          </a:p>
          <a:p>
            <a:pPr marL="101600" indent="-101600"/>
            <a:endParaRPr lang="de-DE" dirty="0" smtClean="0"/>
          </a:p>
          <a:p>
            <a:pPr marL="101600" indent="-101600">
              <a:buNone/>
            </a:pPr>
            <a:r>
              <a:rPr lang="de-DE" dirty="0" err="1" smtClean="0"/>
              <a:t>while</a:t>
            </a:r>
            <a:r>
              <a:rPr lang="de-DE" dirty="0" smtClean="0"/>
              <a:t> (Bedingung) {</a:t>
            </a:r>
          </a:p>
          <a:p>
            <a:pPr marL="101600" indent="-101600">
              <a:buNone/>
            </a:pPr>
            <a:r>
              <a:rPr lang="de-DE" dirty="0" smtClean="0"/>
              <a:t>     </a:t>
            </a:r>
            <a:r>
              <a:rPr lang="de-DE" dirty="0" err="1" smtClean="0"/>
              <a:t>wait</a:t>
            </a:r>
            <a:r>
              <a:rPr lang="de-DE" dirty="0" smtClean="0"/>
              <a:t>();  //wartet auf </a:t>
            </a:r>
            <a:r>
              <a:rPr lang="de-DE" dirty="0" err="1" smtClean="0"/>
              <a:t>notify</a:t>
            </a:r>
            <a:endParaRPr lang="de-DE" dirty="0" smtClean="0"/>
          </a:p>
          <a:p>
            <a:pPr marL="101600" indent="-101600">
              <a:buNone/>
            </a:pPr>
            <a:r>
              <a:rPr lang="de-DE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6068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FC6AEA-50D8-4AE8-9D0D-49FD462A8A5D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645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645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r>
              <a:rPr lang="de-DE" smtClean="0"/>
              <a:t>Thread-Priorisierung kann an diesem Beispiel ausprobiert werden</a:t>
            </a:r>
          </a:p>
        </p:txBody>
      </p:sp>
    </p:spTree>
    <p:extLst>
      <p:ext uri="{BB962C8B-B14F-4D97-AF65-F5344CB8AC3E}">
        <p14:creationId xmlns:p14="http://schemas.microsoft.com/office/powerpoint/2010/main" val="7782033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4EBE5D-AA29-47D2-A920-755010A7E7A9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655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655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r>
              <a:rPr lang="de-DE" smtClean="0"/>
              <a:t>„while“ ist wichtig: Early-Notify Problem diskutieren.</a:t>
            </a:r>
          </a:p>
        </p:txBody>
      </p:sp>
    </p:spTree>
    <p:extLst>
      <p:ext uri="{BB962C8B-B14F-4D97-AF65-F5344CB8AC3E}">
        <p14:creationId xmlns:p14="http://schemas.microsoft.com/office/powerpoint/2010/main" val="5619208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579860-ED12-4298-9871-D5F47CA298E9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665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665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9126242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907FB7-3B7A-4386-B4F4-8FDF452F1031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75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675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27061189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97505D-05EF-4204-BA7A-1C47A3A95943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86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686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pPr>
              <a:buNone/>
            </a:pPr>
            <a:r>
              <a:rPr lang="de-DE" dirty="0" err="1" smtClean="0"/>
              <a:t>Yield</a:t>
            </a:r>
            <a:r>
              <a:rPr lang="de-DE" dirty="0" smtClean="0"/>
              <a:t> gibt Sperren auf</a:t>
            </a:r>
          </a:p>
          <a:p>
            <a:pPr>
              <a:buNone/>
            </a:pPr>
            <a:r>
              <a:rPr lang="de-DE" dirty="0" err="1" smtClean="0"/>
              <a:t>Sleep</a:t>
            </a:r>
            <a:r>
              <a:rPr lang="de-DE" dirty="0" smtClean="0"/>
              <a:t> behält Sperren</a:t>
            </a:r>
          </a:p>
        </p:txBody>
      </p:sp>
    </p:spTree>
    <p:extLst>
      <p:ext uri="{BB962C8B-B14F-4D97-AF65-F5344CB8AC3E}">
        <p14:creationId xmlns:p14="http://schemas.microsoft.com/office/powerpoint/2010/main" val="1537118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EC9821-4667-4A13-BFDE-AF9E9A186C12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696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r>
              <a:rPr lang="de-DE" dirty="0" smtClean="0"/>
              <a:t>Die Zustände sind so in Java nicht offiziell definiert. Sie sind aber gut geeignet, das Verhalten von Threads zu verstehen</a:t>
            </a:r>
          </a:p>
          <a:p>
            <a:endParaRPr lang="de-DE" dirty="0" smtClean="0"/>
          </a:p>
          <a:p>
            <a:pPr>
              <a:buNone/>
            </a:pPr>
            <a:r>
              <a:rPr lang="de-DE" dirty="0" err="1" smtClean="0"/>
              <a:t>Wait</a:t>
            </a:r>
            <a:r>
              <a:rPr lang="de-DE" dirty="0" smtClean="0"/>
              <a:t> wartet auf </a:t>
            </a:r>
            <a:r>
              <a:rPr lang="de-DE" dirty="0" err="1" smtClean="0"/>
              <a:t>notify</a:t>
            </a:r>
            <a:endParaRPr lang="de-DE" dirty="0" smtClean="0"/>
          </a:p>
          <a:p>
            <a:pPr>
              <a:buNone/>
            </a:pPr>
            <a:r>
              <a:rPr lang="de-DE" dirty="0" smtClean="0"/>
              <a:t>Interrupt versetzt blockierenden Thread wieder in </a:t>
            </a:r>
            <a:r>
              <a:rPr lang="de-DE" dirty="0" err="1" smtClean="0"/>
              <a:t>ready-to-run</a:t>
            </a:r>
            <a:endParaRPr lang="de-DE" dirty="0" smtClean="0"/>
          </a:p>
          <a:p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13787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A27A08-60A7-4174-82AC-CF0A957C5508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06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706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r>
              <a:rPr lang="de-DE" smtClean="0"/>
              <a:t>Hier hängt es von der Größe von N ab, ob die Träume sanft oder unsanft unterbrochen werden. Natürlich ist der Grenzwert nicht exakt gleich 10000000 und schon gar nicht konstant!</a:t>
            </a:r>
          </a:p>
          <a:p>
            <a:endParaRPr lang="de-DE" smtClean="0"/>
          </a:p>
          <a:p>
            <a:r>
              <a:rPr lang="de-DE" smtClean="0"/>
              <a:t>Beipiel-Code: PiInterrupt, PendingInterrupt, InterruptCheck, InterruptReset</a:t>
            </a:r>
          </a:p>
        </p:txBody>
      </p:sp>
    </p:spTree>
    <p:extLst>
      <p:ext uri="{BB962C8B-B14F-4D97-AF65-F5344CB8AC3E}">
        <p14:creationId xmlns:p14="http://schemas.microsoft.com/office/powerpoint/2010/main" val="25048458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821527-D8C8-419B-990C-D834935725E9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16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1963" cy="3836988"/>
          </a:xfrm>
          <a:ln/>
        </p:spPr>
      </p:sp>
      <p:sp>
        <p:nvSpPr>
          <p:cNvPr id="716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862513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r>
              <a:rPr lang="de-DE" dirty="0" err="1" smtClean="0">
                <a:latin typeface="Courier New" pitchFamily="49" charset="0"/>
              </a:rPr>
              <a:t>Thread.interrupted</a:t>
            </a:r>
            <a:r>
              <a:rPr lang="de-DE" dirty="0" smtClean="0">
                <a:latin typeface="Courier New" pitchFamily="49" charset="0"/>
              </a:rPr>
              <a:t>(): </a:t>
            </a:r>
            <a:r>
              <a:rPr lang="de-DE" dirty="0" smtClean="0"/>
              <a:t>Testet, ob der aktuelle Thread unterbrochen wurde. Der </a:t>
            </a:r>
            <a:r>
              <a:rPr lang="de-DE" i="1" dirty="0" err="1" smtClean="0"/>
              <a:t>Interrupted</a:t>
            </a:r>
            <a:r>
              <a:rPr lang="de-DE" i="1" dirty="0" smtClean="0"/>
              <a:t>-Status</a:t>
            </a:r>
            <a:r>
              <a:rPr lang="de-DE" dirty="0" smtClean="0"/>
              <a:t> des Thread wird gelöscht. </a:t>
            </a:r>
          </a:p>
          <a:p>
            <a:r>
              <a:rPr lang="de-DE" dirty="0" err="1" smtClean="0"/>
              <a:t>InterruptedException</a:t>
            </a:r>
            <a:endParaRPr lang="de-DE" dirty="0" smtClean="0"/>
          </a:p>
          <a:p>
            <a:pPr lvl="1"/>
            <a:r>
              <a:rPr lang="de-DE" dirty="0" smtClean="0"/>
              <a:t>Kann auftreten bei </a:t>
            </a:r>
            <a:r>
              <a:rPr lang="de-DE" dirty="0" err="1" smtClean="0"/>
              <a:t>sleep</a:t>
            </a:r>
            <a:r>
              <a:rPr lang="de-DE" dirty="0" smtClean="0"/>
              <a:t>, </a:t>
            </a:r>
            <a:r>
              <a:rPr lang="de-DE" dirty="0" err="1" smtClean="0"/>
              <a:t>wait</a:t>
            </a:r>
            <a:r>
              <a:rPr lang="de-DE" dirty="0" smtClean="0"/>
              <a:t>, </a:t>
            </a:r>
            <a:r>
              <a:rPr lang="de-DE" dirty="0" err="1" smtClean="0"/>
              <a:t>join</a:t>
            </a:r>
            <a:r>
              <a:rPr lang="de-DE" dirty="0" smtClean="0"/>
              <a:t>, </a:t>
            </a:r>
            <a:r>
              <a:rPr lang="de-DE" dirty="0" err="1" smtClean="0"/>
              <a:t>interrupt</a:t>
            </a:r>
            <a:r>
              <a:rPr lang="de-DE" dirty="0" smtClean="0"/>
              <a:t> und </a:t>
            </a:r>
            <a:r>
              <a:rPr lang="de-DE" dirty="0" err="1" smtClean="0"/>
              <a:t>Thread.interrupted</a:t>
            </a:r>
            <a:endParaRPr lang="de-DE" dirty="0" smtClean="0"/>
          </a:p>
          <a:p>
            <a:pPr lvl="1"/>
            <a:r>
              <a:rPr lang="de-DE" dirty="0" smtClean="0"/>
              <a:t>Ein schöner Weg, um lang laufende Methoden von außen zu unterbrechen (</a:t>
            </a:r>
            <a:r>
              <a:rPr lang="de-DE" dirty="0" err="1" smtClean="0"/>
              <a:t>PiInterrupt</a:t>
            </a:r>
            <a:r>
              <a:rPr lang="de-DE" dirty="0" smtClean="0"/>
              <a:t>)</a:t>
            </a:r>
          </a:p>
          <a:p>
            <a:pPr lvl="1"/>
            <a:r>
              <a:rPr lang="de-DE" dirty="0" smtClean="0"/>
              <a:t>Wirkt nicht, wenn Threads wegen Synchronisierung blockiert sind.</a:t>
            </a:r>
          </a:p>
          <a:p>
            <a:r>
              <a:rPr lang="de-DE" dirty="0" smtClean="0"/>
              <a:t>Code-Beispiel: </a:t>
            </a:r>
            <a:r>
              <a:rPr lang="de-DE" dirty="0" err="1" smtClean="0"/>
              <a:t>AlternateStop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4507696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3BB22A-D1C9-47BD-B212-32AC321F723B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69938"/>
            <a:ext cx="5540375" cy="3835400"/>
          </a:xfrm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3750"/>
          </a:xfrm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 wrap="square" lIns="95656" tIns="47829" rIns="95656" bIns="47829" anchor="t"/>
          <a:lstStyle/>
          <a:p>
            <a:pPr>
              <a:buNone/>
            </a:pPr>
            <a:r>
              <a:rPr lang="de-DE" dirty="0" smtClean="0"/>
              <a:t>Bsp1: </a:t>
            </a:r>
            <a:r>
              <a:rPr lang="de-DE" dirty="0" err="1" smtClean="0"/>
              <a:t>py</a:t>
            </a:r>
            <a:r>
              <a:rPr lang="de-DE" dirty="0" smtClean="0"/>
              <a:t> wartet auf </a:t>
            </a:r>
            <a:r>
              <a:rPr lang="de-DE" dirty="0" err="1" smtClean="0"/>
              <a:t>px</a:t>
            </a:r>
            <a:r>
              <a:rPr lang="de-DE" dirty="0" smtClean="0"/>
              <a:t> -&gt; erst alle – dann alle |</a:t>
            </a:r>
          </a:p>
          <a:p>
            <a:pPr>
              <a:buNone/>
            </a:pPr>
            <a:r>
              <a:rPr lang="de-DE" dirty="0" smtClean="0"/>
              <a:t>Bsp2: beide sind unabhängig</a:t>
            </a:r>
          </a:p>
        </p:txBody>
      </p:sp>
    </p:spTree>
    <p:extLst>
      <p:ext uri="{BB962C8B-B14F-4D97-AF65-F5344CB8AC3E}">
        <p14:creationId xmlns:p14="http://schemas.microsoft.com/office/powerpoint/2010/main" val="10316574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err="1" smtClean="0"/>
              <a:t>Theoretisch</a:t>
            </a:r>
            <a:r>
              <a:rPr lang="en-US" dirty="0" smtClean="0"/>
              <a:t> </a:t>
            </a:r>
            <a:r>
              <a:rPr lang="en-US" dirty="0" err="1" smtClean="0"/>
              <a:t>funktioniert</a:t>
            </a:r>
            <a:r>
              <a:rPr lang="en-US" dirty="0" smtClean="0"/>
              <a:t> das, </a:t>
            </a:r>
            <a:r>
              <a:rPr lang="en-US" dirty="0" err="1" smtClean="0"/>
              <a:t>aber</a:t>
            </a:r>
            <a:r>
              <a:rPr lang="en-US" dirty="0" smtClean="0"/>
              <a:t> in Praxis </a:t>
            </a:r>
            <a:r>
              <a:rPr lang="en-US" dirty="0" err="1" smtClean="0"/>
              <a:t>gibt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</a:t>
            </a:r>
            <a:r>
              <a:rPr lang="en-US" dirty="0" err="1" smtClean="0"/>
              <a:t>keine</a:t>
            </a:r>
            <a:r>
              <a:rPr lang="en-US" dirty="0" smtClean="0"/>
              <a:t> </a:t>
            </a:r>
            <a:r>
              <a:rPr lang="en-US" dirty="0" err="1" smtClean="0"/>
              <a:t>Garantie</a:t>
            </a:r>
            <a:r>
              <a:rPr lang="en-US" dirty="0" smtClean="0"/>
              <a:t>, </a:t>
            </a:r>
            <a:r>
              <a:rPr lang="en-US" dirty="0" err="1" smtClean="0"/>
              <a:t>dass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auf Single- </a:t>
            </a:r>
            <a:r>
              <a:rPr lang="en-US" dirty="0" err="1" smtClean="0"/>
              <a:t>oder</a:t>
            </a:r>
            <a:r>
              <a:rPr lang="en-US" dirty="0" smtClean="0"/>
              <a:t> </a:t>
            </a:r>
            <a:r>
              <a:rPr lang="en-US" dirty="0" err="1" smtClean="0"/>
              <a:t>Multicore-Prozessoren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funktioniert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Ursachen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können</a:t>
            </a:r>
            <a:r>
              <a:rPr lang="en-US" baseline="0" dirty="0" smtClean="0"/>
              <a:t> in </a:t>
            </a:r>
            <a:r>
              <a:rPr lang="en-US" baseline="0" dirty="0" err="1" smtClean="0"/>
              <a:t>der</a:t>
            </a:r>
            <a:r>
              <a:rPr lang="en-US" baseline="0" dirty="0" smtClean="0"/>
              <a:t> JVM, </a:t>
            </a:r>
            <a:r>
              <a:rPr lang="en-US" baseline="0" dirty="0" err="1" smtClean="0"/>
              <a:t>Compileroptimierungen</a:t>
            </a:r>
            <a:r>
              <a:rPr lang="en-US" baseline="0" dirty="0" smtClean="0"/>
              <a:t>, Caching, und </a:t>
            </a:r>
            <a:r>
              <a:rPr lang="en-US" baseline="0" dirty="0" err="1" smtClean="0"/>
              <a:t>dem</a:t>
            </a:r>
            <a:r>
              <a:rPr lang="en-US" baseline="0" dirty="0" smtClean="0"/>
              <a:t> memory-</a:t>
            </a:r>
            <a:r>
              <a:rPr lang="en-US" baseline="0" dirty="0" err="1" smtClean="0"/>
              <a:t>Modell</a:t>
            </a:r>
            <a:r>
              <a:rPr lang="en-US" baseline="0" dirty="0" smtClean="0"/>
              <a:t> “out-of-order-writes “ </a:t>
            </a:r>
            <a:r>
              <a:rPr lang="en-US" baseline="0" dirty="0" err="1" smtClean="0"/>
              <a:t>liegen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d.h</a:t>
            </a:r>
            <a:r>
              <a:rPr lang="en-US" baseline="0" dirty="0" smtClean="0"/>
              <a:t>. die instance </a:t>
            </a:r>
            <a:r>
              <a:rPr lang="en-US" baseline="0" dirty="0" err="1" smtClean="0"/>
              <a:t>ist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nicht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mehr</a:t>
            </a:r>
            <a:r>
              <a:rPr lang="en-US" baseline="0" dirty="0" smtClean="0"/>
              <a:t> null, </a:t>
            </a:r>
            <a:r>
              <a:rPr lang="en-US" baseline="0" dirty="0" err="1" smtClean="0"/>
              <a:t>aber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auch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noch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nicht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mit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korrekten</a:t>
            </a:r>
            <a:r>
              <a:rPr lang="en-US" baseline="0" dirty="0" smtClean="0"/>
              <a:t> Wert </a:t>
            </a:r>
            <a:r>
              <a:rPr lang="en-US" baseline="0" dirty="0" err="1" smtClean="0"/>
              <a:t>versehen</a:t>
            </a:r>
            <a:r>
              <a:rPr lang="en-US" baseline="0" dirty="0" smtClean="0"/>
              <a:t>)</a:t>
            </a:r>
          </a:p>
          <a:p>
            <a:pPr>
              <a:buNone/>
            </a:pPr>
            <a:endParaRPr lang="en-US" baseline="0" dirty="0" smtClean="0"/>
          </a:p>
          <a:p>
            <a:pPr>
              <a:buNone/>
            </a:pPr>
            <a:r>
              <a:rPr lang="en-US" baseline="0" dirty="0" err="1" smtClean="0"/>
              <a:t>Lösung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liegt</a:t>
            </a:r>
            <a:r>
              <a:rPr lang="en-US" baseline="0" dirty="0" smtClean="0"/>
              <a:t> in volatile (</a:t>
            </a:r>
            <a:r>
              <a:rPr lang="en-US" baseline="0" dirty="0" err="1" smtClean="0"/>
              <a:t>ab</a:t>
            </a:r>
            <a:r>
              <a:rPr lang="en-US" baseline="0" dirty="0" smtClean="0"/>
              <a:t> Java 5): </a:t>
            </a:r>
            <a:r>
              <a:rPr lang="en-US" baseline="0" dirty="0" err="1" smtClean="0"/>
              <a:t>dann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wird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tatsächlicher</a:t>
            </a:r>
            <a:r>
              <a:rPr lang="en-US" baseline="0" dirty="0" smtClean="0"/>
              <a:t> Wert und </a:t>
            </a:r>
            <a:r>
              <a:rPr lang="en-US" baseline="0" dirty="0" err="1" smtClean="0"/>
              <a:t>nicht</a:t>
            </a:r>
            <a:r>
              <a:rPr lang="en-US" baseline="0" dirty="0" smtClean="0"/>
              <a:t> Wert </a:t>
            </a:r>
            <a:r>
              <a:rPr lang="en-US" baseline="0" dirty="0" err="1" smtClean="0"/>
              <a:t>im</a:t>
            </a:r>
            <a:r>
              <a:rPr lang="en-US" baseline="0" dirty="0" smtClean="0"/>
              <a:t> Cache </a:t>
            </a:r>
            <a:r>
              <a:rPr lang="en-US" baseline="0" dirty="0" err="1" smtClean="0"/>
              <a:t>gelesen</a:t>
            </a:r>
            <a:r>
              <a:rPr lang="en-US" baseline="0" dirty="0" smtClean="0"/>
              <a:t> </a:t>
            </a:r>
          </a:p>
          <a:p>
            <a:pPr>
              <a:buNone/>
            </a:pPr>
            <a:r>
              <a:rPr lang="en-US" baseline="0" dirty="0" err="1" smtClean="0"/>
              <a:t>Aber</a:t>
            </a:r>
            <a:r>
              <a:rPr lang="en-US" baseline="0" dirty="0" smtClean="0"/>
              <a:t> volatile </a:t>
            </a:r>
            <a:r>
              <a:rPr lang="en-US" baseline="0" dirty="0" err="1" smtClean="0"/>
              <a:t>kostet</a:t>
            </a:r>
            <a:r>
              <a:rPr lang="en-US" baseline="0" dirty="0" smtClean="0"/>
              <a:t> Performance</a:t>
            </a:r>
          </a:p>
          <a:p>
            <a:pPr>
              <a:buNone/>
            </a:pPr>
            <a:endParaRPr lang="en-US" baseline="0" dirty="0" smtClean="0"/>
          </a:p>
          <a:p>
            <a:pPr>
              <a:buNone/>
            </a:pPr>
            <a:r>
              <a:rPr lang="en-US" baseline="0" dirty="0" smtClean="0"/>
              <a:t>Oder: Singleton </a:t>
            </a:r>
            <a:r>
              <a:rPr lang="en-US" baseline="0" dirty="0" err="1" smtClean="0"/>
              <a:t>als</a:t>
            </a:r>
            <a:r>
              <a:rPr lang="en-US" baseline="0" dirty="0" smtClean="0"/>
              <a:t> private </a:t>
            </a:r>
            <a:r>
              <a:rPr lang="en-US" baseline="0" dirty="0" err="1" smtClean="0"/>
              <a:t>statische</a:t>
            </a:r>
            <a:r>
              <a:rPr lang="en-US" baseline="0" dirty="0" smtClean="0"/>
              <a:t> Variable in </a:t>
            </a:r>
            <a:r>
              <a:rPr lang="en-US" baseline="0" dirty="0" err="1" smtClean="0"/>
              <a:t>Klasse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definieren</a:t>
            </a:r>
            <a:r>
              <a:rPr lang="en-US" baseline="0" dirty="0" smtClean="0"/>
              <a:t>:</a:t>
            </a:r>
            <a:br>
              <a:rPr lang="en-US" baseline="0" dirty="0" smtClean="0"/>
            </a:br>
            <a:r>
              <a:rPr lang="en-US" baseline="0" dirty="0" smtClean="0"/>
              <a:t> private static Singleton instance = new Singleton();</a:t>
            </a:r>
          </a:p>
          <a:p>
            <a:pPr>
              <a:buNone/>
            </a:pPr>
            <a:endParaRPr lang="en-US" baseline="0" dirty="0" smtClean="0"/>
          </a:p>
          <a:p>
            <a:pPr>
              <a:buNone/>
            </a:pPr>
            <a:endParaRPr lang="en-US" baseline="0" dirty="0" smtClean="0"/>
          </a:p>
          <a:p>
            <a:pPr>
              <a:buNone/>
            </a:pPr>
            <a:r>
              <a:rPr lang="en-US" baseline="0" dirty="0" smtClean="0"/>
              <a:t>Das Pattern </a:t>
            </a:r>
            <a:r>
              <a:rPr lang="en-US" baseline="0" dirty="0" err="1" smtClean="0"/>
              <a:t>zeigt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wie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kompliziert</a:t>
            </a:r>
            <a:r>
              <a:rPr lang="en-US" baseline="0" dirty="0" smtClean="0"/>
              <a:t> Multithread-</a:t>
            </a:r>
            <a:r>
              <a:rPr lang="en-US" baseline="0" dirty="0" err="1" smtClean="0"/>
              <a:t>Programmierung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ist</a:t>
            </a:r>
            <a:endParaRPr lang="en-US" dirty="0" smtClean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6B0022A2-3F7F-4A57-AEC3-FF68DC5EDC8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0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 userDrawn="1"/>
        </p:nvGrpSpPr>
        <p:grpSpPr bwMode="auto">
          <a:xfrm>
            <a:off x="1003300" y="6149975"/>
            <a:ext cx="363538" cy="334963"/>
            <a:chOff x="1306" y="3863"/>
            <a:chExt cx="229" cy="211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1306" y="3863"/>
              <a:ext cx="229" cy="211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79" y="0"/>
                </a:cxn>
                <a:cxn ang="0">
                  <a:pos x="794" y="0"/>
                </a:cxn>
                <a:cxn ang="0">
                  <a:pos x="809" y="5"/>
                </a:cxn>
                <a:cxn ang="0">
                  <a:pos x="821" y="9"/>
                </a:cxn>
                <a:cxn ang="0">
                  <a:pos x="833" y="17"/>
                </a:cxn>
                <a:cxn ang="0">
                  <a:pos x="840" y="26"/>
                </a:cxn>
                <a:cxn ang="0">
                  <a:pos x="845" y="38"/>
                </a:cxn>
                <a:cxn ang="0">
                  <a:pos x="850" y="52"/>
                </a:cxn>
                <a:cxn ang="0">
                  <a:pos x="851" y="71"/>
                </a:cxn>
                <a:cxn ang="0">
                  <a:pos x="851" y="776"/>
                </a:cxn>
                <a:cxn ang="0">
                  <a:pos x="850" y="779"/>
                </a:cxn>
                <a:cxn ang="0">
                  <a:pos x="850" y="783"/>
                </a:cxn>
                <a:cxn ang="0">
                  <a:pos x="850" y="791"/>
                </a:cxn>
                <a:cxn ang="0">
                  <a:pos x="845" y="805"/>
                </a:cxn>
                <a:cxn ang="0">
                  <a:pos x="840" y="818"/>
                </a:cxn>
                <a:cxn ang="0">
                  <a:pos x="833" y="829"/>
                </a:cxn>
                <a:cxn ang="0">
                  <a:pos x="821" y="836"/>
                </a:cxn>
                <a:cxn ang="0">
                  <a:pos x="809" y="842"/>
                </a:cxn>
                <a:cxn ang="0">
                  <a:pos x="794" y="846"/>
                </a:cxn>
                <a:cxn ang="0">
                  <a:pos x="786" y="846"/>
                </a:cxn>
                <a:cxn ang="0">
                  <a:pos x="782" y="846"/>
                </a:cxn>
                <a:cxn ang="0">
                  <a:pos x="779" y="848"/>
                </a:cxn>
                <a:cxn ang="0">
                  <a:pos x="72" y="848"/>
                </a:cxn>
                <a:cxn ang="0">
                  <a:pos x="53" y="846"/>
                </a:cxn>
                <a:cxn ang="0">
                  <a:pos x="39" y="842"/>
                </a:cxn>
                <a:cxn ang="0">
                  <a:pos x="26" y="836"/>
                </a:cxn>
                <a:cxn ang="0">
                  <a:pos x="17" y="829"/>
                </a:cxn>
                <a:cxn ang="0">
                  <a:pos x="8" y="818"/>
                </a:cxn>
                <a:cxn ang="0">
                  <a:pos x="4" y="805"/>
                </a:cxn>
                <a:cxn ang="0">
                  <a:pos x="0" y="791"/>
                </a:cxn>
                <a:cxn ang="0">
                  <a:pos x="0" y="776"/>
                </a:cxn>
                <a:cxn ang="0">
                  <a:pos x="0" y="71"/>
                </a:cxn>
                <a:cxn ang="0">
                  <a:pos x="0" y="52"/>
                </a:cxn>
                <a:cxn ang="0">
                  <a:pos x="4" y="38"/>
                </a:cxn>
                <a:cxn ang="0">
                  <a:pos x="8" y="26"/>
                </a:cxn>
                <a:cxn ang="0">
                  <a:pos x="17" y="17"/>
                </a:cxn>
                <a:cxn ang="0">
                  <a:pos x="26" y="9"/>
                </a:cxn>
                <a:cxn ang="0">
                  <a:pos x="39" y="5"/>
                </a:cxn>
                <a:cxn ang="0">
                  <a:pos x="53" y="0"/>
                </a:cxn>
                <a:cxn ang="0">
                  <a:pos x="72" y="0"/>
                </a:cxn>
              </a:cxnLst>
              <a:rect l="0" t="0" r="r" b="b"/>
              <a:pathLst>
                <a:path w="851" h="848">
                  <a:moveTo>
                    <a:pt x="72" y="0"/>
                  </a:moveTo>
                  <a:lnTo>
                    <a:pt x="779" y="0"/>
                  </a:lnTo>
                  <a:lnTo>
                    <a:pt x="794" y="0"/>
                  </a:lnTo>
                  <a:lnTo>
                    <a:pt x="809" y="5"/>
                  </a:lnTo>
                  <a:lnTo>
                    <a:pt x="821" y="9"/>
                  </a:lnTo>
                  <a:lnTo>
                    <a:pt x="833" y="17"/>
                  </a:lnTo>
                  <a:lnTo>
                    <a:pt x="840" y="26"/>
                  </a:lnTo>
                  <a:lnTo>
                    <a:pt x="845" y="38"/>
                  </a:lnTo>
                  <a:lnTo>
                    <a:pt x="850" y="52"/>
                  </a:lnTo>
                  <a:lnTo>
                    <a:pt x="851" y="71"/>
                  </a:lnTo>
                  <a:lnTo>
                    <a:pt x="851" y="776"/>
                  </a:lnTo>
                  <a:lnTo>
                    <a:pt x="850" y="779"/>
                  </a:lnTo>
                  <a:lnTo>
                    <a:pt x="850" y="783"/>
                  </a:lnTo>
                  <a:lnTo>
                    <a:pt x="850" y="791"/>
                  </a:lnTo>
                  <a:lnTo>
                    <a:pt x="845" y="805"/>
                  </a:lnTo>
                  <a:lnTo>
                    <a:pt x="840" y="818"/>
                  </a:lnTo>
                  <a:lnTo>
                    <a:pt x="833" y="829"/>
                  </a:lnTo>
                  <a:lnTo>
                    <a:pt x="821" y="836"/>
                  </a:lnTo>
                  <a:lnTo>
                    <a:pt x="809" y="842"/>
                  </a:lnTo>
                  <a:lnTo>
                    <a:pt x="794" y="846"/>
                  </a:lnTo>
                  <a:lnTo>
                    <a:pt x="786" y="846"/>
                  </a:lnTo>
                  <a:lnTo>
                    <a:pt x="782" y="846"/>
                  </a:lnTo>
                  <a:lnTo>
                    <a:pt x="779" y="848"/>
                  </a:lnTo>
                  <a:lnTo>
                    <a:pt x="72" y="848"/>
                  </a:lnTo>
                  <a:lnTo>
                    <a:pt x="53" y="846"/>
                  </a:lnTo>
                  <a:lnTo>
                    <a:pt x="39" y="842"/>
                  </a:lnTo>
                  <a:lnTo>
                    <a:pt x="26" y="836"/>
                  </a:lnTo>
                  <a:lnTo>
                    <a:pt x="17" y="829"/>
                  </a:lnTo>
                  <a:lnTo>
                    <a:pt x="8" y="818"/>
                  </a:lnTo>
                  <a:lnTo>
                    <a:pt x="4" y="805"/>
                  </a:lnTo>
                  <a:lnTo>
                    <a:pt x="0" y="791"/>
                  </a:lnTo>
                  <a:lnTo>
                    <a:pt x="0" y="776"/>
                  </a:lnTo>
                  <a:lnTo>
                    <a:pt x="0" y="71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26"/>
                  </a:lnTo>
                  <a:lnTo>
                    <a:pt x="17" y="17"/>
                  </a:lnTo>
                  <a:lnTo>
                    <a:pt x="26" y="9"/>
                  </a:lnTo>
                  <a:lnTo>
                    <a:pt x="39" y="5"/>
                  </a:lnTo>
                  <a:lnTo>
                    <a:pt x="53" y="0"/>
                  </a:lnTo>
                  <a:lnTo>
                    <a:pt x="72" y="0"/>
                  </a:lnTo>
                </a:path>
              </a:pathLst>
            </a:custGeom>
            <a:solidFill>
              <a:srgbClr val="CC0000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1387" y="3906"/>
              <a:ext cx="68" cy="125"/>
            </a:xfrm>
            <a:custGeom>
              <a:avLst/>
              <a:gdLst/>
              <a:ahLst/>
              <a:cxnLst>
                <a:cxn ang="0">
                  <a:pos x="252" y="248"/>
                </a:cxn>
                <a:cxn ang="0">
                  <a:pos x="0" y="0"/>
                </a:cxn>
                <a:cxn ang="0">
                  <a:pos x="0" y="500"/>
                </a:cxn>
                <a:cxn ang="0">
                  <a:pos x="252" y="248"/>
                </a:cxn>
              </a:cxnLst>
              <a:rect l="0" t="0" r="r" b="b"/>
              <a:pathLst>
                <a:path w="252" h="500">
                  <a:moveTo>
                    <a:pt x="252" y="248"/>
                  </a:moveTo>
                  <a:lnTo>
                    <a:pt x="0" y="0"/>
                  </a:lnTo>
                  <a:lnTo>
                    <a:pt x="0" y="500"/>
                  </a:lnTo>
                  <a:lnTo>
                    <a:pt x="252" y="24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466850" y="6170613"/>
            <a:ext cx="7848600" cy="2905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6699FF"/>
              </a:buClr>
              <a:buFont typeface="Zapf Dingbats" charset="2"/>
              <a:buNone/>
              <a:defRPr/>
            </a:pPr>
            <a:r>
              <a:rPr lang="de-DE" sz="1300" b="1" dirty="0" smtClean="0">
                <a:latin typeface="Arial" pitchFamily="34" charset="0"/>
              </a:rPr>
              <a:t>FH </a:t>
            </a:r>
            <a:r>
              <a:rPr lang="de-DE" sz="1300" b="1" dirty="0">
                <a:latin typeface="Arial" pitchFamily="34" charset="0"/>
              </a:rPr>
              <a:t>Rosenheim, </a:t>
            </a:r>
            <a:r>
              <a:rPr lang="en-GB" sz="1300" b="1" dirty="0">
                <a:latin typeface="Arial" pitchFamily="34" charset="0"/>
              </a:rPr>
              <a:t>© </a:t>
            </a:r>
            <a:r>
              <a:rPr lang="de-DE" sz="1300" b="1" dirty="0" smtClean="0">
                <a:latin typeface="Arial" pitchFamily="34" charset="0"/>
              </a:rPr>
              <a:t>2015</a:t>
            </a:r>
            <a:endParaRPr lang="de-DE" sz="1300" b="1" dirty="0">
              <a:latin typeface="Arial" pitchFamily="34" charset="0"/>
            </a:endParaRP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57250" y="1381125"/>
            <a:ext cx="8780463" cy="366713"/>
          </a:xfrm>
          <a:ln w="12700">
            <a:headEnd type="none" w="sm" len="sm"/>
            <a:tailEnd type="none" w="sm" len="sm"/>
          </a:ln>
          <a:effectLst/>
        </p:spPr>
        <p:txBody>
          <a:bodyPr lIns="91440" tIns="45720" rIns="91440" bIns="45720">
            <a:spAutoFit/>
          </a:bodyPr>
          <a:lstStyle>
            <a:lvl1pPr marL="0" indent="0" defTabSz="914400">
              <a:spcBef>
                <a:spcPct val="50000"/>
              </a:spcBef>
              <a:buClr>
                <a:srgbClr val="6699FF"/>
              </a:buClr>
              <a:buSzTx/>
              <a:buFont typeface="Zapf Dingbats" charset="2"/>
              <a:buNone/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subtitle</a:t>
            </a:r>
            <a:r>
              <a:rPr lang="de-DE" dirty="0"/>
              <a:t> style</a:t>
            </a:r>
          </a:p>
        </p:txBody>
      </p:sp>
      <p:sp>
        <p:nvSpPr>
          <p:cNvPr id="273417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857250" y="923925"/>
            <a:ext cx="8780463" cy="565150"/>
          </a:xfrm>
          <a:effectLst/>
        </p:spPr>
        <p:txBody>
          <a:bodyPr/>
          <a:lstStyle>
            <a:lvl1pPr>
              <a:defRPr sz="3100" b="1"/>
            </a:lvl1pPr>
          </a:lstStyle>
          <a:p>
            <a:r>
              <a:rPr lang="en-GB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  <p:sp>
        <p:nvSpPr>
          <p:cNvPr id="6" name="Foliennummernplatzhalter 27"/>
          <p:cNvSpPr>
            <a:spLocks noGrp="1"/>
          </p:cNvSpPr>
          <p:nvPr userDrawn="1"/>
        </p:nvSpPr>
        <p:spPr bwMode="auto">
          <a:xfrm>
            <a:off x="8820443" y="6286538"/>
            <a:ext cx="860474" cy="3762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9pPr>
          </a:lstStyle>
          <a:p>
            <a:fld id="{F0970F20-D3EB-47DD-9421-3892B2888F4A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80988" y="1238250"/>
            <a:ext cx="4633912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67300" y="1238250"/>
            <a:ext cx="46355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348538" y="265113"/>
            <a:ext cx="2354262" cy="5707062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80988" y="265113"/>
            <a:ext cx="6915150" cy="5707062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0988" y="1238250"/>
            <a:ext cx="9421812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Vorlagentextes zu bearbeiten</a:t>
            </a:r>
          </a:p>
          <a:p>
            <a:pPr lvl="1"/>
            <a:r>
              <a:rPr lang="en-GB" smtClean="0"/>
              <a:t>Zweite Ebene Klicken Sie, um die Formate des Vorlagentextes zu bearbeiten</a:t>
            </a:r>
          </a:p>
          <a:p>
            <a:pPr lvl="2"/>
            <a:r>
              <a:rPr lang="en-GB" smtClean="0"/>
              <a:t>Dritte Ebene Klicken Sie, um die Formate des Vorlagentextes zu bearbeiten</a:t>
            </a:r>
            <a:r>
              <a:rPr lang="de-DE" smtClean="0"/>
              <a:t> hsdgkhskksjkskj</a:t>
            </a:r>
            <a:endParaRPr lang="en-GB" smtClean="0"/>
          </a:p>
          <a:p>
            <a:pPr lvl="3"/>
            <a:r>
              <a:rPr lang="en-GB" smtClean="0"/>
              <a:t>Vierte Ebene Klicken Sie, um die Formate des Vorlagentextes zu bearbeiten</a:t>
            </a:r>
          </a:p>
        </p:txBody>
      </p:sp>
      <p:sp>
        <p:nvSpPr>
          <p:cNvPr id="272393" name="Rectangle 9"/>
          <p:cNvSpPr>
            <a:spLocks noChangeArrowheads="1"/>
          </p:cNvSpPr>
          <p:nvPr/>
        </p:nvSpPr>
        <p:spPr bwMode="auto">
          <a:xfrm>
            <a:off x="7874000" y="1246188"/>
            <a:ext cx="13176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27239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5750" y="6292850"/>
            <a:ext cx="938688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5720" rIns="9000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buClrTx/>
              <a:buFontTx/>
              <a:buNone/>
              <a:defRPr sz="800">
                <a:solidFill>
                  <a:srgbClr val="4D4D4D"/>
                </a:solidFill>
                <a:latin typeface="Arial" pitchFamily="34" charset="0"/>
              </a:defRPr>
            </a:lvl1pPr>
          </a:lstStyle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  <p:sp>
        <p:nvSpPr>
          <p:cNvPr id="272395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739775" y="265113"/>
            <a:ext cx="5713413" cy="4270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GB" smtClean="0"/>
          </a:p>
        </p:txBody>
      </p:sp>
      <p:sp>
        <p:nvSpPr>
          <p:cNvPr id="272396" name="Freeform 12"/>
          <p:cNvSpPr>
            <a:spLocks/>
          </p:cNvSpPr>
          <p:nvPr/>
        </p:nvSpPr>
        <p:spPr bwMode="auto">
          <a:xfrm>
            <a:off x="282575" y="314325"/>
            <a:ext cx="363538" cy="334963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779" y="0"/>
              </a:cxn>
              <a:cxn ang="0">
                <a:pos x="794" y="0"/>
              </a:cxn>
              <a:cxn ang="0">
                <a:pos x="809" y="5"/>
              </a:cxn>
              <a:cxn ang="0">
                <a:pos x="821" y="9"/>
              </a:cxn>
              <a:cxn ang="0">
                <a:pos x="833" y="17"/>
              </a:cxn>
              <a:cxn ang="0">
                <a:pos x="840" y="26"/>
              </a:cxn>
              <a:cxn ang="0">
                <a:pos x="845" y="38"/>
              </a:cxn>
              <a:cxn ang="0">
                <a:pos x="850" y="52"/>
              </a:cxn>
              <a:cxn ang="0">
                <a:pos x="851" y="71"/>
              </a:cxn>
              <a:cxn ang="0">
                <a:pos x="851" y="776"/>
              </a:cxn>
              <a:cxn ang="0">
                <a:pos x="850" y="779"/>
              </a:cxn>
              <a:cxn ang="0">
                <a:pos x="850" y="783"/>
              </a:cxn>
              <a:cxn ang="0">
                <a:pos x="850" y="791"/>
              </a:cxn>
              <a:cxn ang="0">
                <a:pos x="845" y="805"/>
              </a:cxn>
              <a:cxn ang="0">
                <a:pos x="840" y="818"/>
              </a:cxn>
              <a:cxn ang="0">
                <a:pos x="833" y="829"/>
              </a:cxn>
              <a:cxn ang="0">
                <a:pos x="821" y="836"/>
              </a:cxn>
              <a:cxn ang="0">
                <a:pos x="809" y="842"/>
              </a:cxn>
              <a:cxn ang="0">
                <a:pos x="794" y="846"/>
              </a:cxn>
              <a:cxn ang="0">
                <a:pos x="786" y="846"/>
              </a:cxn>
              <a:cxn ang="0">
                <a:pos x="782" y="846"/>
              </a:cxn>
              <a:cxn ang="0">
                <a:pos x="779" y="848"/>
              </a:cxn>
              <a:cxn ang="0">
                <a:pos x="72" y="848"/>
              </a:cxn>
              <a:cxn ang="0">
                <a:pos x="53" y="846"/>
              </a:cxn>
              <a:cxn ang="0">
                <a:pos x="39" y="842"/>
              </a:cxn>
              <a:cxn ang="0">
                <a:pos x="26" y="836"/>
              </a:cxn>
              <a:cxn ang="0">
                <a:pos x="17" y="829"/>
              </a:cxn>
              <a:cxn ang="0">
                <a:pos x="8" y="818"/>
              </a:cxn>
              <a:cxn ang="0">
                <a:pos x="4" y="805"/>
              </a:cxn>
              <a:cxn ang="0">
                <a:pos x="0" y="791"/>
              </a:cxn>
              <a:cxn ang="0">
                <a:pos x="0" y="776"/>
              </a:cxn>
              <a:cxn ang="0">
                <a:pos x="0" y="71"/>
              </a:cxn>
              <a:cxn ang="0">
                <a:pos x="0" y="52"/>
              </a:cxn>
              <a:cxn ang="0">
                <a:pos x="4" y="38"/>
              </a:cxn>
              <a:cxn ang="0">
                <a:pos x="8" y="26"/>
              </a:cxn>
              <a:cxn ang="0">
                <a:pos x="17" y="17"/>
              </a:cxn>
              <a:cxn ang="0">
                <a:pos x="26" y="9"/>
              </a:cxn>
              <a:cxn ang="0">
                <a:pos x="39" y="5"/>
              </a:cxn>
              <a:cxn ang="0">
                <a:pos x="53" y="0"/>
              </a:cxn>
              <a:cxn ang="0">
                <a:pos x="72" y="0"/>
              </a:cxn>
            </a:cxnLst>
            <a:rect l="0" t="0" r="r" b="b"/>
            <a:pathLst>
              <a:path w="851" h="848">
                <a:moveTo>
                  <a:pt x="72" y="0"/>
                </a:moveTo>
                <a:lnTo>
                  <a:pt x="779" y="0"/>
                </a:lnTo>
                <a:lnTo>
                  <a:pt x="794" y="0"/>
                </a:lnTo>
                <a:lnTo>
                  <a:pt x="809" y="5"/>
                </a:lnTo>
                <a:lnTo>
                  <a:pt x="821" y="9"/>
                </a:lnTo>
                <a:lnTo>
                  <a:pt x="833" y="17"/>
                </a:lnTo>
                <a:lnTo>
                  <a:pt x="840" y="26"/>
                </a:lnTo>
                <a:lnTo>
                  <a:pt x="845" y="38"/>
                </a:lnTo>
                <a:lnTo>
                  <a:pt x="850" y="52"/>
                </a:lnTo>
                <a:lnTo>
                  <a:pt x="851" y="71"/>
                </a:lnTo>
                <a:lnTo>
                  <a:pt x="851" y="776"/>
                </a:lnTo>
                <a:lnTo>
                  <a:pt x="850" y="779"/>
                </a:lnTo>
                <a:lnTo>
                  <a:pt x="850" y="783"/>
                </a:lnTo>
                <a:lnTo>
                  <a:pt x="850" y="791"/>
                </a:lnTo>
                <a:lnTo>
                  <a:pt x="845" y="805"/>
                </a:lnTo>
                <a:lnTo>
                  <a:pt x="840" y="818"/>
                </a:lnTo>
                <a:lnTo>
                  <a:pt x="833" y="829"/>
                </a:lnTo>
                <a:lnTo>
                  <a:pt x="821" y="836"/>
                </a:lnTo>
                <a:lnTo>
                  <a:pt x="809" y="842"/>
                </a:lnTo>
                <a:lnTo>
                  <a:pt x="794" y="846"/>
                </a:lnTo>
                <a:lnTo>
                  <a:pt x="786" y="846"/>
                </a:lnTo>
                <a:lnTo>
                  <a:pt x="782" y="846"/>
                </a:lnTo>
                <a:lnTo>
                  <a:pt x="779" y="848"/>
                </a:lnTo>
                <a:lnTo>
                  <a:pt x="72" y="848"/>
                </a:lnTo>
                <a:lnTo>
                  <a:pt x="53" y="846"/>
                </a:lnTo>
                <a:lnTo>
                  <a:pt x="39" y="842"/>
                </a:lnTo>
                <a:lnTo>
                  <a:pt x="26" y="836"/>
                </a:lnTo>
                <a:lnTo>
                  <a:pt x="17" y="829"/>
                </a:lnTo>
                <a:lnTo>
                  <a:pt x="8" y="818"/>
                </a:lnTo>
                <a:lnTo>
                  <a:pt x="4" y="805"/>
                </a:lnTo>
                <a:lnTo>
                  <a:pt x="0" y="791"/>
                </a:lnTo>
                <a:lnTo>
                  <a:pt x="0" y="776"/>
                </a:lnTo>
                <a:lnTo>
                  <a:pt x="0" y="71"/>
                </a:lnTo>
                <a:lnTo>
                  <a:pt x="0" y="52"/>
                </a:lnTo>
                <a:lnTo>
                  <a:pt x="4" y="38"/>
                </a:lnTo>
                <a:lnTo>
                  <a:pt x="8" y="26"/>
                </a:lnTo>
                <a:lnTo>
                  <a:pt x="17" y="17"/>
                </a:lnTo>
                <a:lnTo>
                  <a:pt x="26" y="9"/>
                </a:lnTo>
                <a:lnTo>
                  <a:pt x="39" y="5"/>
                </a:lnTo>
                <a:lnTo>
                  <a:pt x="53" y="0"/>
                </a:lnTo>
                <a:lnTo>
                  <a:pt x="72" y="0"/>
                </a:lnTo>
              </a:path>
            </a:pathLst>
          </a:custGeom>
          <a:solidFill>
            <a:srgbClr val="CC0000"/>
          </a:solidFill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72397" name="Freeform 13"/>
          <p:cNvSpPr>
            <a:spLocks/>
          </p:cNvSpPr>
          <p:nvPr/>
        </p:nvSpPr>
        <p:spPr bwMode="auto">
          <a:xfrm>
            <a:off x="411163" y="382588"/>
            <a:ext cx="107950" cy="198437"/>
          </a:xfrm>
          <a:custGeom>
            <a:avLst/>
            <a:gdLst/>
            <a:ahLst/>
            <a:cxnLst>
              <a:cxn ang="0">
                <a:pos x="252" y="248"/>
              </a:cxn>
              <a:cxn ang="0">
                <a:pos x="0" y="0"/>
              </a:cxn>
              <a:cxn ang="0">
                <a:pos x="0" y="500"/>
              </a:cxn>
              <a:cxn ang="0">
                <a:pos x="252" y="248"/>
              </a:cxn>
            </a:cxnLst>
            <a:rect l="0" t="0" r="r" b="b"/>
            <a:pathLst>
              <a:path w="252" h="500">
                <a:moveTo>
                  <a:pt x="252" y="248"/>
                </a:moveTo>
                <a:lnTo>
                  <a:pt x="0" y="0"/>
                </a:lnTo>
                <a:lnTo>
                  <a:pt x="0" y="500"/>
                </a:lnTo>
                <a:lnTo>
                  <a:pt x="252" y="24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5pPr>
      <a:lvl6pPr marL="4572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6pPr>
      <a:lvl7pPr marL="9144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7pPr>
      <a:lvl8pPr marL="13716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8pPr>
      <a:lvl9pPr marL="18288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defTabSz="630238" rtl="0" eaLnBrk="0" fontAlgn="base" hangingPunct="0">
        <a:spcBef>
          <a:spcPct val="100000"/>
        </a:spcBef>
        <a:spcAft>
          <a:spcPct val="0"/>
        </a:spcAft>
        <a:buClr>
          <a:srgbClr val="00337F"/>
        </a:buClr>
        <a:buSzPct val="150000"/>
        <a:buFont typeface="Wingdings" pitchFamily="2" charset="2"/>
        <a:buBlip>
          <a:blip r:embed="rId13"/>
        </a:buBlip>
        <a:tabLst>
          <a:tab pos="285750" algn="l"/>
        </a:tabLst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62000" indent="-285750" algn="l" defTabSz="630238" rtl="0" eaLnBrk="0" fontAlgn="base" hangingPunct="0">
        <a:spcBef>
          <a:spcPct val="20000"/>
        </a:spcBef>
        <a:spcAft>
          <a:spcPct val="0"/>
        </a:spcAft>
        <a:buClr>
          <a:srgbClr val="00337F"/>
        </a:buClr>
        <a:buSzPct val="150000"/>
        <a:buFont typeface="Wingdings" pitchFamily="2" charset="2"/>
        <a:buBlip>
          <a:blip r:embed="rId13"/>
        </a:buBlip>
        <a:tabLst>
          <a:tab pos="285750" algn="l"/>
        </a:tabLst>
        <a:defRPr>
          <a:solidFill>
            <a:srgbClr val="000000"/>
          </a:solidFill>
          <a:latin typeface="+mn-lt"/>
        </a:defRPr>
      </a:lvl2pPr>
      <a:lvl3pPr marL="1181100" indent="-228600" algn="l" defTabSz="630238" rtl="0" eaLnBrk="0" fontAlgn="base" hangingPunct="0">
        <a:spcBef>
          <a:spcPct val="0"/>
        </a:spcBef>
        <a:spcAft>
          <a:spcPct val="0"/>
        </a:spcAft>
        <a:buClr>
          <a:srgbClr val="00337F"/>
        </a:buClr>
        <a:buSzPct val="150000"/>
        <a:buBlip>
          <a:blip r:embed="rId13"/>
        </a:buBlip>
        <a:tabLst>
          <a:tab pos="285750" algn="l"/>
        </a:tabLst>
        <a:defRPr sz="1600">
          <a:solidFill>
            <a:schemeClr val="tx1"/>
          </a:solidFill>
          <a:latin typeface="+mn-lt"/>
        </a:defRPr>
      </a:lvl3pPr>
      <a:lvl4pPr marL="16002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7F"/>
        </a:buClr>
        <a:buSzPct val="150000"/>
        <a:buFont typeface="Wingdings" pitchFamily="2" charset="2"/>
        <a:buBlip>
          <a:blip r:embed="rId13"/>
        </a:buBlip>
        <a:tabLst>
          <a:tab pos="285750" algn="l"/>
        </a:tabLst>
        <a:defRPr sz="1400">
          <a:solidFill>
            <a:schemeClr val="tx1"/>
          </a:solidFill>
          <a:latin typeface="+mn-lt"/>
        </a:defRPr>
      </a:lvl4pPr>
      <a:lvl5pPr marL="20193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5pPr>
      <a:lvl6pPr marL="24765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6pPr>
      <a:lvl7pPr marL="29337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7pPr>
      <a:lvl8pPr marL="33909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8pPr>
      <a:lvl9pPr marL="38481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4650" y="1419225"/>
            <a:ext cx="8780463" cy="565150"/>
          </a:xfrm>
        </p:spPr>
        <p:txBody>
          <a:bodyPr/>
          <a:lstStyle/>
          <a:p>
            <a:pPr algn="ctr">
              <a:defRPr/>
            </a:pPr>
            <a:r>
              <a:rPr lang="de-DE" smtClean="0"/>
              <a:t>Programmieren 3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74650" y="2700741"/>
            <a:ext cx="8780463" cy="519113"/>
          </a:xfrm>
        </p:spPr>
        <p:txBody>
          <a:bodyPr/>
          <a:lstStyle/>
          <a:p>
            <a:pPr algn="ctr">
              <a:defRPr/>
            </a:pPr>
            <a:r>
              <a:rPr lang="de-DE" sz="2800" b="1" dirty="0" smtClean="0"/>
              <a:t>Kapitel 7 Threads</a:t>
            </a:r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3111464" y="3310567"/>
            <a:ext cx="5576887" cy="239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Clr>
                <a:srgbClr val="6699FF"/>
              </a:buClr>
              <a:buFont typeface="Zapf Dingbats" charset="2"/>
              <a:buBlip>
                <a:blip r:embed="rId3"/>
              </a:buBlip>
            </a:pPr>
            <a:r>
              <a:rPr lang="de-DE" sz="1800" dirty="0">
                <a:latin typeface="Arial" pitchFamily="34" charset="0"/>
              </a:rPr>
              <a:t> Motivation 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>
                <a:srgbClr val="6699FF"/>
              </a:buClr>
              <a:buFont typeface="Zapf Dingbats" charset="2"/>
              <a:buBlip>
                <a:blip r:embed="rId3"/>
              </a:buBlip>
            </a:pPr>
            <a:r>
              <a:rPr lang="de-DE" sz="1800" dirty="0">
                <a:latin typeface="Arial" pitchFamily="34" charset="0"/>
              </a:rPr>
              <a:t> Die Klasse Thread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>
                <a:srgbClr val="6699FF"/>
              </a:buClr>
              <a:buFont typeface="Zapf Dingbats" charset="2"/>
              <a:buBlip>
                <a:blip r:embed="rId3"/>
              </a:buBlip>
            </a:pPr>
            <a:r>
              <a:rPr lang="de-DE" sz="1800" dirty="0">
                <a:latin typeface="Arial" pitchFamily="34" charset="0"/>
              </a:rPr>
              <a:t> </a:t>
            </a:r>
            <a:r>
              <a:rPr lang="de-DE" sz="1800" dirty="0" smtClean="0">
                <a:latin typeface="Arial" pitchFamily="34" charset="0"/>
              </a:rPr>
              <a:t>Konkurrierende </a:t>
            </a:r>
            <a:r>
              <a:rPr lang="de-DE" sz="1800" dirty="0">
                <a:latin typeface="Arial" pitchFamily="34" charset="0"/>
              </a:rPr>
              <a:t>Zugriffe auf Objekte und Variablen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>
                <a:srgbClr val="6699FF"/>
              </a:buClr>
              <a:buFont typeface="Zapf Dingbats" charset="2"/>
              <a:buBlip>
                <a:blip r:embed="rId3"/>
              </a:buBlip>
            </a:pPr>
            <a:r>
              <a:rPr lang="de-DE" sz="1800" dirty="0">
                <a:latin typeface="Arial" pitchFamily="34" charset="0"/>
              </a:rPr>
              <a:t> Synchronisation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>
                <a:srgbClr val="6699FF"/>
              </a:buClr>
              <a:buFont typeface="Zapf Dingbats" charset="2"/>
              <a:buBlip>
                <a:blip r:embed="rId3"/>
              </a:buBlip>
            </a:pPr>
            <a:r>
              <a:rPr lang="de-DE" sz="1800" dirty="0">
                <a:latin typeface="Arial" pitchFamily="34" charset="0"/>
              </a:rPr>
              <a:t> Kommunikation zwischen Threads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>
                <a:srgbClr val="6699FF"/>
              </a:buClr>
              <a:buFont typeface="Zapf Dingbats" charset="2"/>
              <a:buBlip>
                <a:blip r:embed="rId3"/>
              </a:buBlip>
            </a:pPr>
            <a:r>
              <a:rPr lang="de-DE" sz="1800" dirty="0">
                <a:latin typeface="Arial" pitchFamily="34" charset="0"/>
              </a:rPr>
              <a:t> Erzeuger Verbraucher </a:t>
            </a:r>
            <a:r>
              <a:rPr lang="de-DE" sz="1800" dirty="0" smtClean="0">
                <a:latin typeface="Arial" pitchFamily="34" charset="0"/>
              </a:rPr>
              <a:t>Problem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>
                <a:srgbClr val="6699FF"/>
              </a:buClr>
              <a:buFont typeface="Zapf Dingbats" charset="2"/>
              <a:buBlip>
                <a:blip r:embed="rId3"/>
              </a:buBlip>
            </a:pPr>
            <a:r>
              <a:rPr lang="de-DE" sz="1800" dirty="0" smtClean="0">
                <a:latin typeface="Arial" pitchFamily="34" charset="0"/>
              </a:rPr>
              <a:t>Thread-Verwaltung</a:t>
            </a:r>
            <a:endParaRPr lang="de-DE" sz="1800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Was ist eigentlich ein Thread? </a:t>
            </a:r>
          </a:p>
        </p:txBody>
      </p:sp>
      <p:sp>
        <p:nvSpPr>
          <p:cNvPr id="410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Java verwendet Threads (Stränge).</a:t>
            </a:r>
          </a:p>
          <a:p>
            <a:pPr lvl="1"/>
            <a:r>
              <a:rPr lang="de-DE" dirty="0" smtClean="0"/>
              <a:t>Ein Thread (</a:t>
            </a:r>
            <a:r>
              <a:rPr lang="de-DE" dirty="0" err="1" smtClean="0"/>
              <a:t>thread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control</a:t>
            </a:r>
            <a:r>
              <a:rPr lang="de-DE" dirty="0" smtClean="0"/>
              <a:t>) ist ein sequentieller Ablauf innerhalb eines Programms.</a:t>
            </a:r>
          </a:p>
          <a:p>
            <a:pPr lvl="1"/>
            <a:r>
              <a:rPr lang="de-DE" dirty="0" smtClean="0"/>
              <a:t>Parallelität entsteht, wenn mehrere Threads gleichzeitig aktiv sind.</a:t>
            </a:r>
          </a:p>
          <a:p>
            <a:pPr lvl="1"/>
            <a:r>
              <a:rPr lang="de-DE" dirty="0" smtClean="0"/>
              <a:t>Beispielsweise kann ein Thread ein Bild laden, während ein anderer bereits beginnt, es am Schirm anzuzeigen.</a:t>
            </a:r>
          </a:p>
          <a:p>
            <a:r>
              <a:rPr lang="de-DE" dirty="0" smtClean="0"/>
              <a:t>Von Threads zu unterscheiden sind Prozesse.</a:t>
            </a:r>
          </a:p>
          <a:p>
            <a:pPr lvl="1"/>
            <a:r>
              <a:rPr lang="de-DE" dirty="0" smtClean="0"/>
              <a:t>Prozesse verfügen jeweils über einen eigenen Speicherbereich im Hauptspeicher und über eigene Statusinformation wie Registerbelegung oder geöffnete Dateien.</a:t>
            </a:r>
          </a:p>
          <a:p>
            <a:pPr lvl="1"/>
            <a:r>
              <a:rPr lang="de-DE" dirty="0" smtClean="0"/>
              <a:t>Alle zu einem Programm gehörigen Threads benutzen denselben Speicherbereich. Man nennt Threads daher auch leichtgewichtige Prozesse.</a:t>
            </a:r>
          </a:p>
          <a:p>
            <a:pPr lvl="1"/>
            <a:r>
              <a:rPr lang="de-DE" dirty="0" smtClean="0"/>
              <a:t>Da Threads denselben Speicherbereich benutzen, können sie sich gegenseitig stören.</a:t>
            </a:r>
          </a:p>
        </p:txBody>
      </p:sp>
      <p:sp>
        <p:nvSpPr>
          <p:cNvPr id="6" name="Gefaltete Ecke 5"/>
          <p:cNvSpPr/>
          <p:nvPr/>
        </p:nvSpPr>
        <p:spPr bwMode="auto">
          <a:xfrm>
            <a:off x="6882073" y="180474"/>
            <a:ext cx="2755232" cy="1130968"/>
          </a:xfrm>
          <a:prstGeom prst="foldedCorner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r>
              <a:rPr lang="de-DE" dirty="0" smtClean="0">
                <a:latin typeface="+mj-lt"/>
                <a:cs typeface="Times New Roman" pitchFamily="18" charset="0"/>
              </a:rPr>
              <a:t>Weitere Details zu Threads in </a:t>
            </a:r>
            <a:r>
              <a:rPr lang="de-DE" b="1" dirty="0" smtClean="0">
                <a:latin typeface="+mj-lt"/>
                <a:cs typeface="Times New Roman" pitchFamily="18" charset="0"/>
              </a:rPr>
              <a:t>Betriebssysteme</a:t>
            </a:r>
            <a:r>
              <a:rPr lang="de-DE" dirty="0" smtClean="0">
                <a:latin typeface="+mj-lt"/>
                <a:cs typeface="Times New Roman" pitchFamily="18" charset="0"/>
              </a:rPr>
              <a:t> und </a:t>
            </a:r>
            <a:br>
              <a:rPr lang="de-DE" dirty="0" smtClean="0">
                <a:latin typeface="+mj-lt"/>
                <a:cs typeface="Times New Roman" pitchFamily="18" charset="0"/>
              </a:rPr>
            </a:br>
            <a:r>
              <a:rPr lang="de-DE" b="1" dirty="0" smtClean="0">
                <a:latin typeface="+mj-lt"/>
                <a:cs typeface="Times New Roman" pitchFamily="18" charset="0"/>
              </a:rPr>
              <a:t>Verteilte Verarbeitung</a:t>
            </a:r>
            <a:endParaRPr lang="de-DE" b="1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Warum eigentlich Threads verwenden?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Bessere Interaktion mit dem Benutzer</a:t>
            </a:r>
          </a:p>
          <a:p>
            <a:r>
              <a:rPr lang="de-DE" dirty="0" smtClean="0"/>
              <a:t>Simulation von simultanen Aktivitäten / Implementierung paralleler Algorithmen</a:t>
            </a:r>
          </a:p>
          <a:p>
            <a:r>
              <a:rPr lang="de-DE" dirty="0" smtClean="0"/>
              <a:t>Ausnutzung von Mehrprozessor-Maschinen</a:t>
            </a:r>
          </a:p>
          <a:p>
            <a:r>
              <a:rPr lang="de-DE" dirty="0" smtClean="0"/>
              <a:t>Verfügbarkeit des Systems bei langsamen Operationen </a:t>
            </a:r>
            <a:br>
              <a:rPr lang="de-DE" dirty="0" smtClean="0"/>
            </a:br>
            <a:r>
              <a:rPr lang="de-DE" dirty="0" smtClean="0"/>
              <a:t>(durch asynchrone Aufrufe)</a:t>
            </a:r>
          </a:p>
          <a:p>
            <a:r>
              <a:rPr lang="de-DE" dirty="0" smtClean="0"/>
              <a:t>Steuerbarkeit: Abläufe starten, unterbrechen, fortsetzen, abbrechen</a:t>
            </a:r>
          </a:p>
          <a:p>
            <a:r>
              <a:rPr lang="de-DE" dirty="0" smtClean="0"/>
              <a:t>Werden von einigen Programmiersprachen sehr gut unterstützt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Ausnutzen von Parallelität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1093866"/>
            <a:ext cx="9421812" cy="1577975"/>
          </a:xfrm>
        </p:spPr>
        <p:txBody>
          <a:bodyPr/>
          <a:lstStyle/>
          <a:p>
            <a:r>
              <a:rPr lang="de-DE" dirty="0" smtClean="0"/>
              <a:t>Die Java Virtual </a:t>
            </a:r>
            <a:r>
              <a:rPr lang="de-DE" dirty="0" err="1" smtClean="0"/>
              <a:t>Machine</a:t>
            </a:r>
            <a:r>
              <a:rPr lang="de-DE" dirty="0" smtClean="0"/>
              <a:t> startet in einem eigenen Prozess</a:t>
            </a:r>
          </a:p>
          <a:p>
            <a:pPr lvl="1"/>
            <a:r>
              <a:rPr lang="de-DE" dirty="0" smtClean="0"/>
              <a:t>Ein erster </a:t>
            </a:r>
            <a:r>
              <a:rPr lang="de-DE" dirty="0" smtClean="0">
                <a:latin typeface="Courier New" pitchFamily="49" charset="0"/>
              </a:rPr>
              <a:t>Thread</a:t>
            </a:r>
            <a:r>
              <a:rPr lang="de-DE" dirty="0" smtClean="0"/>
              <a:t> startet und endet mit der Ausführung von </a:t>
            </a:r>
            <a:r>
              <a:rPr lang="de-DE" dirty="0" err="1" smtClean="0">
                <a:latin typeface="Courier New" pitchFamily="49" charset="0"/>
              </a:rPr>
              <a:t>main</a:t>
            </a:r>
            <a:r>
              <a:rPr lang="de-DE" dirty="0" smtClean="0">
                <a:latin typeface="Courier New" pitchFamily="49" charset="0"/>
              </a:rPr>
              <a:t>()</a:t>
            </a:r>
          </a:p>
          <a:p>
            <a:pPr lvl="1"/>
            <a:r>
              <a:rPr lang="de-DE" dirty="0" smtClean="0"/>
              <a:t>Ein zweiter </a:t>
            </a:r>
            <a:r>
              <a:rPr lang="de-DE" dirty="0" smtClean="0">
                <a:latin typeface="Courier New" pitchFamily="49" charset="0"/>
              </a:rPr>
              <a:t>Thread</a:t>
            </a:r>
            <a:r>
              <a:rPr lang="de-DE" dirty="0" smtClean="0"/>
              <a:t> kümmert sich um die </a:t>
            </a:r>
            <a:r>
              <a:rPr lang="de-DE" dirty="0" err="1" smtClean="0"/>
              <a:t>Garbage</a:t>
            </a:r>
            <a:r>
              <a:rPr lang="de-DE" dirty="0" smtClean="0"/>
              <a:t> </a:t>
            </a:r>
            <a:r>
              <a:rPr lang="de-DE" dirty="0" err="1" smtClean="0"/>
              <a:t>Collection</a:t>
            </a:r>
            <a:endParaRPr lang="de-DE" dirty="0" smtClean="0"/>
          </a:p>
          <a:p>
            <a:pPr lvl="1"/>
            <a:r>
              <a:rPr lang="de-DE" dirty="0" smtClean="0"/>
              <a:t>Der Programmierer erzeugt beliebig weitere </a:t>
            </a:r>
            <a:r>
              <a:rPr lang="de-DE" dirty="0" smtClean="0">
                <a:latin typeface="Courier New" pitchFamily="49" charset="0"/>
              </a:rPr>
              <a:t>Thread</a:t>
            </a:r>
            <a:r>
              <a:rPr lang="de-DE" dirty="0" smtClean="0"/>
              <a:t>s</a:t>
            </a:r>
          </a:p>
          <a:p>
            <a:r>
              <a:rPr lang="de-DE" dirty="0" smtClean="0"/>
              <a:t>Jede Anwendungen hat einen Haupt-Thread, der weitere erzeugen kann.</a:t>
            </a:r>
          </a:p>
        </p:txBody>
      </p:sp>
      <p:grpSp>
        <p:nvGrpSpPr>
          <p:cNvPr id="16" name="Gruppieren 15"/>
          <p:cNvGrpSpPr/>
          <p:nvPr/>
        </p:nvGrpSpPr>
        <p:grpSpPr>
          <a:xfrm>
            <a:off x="1639824" y="3342132"/>
            <a:ext cx="6495564" cy="2895600"/>
            <a:chOff x="1981200" y="3086100"/>
            <a:chExt cx="6495564" cy="2895600"/>
          </a:xfrm>
        </p:grpSpPr>
        <p:sp>
          <p:nvSpPr>
            <p:cNvPr id="17" name="AutoShape 4"/>
            <p:cNvSpPr>
              <a:spLocks noChangeArrowheads="1"/>
            </p:cNvSpPr>
            <p:nvPr/>
          </p:nvSpPr>
          <p:spPr bwMode="auto">
            <a:xfrm>
              <a:off x="3505200" y="3086100"/>
              <a:ext cx="304800" cy="2895600"/>
            </a:xfrm>
            <a:prstGeom prst="downArrow">
              <a:avLst>
                <a:gd name="adj1" fmla="val 75000"/>
                <a:gd name="adj2" fmla="val 115627"/>
              </a:avLst>
            </a:prstGeom>
            <a:solidFill>
              <a:srgbClr val="CAFF9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18" name="AutoShape 5"/>
            <p:cNvSpPr>
              <a:spLocks noChangeArrowheads="1"/>
            </p:cNvSpPr>
            <p:nvPr/>
          </p:nvSpPr>
          <p:spPr bwMode="auto">
            <a:xfrm>
              <a:off x="5562600" y="3467100"/>
              <a:ext cx="304800" cy="1752600"/>
            </a:xfrm>
            <a:prstGeom prst="downArrow">
              <a:avLst>
                <a:gd name="adj1" fmla="val 83333"/>
                <a:gd name="adj2" fmla="val 122400"/>
              </a:avLst>
            </a:prstGeom>
            <a:solidFill>
              <a:srgbClr val="CAFF9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>
              <a:off x="3810000" y="3467100"/>
              <a:ext cx="1752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 flipH="1">
              <a:off x="3810000" y="5219700"/>
              <a:ext cx="182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1981200" y="3086100"/>
              <a:ext cx="14859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de-DE" sz="1800" b="1" dirty="0">
                  <a:latin typeface="Arial" pitchFamily="34" charset="0"/>
                </a:rPr>
                <a:t>Haupt-Thread</a:t>
              </a:r>
            </a:p>
          </p:txBody>
        </p:sp>
        <p:sp>
          <p:nvSpPr>
            <p:cNvPr id="22" name="Text Box 9"/>
            <p:cNvSpPr txBox="1">
              <a:spLocks noChangeArrowheads="1"/>
            </p:cNvSpPr>
            <p:nvPr/>
          </p:nvSpPr>
          <p:spPr bwMode="auto">
            <a:xfrm>
              <a:off x="6202680" y="3660648"/>
              <a:ext cx="2274084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de-DE" sz="1800" b="1" dirty="0">
                  <a:solidFill>
                    <a:schemeClr val="accent2"/>
                  </a:solidFill>
                  <a:latin typeface="Arial" pitchFamily="34" charset="0"/>
                </a:rPr>
                <a:t>asynchrone </a:t>
              </a:r>
              <a:r>
                <a:rPr lang="de-DE" sz="1800" b="1" dirty="0" smtClean="0">
                  <a:solidFill>
                    <a:schemeClr val="accent2"/>
                  </a:solidFill>
                  <a:latin typeface="Arial" pitchFamily="34" charset="0"/>
                </a:rPr>
                <a:t>Aufgabe</a:t>
              </a:r>
              <a:br>
                <a:rPr lang="de-DE" sz="1800" b="1" dirty="0" smtClean="0">
                  <a:solidFill>
                    <a:schemeClr val="accent2"/>
                  </a:solidFill>
                  <a:latin typeface="Arial" pitchFamily="34" charset="0"/>
                </a:rPr>
              </a:br>
              <a:r>
                <a:rPr lang="de-DE" sz="1800" b="1" dirty="0" smtClean="0">
                  <a:solidFill>
                    <a:schemeClr val="accent2"/>
                  </a:solidFill>
                  <a:latin typeface="Arial" pitchFamily="34" charset="0"/>
                </a:rPr>
                <a:t>(z.B</a:t>
              </a:r>
              <a:r>
                <a:rPr lang="de-DE" sz="1800" b="1" dirty="0">
                  <a:solidFill>
                    <a:schemeClr val="accent2"/>
                  </a:solidFill>
                  <a:latin typeface="Arial" pitchFamily="34" charset="0"/>
                </a:rPr>
                <a:t>. komplexe </a:t>
              </a:r>
              <a:br>
                <a:rPr lang="de-DE" sz="1800" b="1" dirty="0">
                  <a:solidFill>
                    <a:schemeClr val="accent2"/>
                  </a:solidFill>
                  <a:latin typeface="Arial" pitchFamily="34" charset="0"/>
                </a:rPr>
              </a:br>
              <a:r>
                <a:rPr lang="de-DE" sz="1800" b="1" dirty="0">
                  <a:solidFill>
                    <a:schemeClr val="accent2"/>
                  </a:solidFill>
                  <a:latin typeface="Arial" pitchFamily="34" charset="0"/>
                </a:rPr>
                <a:t>Datenbankabfrage)</a:t>
              </a:r>
            </a:p>
          </p:txBody>
        </p:sp>
        <p:sp>
          <p:nvSpPr>
            <p:cNvPr id="23" name="Text Box 10"/>
            <p:cNvSpPr txBox="1">
              <a:spLocks noChangeArrowheads="1"/>
            </p:cNvSpPr>
            <p:nvPr/>
          </p:nvSpPr>
          <p:spPr bwMode="auto">
            <a:xfrm>
              <a:off x="4343400" y="3162300"/>
              <a:ext cx="682625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de-DE" sz="1800" b="1"/>
                <a:t>run()</a:t>
              </a:r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4267200" y="4914900"/>
              <a:ext cx="8191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de-DE" sz="1800" b="1"/>
                <a:t>join()</a:t>
              </a:r>
            </a:p>
          </p:txBody>
        </p:sp>
        <p:sp>
          <p:nvSpPr>
            <p:cNvPr id="25" name="Rectangle 12"/>
            <p:cNvSpPr>
              <a:spLocks noChangeArrowheads="1"/>
            </p:cNvSpPr>
            <p:nvPr/>
          </p:nvSpPr>
          <p:spPr bwMode="auto">
            <a:xfrm>
              <a:off x="3505200" y="3467100"/>
              <a:ext cx="304800" cy="3048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26" name="Text Box 13"/>
            <p:cNvSpPr txBox="1">
              <a:spLocks noChangeArrowheads="1"/>
            </p:cNvSpPr>
            <p:nvPr/>
          </p:nvSpPr>
          <p:spPr bwMode="auto">
            <a:xfrm>
              <a:off x="2006600" y="3838321"/>
              <a:ext cx="1248162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de-DE" sz="1800" b="1" dirty="0" err="1" smtClean="0">
                  <a:solidFill>
                    <a:srgbClr val="FF0000"/>
                  </a:solidFill>
                  <a:latin typeface="Arial" pitchFamily="34" charset="0"/>
                </a:rPr>
                <a:t>z.B.Warten</a:t>
              </a:r>
              <a:r>
                <a:rPr lang="de-DE" sz="1800" b="1" dirty="0" smtClean="0">
                  <a:solidFill>
                    <a:srgbClr val="FF0000"/>
                  </a:solidFill>
                  <a:latin typeface="Arial" pitchFamily="34" charset="0"/>
                </a:rPr>
                <a:t> </a:t>
              </a:r>
              <a:br>
                <a:rPr lang="de-DE" sz="1800" b="1" dirty="0" smtClean="0">
                  <a:solidFill>
                    <a:srgbClr val="FF0000"/>
                  </a:solidFill>
                  <a:latin typeface="Arial" pitchFamily="34" charset="0"/>
                </a:rPr>
              </a:br>
              <a:r>
                <a:rPr lang="de-DE" sz="1800" b="1" dirty="0" smtClean="0">
                  <a:solidFill>
                    <a:srgbClr val="FF0000"/>
                  </a:solidFill>
                  <a:latin typeface="Arial" pitchFamily="34" charset="0"/>
                </a:rPr>
                <a:t>auf</a:t>
              </a:r>
              <a:endParaRPr lang="de-DE" sz="1800" b="1" dirty="0">
                <a:solidFill>
                  <a:srgbClr val="FF0000"/>
                </a:solidFill>
                <a:latin typeface="Arial" pitchFamily="34" charset="0"/>
              </a:endParaRPr>
            </a:p>
            <a:p>
              <a:pPr algn="ctr">
                <a:buClrTx/>
                <a:buFontTx/>
                <a:buNone/>
              </a:pPr>
              <a:r>
                <a:rPr lang="de-DE" sz="1800" b="1" dirty="0">
                  <a:solidFill>
                    <a:srgbClr val="FF0000"/>
                  </a:solidFill>
                  <a:latin typeface="Arial" pitchFamily="34" charset="0"/>
                </a:rPr>
                <a:t>Benutzer</a:t>
              </a:r>
            </a:p>
          </p:txBody>
        </p:sp>
        <p:sp>
          <p:nvSpPr>
            <p:cNvPr id="27" name="Rectangle 14"/>
            <p:cNvSpPr>
              <a:spLocks noChangeArrowheads="1"/>
            </p:cNvSpPr>
            <p:nvPr/>
          </p:nvSpPr>
          <p:spPr bwMode="auto">
            <a:xfrm>
              <a:off x="3505200" y="3848100"/>
              <a:ext cx="304800" cy="2286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3505200" y="4152900"/>
              <a:ext cx="304800" cy="3048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3505200" y="4533900"/>
              <a:ext cx="304800" cy="76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30" name="Rectangle 17"/>
            <p:cNvSpPr>
              <a:spLocks noChangeArrowheads="1"/>
            </p:cNvSpPr>
            <p:nvPr/>
          </p:nvSpPr>
          <p:spPr bwMode="auto">
            <a:xfrm>
              <a:off x="3505200" y="4838700"/>
              <a:ext cx="304800" cy="76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31" name="Rectangle 18"/>
            <p:cNvSpPr>
              <a:spLocks noChangeArrowheads="1"/>
            </p:cNvSpPr>
            <p:nvPr/>
          </p:nvSpPr>
          <p:spPr bwMode="auto">
            <a:xfrm>
              <a:off x="3505200" y="4991100"/>
              <a:ext cx="304800" cy="2286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de-DE"/>
            </a:p>
          </p:txBody>
        </p:sp>
        <p:sp>
          <p:nvSpPr>
            <p:cNvPr id="32" name="Text Box 12"/>
            <p:cNvSpPr txBox="1">
              <a:spLocks noChangeArrowheads="1"/>
            </p:cNvSpPr>
            <p:nvPr/>
          </p:nvSpPr>
          <p:spPr bwMode="auto">
            <a:xfrm>
              <a:off x="2758600" y="4926051"/>
              <a:ext cx="673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de-DE" sz="1800" b="1" dirty="0">
                  <a:latin typeface="Arial" pitchFamily="34" charset="0"/>
                </a:rPr>
                <a:t>CPU 1</a:t>
              </a:r>
            </a:p>
          </p:txBody>
        </p:sp>
        <p:sp>
          <p:nvSpPr>
            <p:cNvPr id="33" name="Text Box 13"/>
            <p:cNvSpPr txBox="1">
              <a:spLocks noChangeArrowheads="1"/>
            </p:cNvSpPr>
            <p:nvPr/>
          </p:nvSpPr>
          <p:spPr bwMode="auto">
            <a:xfrm>
              <a:off x="5934616" y="4926051"/>
              <a:ext cx="6731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de-DE" sz="1800" b="1" dirty="0">
                  <a:latin typeface="Arial" pitchFamily="34" charset="0"/>
                </a:rPr>
                <a:t>CPU 2</a:t>
              </a:r>
            </a:p>
          </p:txBody>
        </p: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5882800" y="3246603"/>
              <a:ext cx="15367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de-DE" sz="1800" b="1" dirty="0">
                  <a:latin typeface="Arial" pitchFamily="34" charset="0"/>
                </a:rPr>
                <a:t>Neben-Thread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Haben Threads auch Nachteile?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112838"/>
            <a:ext cx="8583613" cy="4572000"/>
          </a:xfrm>
        </p:spPr>
        <p:txBody>
          <a:bodyPr/>
          <a:lstStyle/>
          <a:p>
            <a:r>
              <a:rPr lang="de-DE" dirty="0" smtClean="0"/>
              <a:t>Nutzen muss gegen die Kosten abgewogen werden:</a:t>
            </a:r>
          </a:p>
          <a:p>
            <a:pPr lvl="1"/>
            <a:r>
              <a:rPr lang="de-DE" dirty="0" smtClean="0"/>
              <a:t>Ressourcenverbrauch (Speicher, etc.)</a:t>
            </a:r>
          </a:p>
          <a:p>
            <a:pPr lvl="1"/>
            <a:r>
              <a:rPr lang="de-DE" dirty="0" smtClean="0"/>
              <a:t>Komplexität (</a:t>
            </a:r>
            <a:r>
              <a:rPr lang="de-DE" dirty="0" smtClean="0">
                <a:sym typeface="Wingdings" pitchFamily="2" charset="2"/>
              </a:rPr>
              <a:t> Entwicklungsaufwand, Fehlerwahrscheinlichkeit</a:t>
            </a:r>
            <a:r>
              <a:rPr lang="de-DE" dirty="0" smtClean="0"/>
              <a:t>)</a:t>
            </a:r>
          </a:p>
          <a:p>
            <a:pPr lvl="1"/>
            <a:r>
              <a:rPr lang="de-DE" dirty="0" smtClean="0"/>
              <a:t>Effizienz (Konstruktion von Threads, </a:t>
            </a:r>
            <a:r>
              <a:rPr lang="de-DE" dirty="0" err="1" smtClean="0"/>
              <a:t>Scheduling</a:t>
            </a:r>
            <a:r>
              <a:rPr lang="de-DE" dirty="0" smtClean="0"/>
              <a:t>, </a:t>
            </a:r>
            <a:r>
              <a:rPr lang="de-DE" dirty="0" err="1" smtClean="0"/>
              <a:t>Context</a:t>
            </a:r>
            <a:r>
              <a:rPr lang="de-DE" dirty="0" smtClean="0"/>
              <a:t> Switch, etc.)</a:t>
            </a:r>
          </a:p>
          <a:p>
            <a:r>
              <a:rPr lang="de-DE" dirty="0" smtClean="0"/>
              <a:t>Threads müssen aufeinander abgestimmt werden (sonst Gefahr von inkonsistenten Zuständen und Deadlocks)</a:t>
            </a:r>
          </a:p>
          <a:p>
            <a:r>
              <a:rPr lang="de-DE" dirty="0" smtClean="0"/>
              <a:t>Nichtdeterminismus: Durch </a:t>
            </a:r>
            <a:r>
              <a:rPr lang="de-DE" dirty="0" err="1" smtClean="0"/>
              <a:t>Scheduling</a:t>
            </a:r>
            <a:r>
              <a:rPr lang="de-DE" dirty="0" smtClean="0"/>
              <a:t> können Threads beliebig verzahnt ausgeführt werden.</a:t>
            </a:r>
          </a:p>
          <a:p>
            <a:r>
              <a:rPr lang="de-DE" dirty="0" smtClean="0"/>
              <a:t>Der wechselseitige Ausschluss (</a:t>
            </a:r>
            <a:r>
              <a:rPr lang="de-DE" b="1" dirty="0" smtClean="0"/>
              <a:t>mutual </a:t>
            </a:r>
            <a:r>
              <a:rPr lang="de-DE" b="1" dirty="0" err="1" smtClean="0"/>
              <a:t>exclusion</a:t>
            </a:r>
            <a:r>
              <a:rPr lang="de-DE" dirty="0" smtClean="0"/>
              <a:t>) von Zugriffen </a:t>
            </a:r>
            <a:r>
              <a:rPr lang="de-DE" sz="2000" dirty="0" smtClean="0"/>
              <a:t>auf eine gemeinsam benutzte Variable muss durch Freigeben der Variablen für einen Thread und Sperren für die übrigen implementiert werden (</a:t>
            </a:r>
            <a:r>
              <a:rPr lang="de-DE" sz="2000" dirty="0" err="1" smtClean="0"/>
              <a:t>synchronized</a:t>
            </a:r>
            <a:r>
              <a:rPr lang="de-DE" sz="2000" dirty="0" smtClean="0"/>
              <a:t>, </a:t>
            </a:r>
            <a:r>
              <a:rPr lang="de-DE" sz="2000" dirty="0" err="1" smtClean="0"/>
              <a:t>wait</a:t>
            </a:r>
            <a:r>
              <a:rPr lang="de-DE" sz="2000" dirty="0" smtClean="0"/>
              <a:t>, </a:t>
            </a:r>
            <a:r>
              <a:rPr lang="de-DE" sz="2000" dirty="0" err="1" smtClean="0"/>
              <a:t>notify</a:t>
            </a:r>
            <a:r>
              <a:rPr lang="de-DE" sz="2000" dirty="0" smtClean="0"/>
              <a:t>)</a:t>
            </a:r>
          </a:p>
          <a:p>
            <a:pPr lvl="1">
              <a:buNone/>
            </a:pPr>
            <a:endParaRPr lang="de-DE" sz="2000" dirty="0" smtClean="0"/>
          </a:p>
          <a:p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Die Klasse Thread	</a:t>
            </a:r>
          </a:p>
        </p:txBody>
      </p:sp>
      <p:sp>
        <p:nvSpPr>
          <p:cNvPr id="1126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de-DE" sz="1800" dirty="0" smtClean="0"/>
              <a:t>Threads sind normale Java-Objekte. Die Klasse Thread liefert die nötigen Methoden. </a:t>
            </a:r>
          </a:p>
          <a:p>
            <a:pPr>
              <a:lnSpc>
                <a:spcPct val="80000"/>
              </a:lnSpc>
            </a:pPr>
            <a:r>
              <a:rPr lang="de-DE" sz="1800" dirty="0" smtClean="0"/>
              <a:t>Die wichtigsten </a:t>
            </a:r>
            <a:r>
              <a:rPr lang="de-DE" sz="1800" dirty="0" err="1" smtClean="0"/>
              <a:t>Konstruktoren</a:t>
            </a:r>
            <a:r>
              <a:rPr lang="de-DE" sz="1800" dirty="0" smtClean="0"/>
              <a:t> </a:t>
            </a:r>
            <a:br>
              <a:rPr lang="de-DE" sz="1800" dirty="0" smtClean="0"/>
            </a:br>
            <a:r>
              <a:rPr lang="de-DE" sz="1800" dirty="0" smtClean="0"/>
              <a:t/>
            </a:r>
            <a:br>
              <a:rPr lang="de-DE" sz="1800" dirty="0" smtClean="0"/>
            </a:br>
            <a:r>
              <a:rPr lang="de-DE" sz="1800" dirty="0" smtClean="0"/>
              <a:t/>
            </a:r>
            <a:br>
              <a:rPr lang="de-DE" sz="1800" dirty="0" smtClean="0"/>
            </a:br>
            <a:endParaRPr lang="de-DE" sz="1800" dirty="0" smtClean="0"/>
          </a:p>
          <a:p>
            <a:pPr>
              <a:lnSpc>
                <a:spcPct val="80000"/>
              </a:lnSpc>
            </a:pPr>
            <a:r>
              <a:rPr lang="de-DE" sz="1800" dirty="0" smtClean="0"/>
              <a:t>Über das Interface </a:t>
            </a:r>
            <a:r>
              <a:rPr lang="de-DE" sz="1800" i="1" dirty="0" err="1" smtClean="0"/>
              <a:t>Runnable</a:t>
            </a:r>
            <a:r>
              <a:rPr lang="de-DE" sz="1800" dirty="0" smtClean="0"/>
              <a:t> wird definiert, was ein Thread tut. Es besitzt nur eine Methode</a:t>
            </a:r>
          </a:p>
          <a:p>
            <a:pPr lvl="1">
              <a:lnSpc>
                <a:spcPct val="80000"/>
              </a:lnSpc>
              <a:buNone/>
            </a:pPr>
            <a:endParaRPr lang="de-DE" sz="1600" dirty="0" smtClean="0"/>
          </a:p>
          <a:p>
            <a:pPr>
              <a:lnSpc>
                <a:spcPct val="80000"/>
              </a:lnSpc>
            </a:pPr>
            <a:r>
              <a:rPr lang="de-DE" sz="1800" dirty="0" smtClean="0"/>
              <a:t>Für benannten Threads kann der Name abgelesen und geändert werden mit</a:t>
            </a:r>
            <a:br>
              <a:rPr lang="de-DE" sz="1800" dirty="0" smtClean="0"/>
            </a:br>
            <a:r>
              <a:rPr lang="de-DE" sz="1800" dirty="0" smtClean="0"/>
              <a:t/>
            </a:r>
            <a:br>
              <a:rPr lang="de-DE" sz="1800" dirty="0" smtClean="0"/>
            </a:br>
            <a:r>
              <a:rPr lang="de-DE" sz="1800" dirty="0" smtClean="0"/>
              <a:t/>
            </a:r>
            <a:br>
              <a:rPr lang="de-DE" sz="1800" dirty="0" smtClean="0"/>
            </a:br>
            <a:endParaRPr lang="de-DE" sz="1800" dirty="0" smtClean="0"/>
          </a:p>
          <a:p>
            <a:pPr>
              <a:lnSpc>
                <a:spcPct val="80000"/>
              </a:lnSpc>
            </a:pPr>
            <a:r>
              <a:rPr lang="de-DE" sz="1800" dirty="0" smtClean="0"/>
              <a:t>Durch ein neues Thread-Objekts wird ein noch inaktiver Thread erzeugt. Er wird dann gestartet mit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4230624" y="1780032"/>
            <a:ext cx="4047744" cy="6955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80000"/>
              </a:lnSpc>
            </a:pPr>
            <a:r>
              <a:rPr lang="de-DE" b="1" dirty="0" err="1" smtClean="0"/>
              <a:t>public</a:t>
            </a:r>
            <a:r>
              <a:rPr lang="de-DE" b="1" dirty="0" smtClean="0"/>
              <a:t> Thread();</a:t>
            </a:r>
          </a:p>
          <a:p>
            <a:pPr lvl="1">
              <a:lnSpc>
                <a:spcPct val="80000"/>
              </a:lnSpc>
            </a:pPr>
            <a:r>
              <a:rPr lang="de-DE" b="1" dirty="0" err="1" smtClean="0"/>
              <a:t>public</a:t>
            </a:r>
            <a:r>
              <a:rPr lang="de-DE" b="1" dirty="0" smtClean="0"/>
              <a:t> Thread(String </a:t>
            </a:r>
            <a:r>
              <a:rPr lang="de-DE" b="1" dirty="0" err="1" smtClean="0"/>
              <a:t>name</a:t>
            </a:r>
            <a:r>
              <a:rPr lang="de-DE" b="1" dirty="0" smtClean="0"/>
              <a:t>);</a:t>
            </a:r>
          </a:p>
          <a:p>
            <a:pPr lvl="1">
              <a:lnSpc>
                <a:spcPct val="80000"/>
              </a:lnSpc>
            </a:pPr>
            <a:r>
              <a:rPr lang="de-DE" b="1" dirty="0" err="1" smtClean="0"/>
              <a:t>public</a:t>
            </a:r>
            <a:r>
              <a:rPr lang="de-DE" b="1" dirty="0" smtClean="0"/>
              <a:t> Thread(</a:t>
            </a:r>
            <a:r>
              <a:rPr lang="de-DE" b="1" dirty="0" err="1" smtClean="0"/>
              <a:t>Runnable</a:t>
            </a:r>
            <a:r>
              <a:rPr lang="de-DE" b="1" dirty="0" smtClean="0"/>
              <a:t> r)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231136" y="3297936"/>
            <a:ext cx="6120384" cy="2893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80000"/>
              </a:lnSpc>
            </a:pPr>
            <a:r>
              <a:rPr lang="de-DE" b="1" dirty="0" err="1" smtClean="0"/>
              <a:t>public</a:t>
            </a:r>
            <a:r>
              <a:rPr lang="de-DE" b="1" dirty="0" smtClean="0"/>
              <a:t> </a:t>
            </a:r>
            <a:r>
              <a:rPr lang="de-DE" b="1" dirty="0" err="1" smtClean="0"/>
              <a:t>void</a:t>
            </a:r>
            <a:r>
              <a:rPr lang="de-DE" b="1" dirty="0" smtClean="0"/>
              <a:t> </a:t>
            </a:r>
            <a:r>
              <a:rPr lang="de-DE" b="1" dirty="0" err="1" smtClean="0"/>
              <a:t>run</a:t>
            </a:r>
            <a:r>
              <a:rPr lang="de-DE" b="1" dirty="0" smtClean="0"/>
              <a:t>();	   // </a:t>
            </a:r>
            <a:r>
              <a:rPr lang="de-DE" b="1" dirty="0" err="1" smtClean="0"/>
              <a:t>interface</a:t>
            </a:r>
            <a:r>
              <a:rPr lang="de-DE" b="1" dirty="0" smtClean="0"/>
              <a:t> </a:t>
            </a:r>
            <a:r>
              <a:rPr lang="de-DE" b="1" dirty="0" err="1" smtClean="0"/>
              <a:t>Runnable</a:t>
            </a:r>
            <a:endParaRPr lang="de-DE" b="1" dirty="0" smtClean="0"/>
          </a:p>
        </p:txBody>
      </p:sp>
      <p:sp>
        <p:nvSpPr>
          <p:cNvPr id="8" name="Textfeld 7"/>
          <p:cNvSpPr txBox="1"/>
          <p:nvPr/>
        </p:nvSpPr>
        <p:spPr>
          <a:xfrm>
            <a:off x="658368" y="4261104"/>
            <a:ext cx="5650992" cy="4985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80000"/>
              </a:lnSpc>
            </a:pPr>
            <a:r>
              <a:rPr lang="de-DE" b="1" dirty="0" err="1" smtClean="0"/>
              <a:t>public</a:t>
            </a:r>
            <a:r>
              <a:rPr lang="de-DE" b="1" dirty="0" smtClean="0"/>
              <a:t> final String </a:t>
            </a:r>
            <a:r>
              <a:rPr lang="de-DE" b="1" dirty="0" err="1" smtClean="0"/>
              <a:t>getName</a:t>
            </a:r>
            <a:r>
              <a:rPr lang="de-DE" b="1" dirty="0" smtClean="0"/>
              <a:t>();</a:t>
            </a:r>
          </a:p>
          <a:p>
            <a:pPr lvl="1">
              <a:lnSpc>
                <a:spcPct val="80000"/>
              </a:lnSpc>
            </a:pPr>
            <a:r>
              <a:rPr lang="de-DE" b="1" dirty="0" err="1" smtClean="0"/>
              <a:t>public</a:t>
            </a:r>
            <a:r>
              <a:rPr lang="de-DE" b="1" dirty="0" smtClean="0"/>
              <a:t> final </a:t>
            </a:r>
            <a:r>
              <a:rPr lang="de-DE" b="1" dirty="0" err="1" smtClean="0"/>
              <a:t>void</a:t>
            </a:r>
            <a:r>
              <a:rPr lang="de-DE" b="1" dirty="0" smtClean="0"/>
              <a:t> </a:t>
            </a:r>
            <a:r>
              <a:rPr lang="de-DE" b="1" dirty="0" err="1" smtClean="0"/>
              <a:t>setName</a:t>
            </a:r>
            <a:r>
              <a:rPr lang="de-DE" b="1" dirty="0" smtClean="0"/>
              <a:t>(String </a:t>
            </a:r>
            <a:r>
              <a:rPr lang="de-DE" b="1" dirty="0" err="1" smtClean="0"/>
              <a:t>name</a:t>
            </a:r>
            <a:r>
              <a:rPr lang="de-DE" b="1" dirty="0" smtClean="0"/>
              <a:t>);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2298192" y="5486400"/>
            <a:ext cx="3517392" cy="3016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80000"/>
              </a:lnSpc>
            </a:pPr>
            <a:r>
              <a:rPr lang="de-DE" b="1" dirty="0" err="1" smtClean="0"/>
              <a:t>public</a:t>
            </a:r>
            <a:r>
              <a:rPr lang="de-DE" b="1" dirty="0" smtClean="0"/>
              <a:t> </a:t>
            </a:r>
            <a:r>
              <a:rPr lang="de-DE" b="1" dirty="0" err="1" smtClean="0"/>
              <a:t>void</a:t>
            </a:r>
            <a:r>
              <a:rPr lang="de-DE" b="1" dirty="0" smtClean="0"/>
              <a:t> </a:t>
            </a:r>
            <a:r>
              <a:rPr lang="de-DE" b="1" dirty="0" err="1" smtClean="0"/>
              <a:t>start</a:t>
            </a:r>
            <a:r>
              <a:rPr lang="de-DE" b="1" dirty="0" smtClean="0"/>
              <a:t>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Implementieren von Threads</a:t>
            </a:r>
            <a:r>
              <a:rPr lang="de-DE" smtClean="0"/>
              <a:t>	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Threads können auf 2 Arten implementiert werden:</a:t>
            </a:r>
            <a:br>
              <a:rPr lang="de-DE" dirty="0" smtClean="0"/>
            </a:br>
            <a:endParaRPr lang="de-DE" dirty="0" smtClean="0"/>
          </a:p>
          <a:p>
            <a:pPr lvl="1"/>
            <a:r>
              <a:rPr lang="de-DE" dirty="0" smtClean="0"/>
              <a:t>Eigene Klasse schreiben und von Thread ableiten</a:t>
            </a:r>
            <a:br>
              <a:rPr lang="de-DE" dirty="0" smtClean="0"/>
            </a:br>
            <a:endParaRPr lang="de-DE" dirty="0" smtClean="0"/>
          </a:p>
          <a:p>
            <a:pPr lvl="1"/>
            <a:r>
              <a:rPr lang="de-DE" dirty="0" smtClean="0"/>
              <a:t>Eigene Klasse schreiben, die das Interface </a:t>
            </a:r>
            <a:r>
              <a:rPr lang="de-DE" b="1" dirty="0" err="1" smtClean="0"/>
              <a:t>Runnable</a:t>
            </a:r>
            <a:r>
              <a:rPr lang="de-DE" dirty="0" smtClean="0"/>
              <a:t> implementiert:</a:t>
            </a:r>
            <a:br>
              <a:rPr lang="de-DE" dirty="0" smtClean="0"/>
            </a:br>
            <a:r>
              <a:rPr lang="de-DE" dirty="0" smtClean="0"/>
              <a:t/>
            </a:r>
            <a:br>
              <a:rPr lang="de-DE" dirty="0" smtClean="0"/>
            </a:br>
            <a:endParaRPr lang="de-DE" dirty="0" smtClean="0">
              <a:latin typeface="Courier New" pitchFamily="49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192213" y="3394901"/>
            <a:ext cx="4598987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r>
              <a:rPr lang="de-DE" sz="1800" dirty="0" smtClean="0"/>
              <a:t>  </a:t>
            </a:r>
            <a:r>
              <a:rPr lang="de-DE" sz="1800" dirty="0" err="1" smtClean="0"/>
              <a:t>interface</a:t>
            </a:r>
            <a:r>
              <a:rPr lang="de-DE" sz="1800" dirty="0" smtClean="0"/>
              <a:t> </a:t>
            </a:r>
            <a:r>
              <a:rPr lang="de-DE" sz="1800" b="1" dirty="0" err="1" smtClean="0"/>
              <a:t>Runnable</a:t>
            </a:r>
            <a:r>
              <a:rPr lang="de-DE" sz="1800" dirty="0" smtClean="0"/>
              <a:t> {			</a:t>
            </a:r>
            <a:r>
              <a:rPr lang="de-DE" sz="1800" dirty="0" err="1" smtClean="0"/>
              <a:t>void</a:t>
            </a:r>
            <a:r>
              <a:rPr lang="de-DE" sz="1800" dirty="0" smtClean="0"/>
              <a:t> </a:t>
            </a:r>
            <a:r>
              <a:rPr lang="de-DE" sz="1800" b="1" dirty="0" err="1" smtClean="0"/>
              <a:t>run</a:t>
            </a:r>
            <a:r>
              <a:rPr lang="de-DE" sz="1800" dirty="0" smtClean="0"/>
              <a:t> ();</a:t>
            </a:r>
            <a:br>
              <a:rPr lang="de-DE" sz="1800" dirty="0" smtClean="0"/>
            </a:br>
            <a:r>
              <a:rPr lang="de-DE" sz="1800" dirty="0" smtClean="0"/>
              <a:t>  }</a:t>
            </a:r>
            <a:endParaRPr lang="de-DE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Beispiel </a:t>
            </a:r>
            <a:r>
              <a:rPr lang="de-DE" b="1" smtClean="0">
                <a:latin typeface="Courier New" pitchFamily="49" charset="0"/>
              </a:rPr>
              <a:t>TwoThread</a:t>
            </a: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776288" y="1227138"/>
            <a:ext cx="8497887" cy="44862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de-DE" sz="1800" dirty="0" err="1"/>
              <a:t>public</a:t>
            </a:r>
            <a:r>
              <a:rPr lang="de-DE" sz="1800" dirty="0"/>
              <a:t> </a:t>
            </a:r>
            <a:r>
              <a:rPr lang="de-DE" sz="1800" dirty="0" err="1"/>
              <a:t>class</a:t>
            </a:r>
            <a:r>
              <a:rPr lang="de-DE" sz="1800" dirty="0"/>
              <a:t> </a:t>
            </a:r>
            <a:r>
              <a:rPr lang="de-DE" sz="1800" dirty="0" err="1"/>
              <a:t>TwoThread</a:t>
            </a:r>
            <a:r>
              <a:rPr lang="de-DE" sz="1800" dirty="0"/>
              <a:t> </a:t>
            </a:r>
            <a:r>
              <a:rPr lang="de-DE" sz="1800" dirty="0" err="1"/>
              <a:t>extends</a:t>
            </a:r>
            <a:r>
              <a:rPr lang="de-DE" sz="1800" dirty="0"/>
              <a:t> </a:t>
            </a:r>
            <a:r>
              <a:rPr lang="de-DE" sz="1800" b="1" dirty="0"/>
              <a:t>Thread</a:t>
            </a:r>
            <a:r>
              <a:rPr lang="de-DE" sz="1800" dirty="0"/>
              <a:t> {</a:t>
            </a:r>
          </a:p>
          <a:p>
            <a:pPr>
              <a:buClrTx/>
              <a:buFontTx/>
              <a:buNone/>
            </a:pPr>
            <a:r>
              <a:rPr lang="de-DE" sz="1800" dirty="0"/>
              <a:t>	</a:t>
            </a:r>
            <a:r>
              <a:rPr lang="de-DE" sz="1800" dirty="0" err="1"/>
              <a:t>public</a:t>
            </a:r>
            <a:r>
              <a:rPr lang="de-DE" sz="1800" dirty="0"/>
              <a:t> </a:t>
            </a:r>
            <a:r>
              <a:rPr lang="de-DE" sz="1800" dirty="0" err="1"/>
              <a:t>void</a:t>
            </a:r>
            <a:r>
              <a:rPr lang="de-DE" sz="1800" dirty="0"/>
              <a:t> </a:t>
            </a:r>
            <a:r>
              <a:rPr lang="de-DE" sz="1800" b="1" dirty="0" err="1"/>
              <a:t>run</a:t>
            </a:r>
            <a:r>
              <a:rPr lang="de-DE" sz="1800" dirty="0"/>
              <a:t>() {</a:t>
            </a:r>
          </a:p>
          <a:p>
            <a:pPr>
              <a:buClrTx/>
              <a:buFontTx/>
              <a:buNone/>
            </a:pPr>
            <a:r>
              <a:rPr lang="de-DE" sz="1800" dirty="0"/>
              <a:t>		</a:t>
            </a:r>
            <a:r>
              <a:rPr lang="de-DE" sz="1800" dirty="0" err="1"/>
              <a:t>for</a:t>
            </a:r>
            <a:r>
              <a:rPr lang="de-DE" sz="1800" dirty="0"/>
              <a:t> ( </a:t>
            </a:r>
            <a:r>
              <a:rPr lang="de-DE" sz="1800" dirty="0" err="1"/>
              <a:t>int</a:t>
            </a:r>
            <a:r>
              <a:rPr lang="de-DE" sz="1800" dirty="0"/>
              <a:t> i = 0; i &lt; 10; i++ ) {</a:t>
            </a:r>
          </a:p>
          <a:p>
            <a:pPr>
              <a:buClrTx/>
              <a:buFontTx/>
              <a:buNone/>
            </a:pPr>
            <a:r>
              <a:rPr lang="de-DE" sz="1800" dirty="0"/>
              <a:t>			</a:t>
            </a:r>
            <a:r>
              <a:rPr lang="de-DE" sz="1800" dirty="0" err="1"/>
              <a:t>System.out.println</a:t>
            </a:r>
            <a:r>
              <a:rPr lang="de-DE" sz="1800" dirty="0"/>
              <a:t>("New </a:t>
            </a:r>
            <a:r>
              <a:rPr lang="de-DE" sz="1800" dirty="0" err="1"/>
              <a:t>thread</a:t>
            </a:r>
            <a:r>
              <a:rPr lang="de-DE" sz="1800" dirty="0"/>
              <a:t>");</a:t>
            </a:r>
          </a:p>
          <a:p>
            <a:pPr>
              <a:buClrTx/>
              <a:buFontTx/>
              <a:buNone/>
            </a:pPr>
            <a:r>
              <a:rPr lang="de-DE" sz="1800" dirty="0"/>
              <a:t>		}</a:t>
            </a:r>
          </a:p>
          <a:p>
            <a:pPr>
              <a:buClrTx/>
              <a:buFontTx/>
              <a:buNone/>
            </a:pPr>
            <a:r>
              <a:rPr lang="de-DE" sz="1800" dirty="0"/>
              <a:t>	}</a:t>
            </a:r>
          </a:p>
          <a:p>
            <a:pPr>
              <a:buClrTx/>
              <a:buFontTx/>
              <a:buNone/>
            </a:pPr>
            <a:endParaRPr lang="de-DE" sz="1800" dirty="0"/>
          </a:p>
          <a:p>
            <a:pPr>
              <a:buClrTx/>
              <a:buFontTx/>
              <a:buNone/>
            </a:pPr>
            <a:r>
              <a:rPr lang="de-DE" sz="1800" dirty="0"/>
              <a:t>	</a:t>
            </a:r>
            <a:r>
              <a:rPr lang="de-DE" sz="1800" dirty="0" err="1"/>
              <a:t>public</a:t>
            </a:r>
            <a:r>
              <a:rPr lang="de-DE" sz="1800" dirty="0"/>
              <a:t> </a:t>
            </a:r>
            <a:r>
              <a:rPr lang="de-DE" sz="1800" dirty="0" err="1"/>
              <a:t>static</a:t>
            </a:r>
            <a:r>
              <a:rPr lang="de-DE" sz="1800" dirty="0"/>
              <a:t> </a:t>
            </a:r>
            <a:r>
              <a:rPr lang="de-DE" sz="1800" dirty="0" err="1"/>
              <a:t>void</a:t>
            </a:r>
            <a:r>
              <a:rPr lang="de-DE" sz="1800" dirty="0"/>
              <a:t> </a:t>
            </a:r>
            <a:r>
              <a:rPr lang="de-DE" sz="1800" dirty="0" err="1"/>
              <a:t>main</a:t>
            </a:r>
            <a:r>
              <a:rPr lang="de-DE" sz="1800" dirty="0"/>
              <a:t>(String[] </a:t>
            </a:r>
            <a:r>
              <a:rPr lang="de-DE" sz="1800" dirty="0" err="1"/>
              <a:t>args</a:t>
            </a:r>
            <a:r>
              <a:rPr lang="de-DE" sz="1800" dirty="0"/>
              <a:t>) {</a:t>
            </a:r>
          </a:p>
          <a:p>
            <a:pPr>
              <a:buClrTx/>
              <a:buFontTx/>
              <a:buNone/>
            </a:pPr>
            <a:r>
              <a:rPr lang="de-DE" sz="1800" dirty="0"/>
              <a:t>		</a:t>
            </a:r>
            <a:r>
              <a:rPr lang="de-DE" sz="1800" dirty="0" err="1"/>
              <a:t>TwoThread</a:t>
            </a:r>
            <a:r>
              <a:rPr lang="de-DE" sz="1800" dirty="0"/>
              <a:t> </a:t>
            </a:r>
            <a:r>
              <a:rPr lang="de-DE" sz="1800" dirty="0" err="1"/>
              <a:t>tt</a:t>
            </a:r>
            <a:r>
              <a:rPr lang="de-DE" sz="1800" dirty="0"/>
              <a:t> = </a:t>
            </a:r>
            <a:r>
              <a:rPr lang="de-DE" sz="1800" dirty="0" err="1"/>
              <a:t>new</a:t>
            </a:r>
            <a:r>
              <a:rPr lang="de-DE" sz="1800" dirty="0"/>
              <a:t> </a:t>
            </a:r>
            <a:r>
              <a:rPr lang="de-DE" sz="1800" dirty="0" err="1"/>
              <a:t>TwoThread</a:t>
            </a:r>
            <a:r>
              <a:rPr lang="de-DE" sz="1800" dirty="0"/>
              <a:t>();</a:t>
            </a:r>
          </a:p>
          <a:p>
            <a:pPr>
              <a:buClrTx/>
              <a:buFontTx/>
              <a:buNone/>
            </a:pPr>
            <a:r>
              <a:rPr lang="de-DE" sz="1800" dirty="0"/>
              <a:t>		</a:t>
            </a:r>
            <a:r>
              <a:rPr lang="de-DE" sz="1800" b="1" dirty="0" err="1"/>
              <a:t>tt.start</a:t>
            </a:r>
            <a:r>
              <a:rPr lang="de-DE" sz="1800" b="1" dirty="0"/>
              <a:t>();</a:t>
            </a:r>
          </a:p>
          <a:p>
            <a:pPr>
              <a:buClrTx/>
              <a:buFontTx/>
              <a:buNone/>
            </a:pPr>
            <a:endParaRPr lang="de-DE" sz="1800" dirty="0"/>
          </a:p>
          <a:p>
            <a:pPr>
              <a:buClrTx/>
              <a:buFontTx/>
              <a:buNone/>
            </a:pPr>
            <a:r>
              <a:rPr lang="de-DE" sz="1800" dirty="0"/>
              <a:t>		</a:t>
            </a:r>
            <a:r>
              <a:rPr lang="de-DE" sz="1800" dirty="0" err="1"/>
              <a:t>for</a:t>
            </a:r>
            <a:r>
              <a:rPr lang="de-DE" sz="1800" dirty="0"/>
              <a:t> ( </a:t>
            </a:r>
            <a:r>
              <a:rPr lang="de-DE" sz="1800" dirty="0" err="1"/>
              <a:t>int</a:t>
            </a:r>
            <a:r>
              <a:rPr lang="de-DE" sz="1800" dirty="0"/>
              <a:t> i = 0; i &lt; 10; i++ ) {</a:t>
            </a:r>
          </a:p>
          <a:p>
            <a:pPr>
              <a:buClrTx/>
              <a:buFontTx/>
              <a:buNone/>
            </a:pPr>
            <a:r>
              <a:rPr lang="de-DE" sz="1800" dirty="0"/>
              <a:t>			</a:t>
            </a:r>
            <a:r>
              <a:rPr lang="de-DE" sz="1800" dirty="0" err="1"/>
              <a:t>System.out.println</a:t>
            </a:r>
            <a:r>
              <a:rPr lang="de-DE" sz="1800" dirty="0"/>
              <a:t>("Main </a:t>
            </a:r>
            <a:r>
              <a:rPr lang="de-DE" sz="1800" dirty="0" err="1"/>
              <a:t>thread</a:t>
            </a:r>
            <a:r>
              <a:rPr lang="de-DE" sz="1800" dirty="0"/>
              <a:t>");</a:t>
            </a:r>
          </a:p>
          <a:p>
            <a:pPr>
              <a:buClrTx/>
              <a:buFontTx/>
              <a:buNone/>
            </a:pPr>
            <a:r>
              <a:rPr lang="de-DE" sz="1800" dirty="0"/>
              <a:t>		}</a:t>
            </a:r>
          </a:p>
          <a:p>
            <a:pPr>
              <a:buClrTx/>
              <a:buFontTx/>
              <a:buNone/>
            </a:pPr>
            <a:r>
              <a:rPr lang="de-DE" sz="1800" dirty="0"/>
              <a:t>	}</a:t>
            </a:r>
          </a:p>
          <a:p>
            <a:pPr>
              <a:buClrTx/>
              <a:buFontTx/>
              <a:buNone/>
            </a:pPr>
            <a:r>
              <a:rPr lang="de-DE" sz="18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2146300" y="2133600"/>
            <a:ext cx="1320800" cy="2971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endParaRPr lang="de-DE">
              <a:latin typeface="Tahoma" pitchFamily="34" charset="0"/>
            </a:endParaRPr>
          </a:p>
        </p:txBody>
      </p:sp>
      <p:sp>
        <p:nvSpPr>
          <p:cNvPr id="14340" name="AutoShape 3"/>
          <p:cNvSpPr>
            <a:spLocks noChangeArrowheads="1"/>
          </p:cNvSpPr>
          <p:nvPr/>
        </p:nvSpPr>
        <p:spPr bwMode="auto">
          <a:xfrm>
            <a:off x="4044950" y="4191000"/>
            <a:ext cx="908050" cy="685800"/>
          </a:xfrm>
          <a:prstGeom prst="ca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>
                <a:latin typeface="Tahoma" pitchFamily="34" charset="0"/>
              </a:rPr>
              <a:t>buffer</a:t>
            </a:r>
          </a:p>
        </p:txBody>
      </p:sp>
      <p:sp>
        <p:nvSpPr>
          <p:cNvPr id="14341" name="Line 4"/>
          <p:cNvSpPr>
            <a:spLocks noChangeShapeType="1"/>
          </p:cNvSpPr>
          <p:nvPr/>
        </p:nvSpPr>
        <p:spPr bwMode="auto">
          <a:xfrm flipH="1">
            <a:off x="3467100" y="4572000"/>
            <a:ext cx="57785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 flipH="1">
            <a:off x="4953000" y="4572000"/>
            <a:ext cx="57785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4343" name="Text Box 6"/>
          <p:cNvSpPr txBox="1">
            <a:spLocks noChangeArrowheads="1"/>
          </p:cNvSpPr>
          <p:nvPr/>
        </p:nvSpPr>
        <p:spPr bwMode="auto">
          <a:xfrm>
            <a:off x="2146300" y="1733550"/>
            <a:ext cx="103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de-DE" sz="1800">
                <a:latin typeface="Arial" pitchFamily="34" charset="0"/>
              </a:rPr>
              <a:t>Thread t</a:t>
            </a:r>
          </a:p>
        </p:txBody>
      </p:sp>
      <p:sp>
        <p:nvSpPr>
          <p:cNvPr id="14344" name="Text Box 7"/>
          <p:cNvSpPr txBox="1">
            <a:spLocks noChangeArrowheads="1"/>
          </p:cNvSpPr>
          <p:nvPr/>
        </p:nvSpPr>
        <p:spPr bwMode="auto">
          <a:xfrm>
            <a:off x="1371600" y="5486400"/>
            <a:ext cx="7289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de-DE" sz="2000">
                <a:latin typeface="Arial" pitchFamily="34" charset="0"/>
              </a:rPr>
              <a:t>Problem: t und s kommen sich bei Buffer-Zugriffen in die Quere</a:t>
            </a:r>
          </a:p>
        </p:txBody>
      </p:sp>
      <p:sp>
        <p:nvSpPr>
          <p:cNvPr id="14345" name="Rectangle 8"/>
          <p:cNvSpPr>
            <a:spLocks noChangeArrowheads="1"/>
          </p:cNvSpPr>
          <p:nvPr/>
        </p:nvSpPr>
        <p:spPr bwMode="auto">
          <a:xfrm>
            <a:off x="5530850" y="2133600"/>
            <a:ext cx="1320800" cy="2971800"/>
          </a:xfrm>
          <a:prstGeom prst="rect">
            <a:avLst/>
          </a:prstGeom>
          <a:solidFill>
            <a:srgbClr val="FF912D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endParaRPr lang="de-DE">
              <a:latin typeface="Tahoma" pitchFamily="34" charset="0"/>
            </a:endParaRPr>
          </a:p>
        </p:txBody>
      </p:sp>
      <p:sp>
        <p:nvSpPr>
          <p:cNvPr id="14346" name="Text Box 9"/>
          <p:cNvSpPr txBox="1">
            <a:spLocks noChangeArrowheads="1"/>
          </p:cNvSpPr>
          <p:nvPr/>
        </p:nvSpPr>
        <p:spPr bwMode="auto">
          <a:xfrm>
            <a:off x="5638800" y="1752600"/>
            <a:ext cx="1085850" cy="3667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de-DE" sz="1800">
                <a:latin typeface="Arial" pitchFamily="34" charset="0"/>
              </a:rPr>
              <a:t>Thread s</a:t>
            </a:r>
          </a:p>
        </p:txBody>
      </p:sp>
      <p:sp>
        <p:nvSpPr>
          <p:cNvPr id="14347" name="Rectangle 10"/>
          <p:cNvSpPr>
            <a:spLocks noGrp="1" noChangeArrowheads="1"/>
          </p:cNvSpPr>
          <p:nvPr>
            <p:ph type="title"/>
          </p:nvPr>
        </p:nvSpPr>
        <p:spPr>
          <a:xfrm>
            <a:off x="739775" y="265113"/>
            <a:ext cx="7091363" cy="427037"/>
          </a:xfrm>
        </p:spPr>
        <p:txBody>
          <a:bodyPr/>
          <a:lstStyle/>
          <a:p>
            <a:r>
              <a:rPr lang="de-DE" b="1" smtClean="0"/>
              <a:t>Zwei Threads, eine Ressource (1)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Zwei Threads, eine Ressource (2)		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984250"/>
            <a:ext cx="8382000" cy="609600"/>
          </a:xfrm>
        </p:spPr>
        <p:txBody>
          <a:bodyPr/>
          <a:lstStyle/>
          <a:p>
            <a:r>
              <a:rPr lang="de-DE" smtClean="0"/>
              <a:t>Unsere Ressource: ein Integer-Wert gekapselt in einer Klasse.</a:t>
            </a:r>
          </a:p>
          <a:p>
            <a:r>
              <a:rPr lang="de-DE" smtClean="0"/>
              <a:t>Aufgabe: zwei Threads führen parallel die folgenden Schritte aus:</a:t>
            </a:r>
          </a:p>
          <a:p>
            <a:pPr lvl="1"/>
            <a:r>
              <a:rPr lang="de-DE" smtClean="0"/>
              <a:t>aktuellen Wert aus Ressource lesen</a:t>
            </a:r>
          </a:p>
          <a:p>
            <a:pPr lvl="1"/>
            <a:r>
              <a:rPr lang="de-DE" smtClean="0"/>
              <a:t>Delta addieren</a:t>
            </a:r>
          </a:p>
          <a:p>
            <a:pPr lvl="1"/>
            <a:r>
              <a:rPr lang="de-DE" smtClean="0"/>
              <a:t>neuen Wert zurückschreiben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1801813" y="3529013"/>
            <a:ext cx="5051425" cy="244475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buClrTx/>
              <a:buFontTx/>
              <a:buNone/>
            </a:pPr>
            <a:r>
              <a:rPr lang="de-DE" b="1"/>
              <a:t>class IntBuffer</a:t>
            </a:r>
            <a:r>
              <a:rPr lang="de-DE"/>
              <a:t> {</a:t>
            </a:r>
          </a:p>
          <a:p>
            <a:pPr>
              <a:buClrTx/>
              <a:buFontTx/>
              <a:buNone/>
            </a:pPr>
            <a:r>
              <a:rPr lang="de-DE"/>
              <a:t>    private </a:t>
            </a:r>
            <a:r>
              <a:rPr lang="de-DE" b="1"/>
              <a:t>int value</a:t>
            </a:r>
            <a:r>
              <a:rPr lang="de-DE"/>
              <a:t> = 0;</a:t>
            </a:r>
          </a:p>
          <a:p>
            <a:pPr>
              <a:buClrTx/>
              <a:buFontTx/>
              <a:buNone/>
            </a:pPr>
            <a:endParaRPr lang="de-DE"/>
          </a:p>
          <a:p>
            <a:pPr>
              <a:buClrTx/>
              <a:buFontTx/>
              <a:buNone/>
            </a:pPr>
            <a:r>
              <a:rPr lang="de-DE"/>
              <a:t>    public </a:t>
            </a:r>
            <a:r>
              <a:rPr lang="de-DE" b="1"/>
              <a:t>int getValue()</a:t>
            </a:r>
            <a:r>
              <a:rPr lang="de-DE"/>
              <a:t> {</a:t>
            </a:r>
          </a:p>
          <a:p>
            <a:pPr>
              <a:buClrTx/>
              <a:buFontTx/>
              <a:buNone/>
            </a:pPr>
            <a:r>
              <a:rPr lang="de-DE"/>
              <a:t>        return value;</a:t>
            </a:r>
          </a:p>
          <a:p>
            <a:pPr>
              <a:buClrTx/>
              <a:buFontTx/>
              <a:buNone/>
            </a:pPr>
            <a:r>
              <a:rPr lang="de-DE"/>
              <a:t>    }</a:t>
            </a:r>
          </a:p>
          <a:p>
            <a:pPr>
              <a:buClrTx/>
              <a:buFontTx/>
              <a:buNone/>
            </a:pPr>
            <a:r>
              <a:rPr lang="de-DE"/>
              <a:t>    public </a:t>
            </a:r>
            <a:r>
              <a:rPr lang="de-DE" b="1"/>
              <a:t>void setValue(int value)</a:t>
            </a:r>
            <a:r>
              <a:rPr lang="de-DE"/>
              <a:t> {</a:t>
            </a:r>
          </a:p>
          <a:p>
            <a:pPr>
              <a:buClrTx/>
              <a:buFontTx/>
              <a:buNone/>
            </a:pPr>
            <a:r>
              <a:rPr lang="de-DE"/>
              <a:t>        this.value = value;</a:t>
            </a:r>
          </a:p>
          <a:p>
            <a:pPr>
              <a:buClrTx/>
              <a:buFontTx/>
              <a:buNone/>
            </a:pPr>
            <a:r>
              <a:rPr lang="de-DE"/>
              <a:t>    }</a:t>
            </a:r>
          </a:p>
          <a:p>
            <a:pPr>
              <a:buClrTx/>
              <a:buFontTx/>
              <a:buNone/>
            </a:pPr>
            <a:r>
              <a:rPr lang="de-DE"/>
              <a:t>}</a:t>
            </a:r>
            <a:endParaRPr lang="de-DE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Zwei Threads, eine Ressource (3)		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868363"/>
            <a:ext cx="6173788" cy="4227512"/>
          </a:xfrm>
          <a:solidFill>
            <a:srgbClr val="FFFF99">
              <a:alpha val="50195"/>
            </a:srgbClr>
          </a:solidFill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de-DE" sz="1600" smtClean="0">
                <a:latin typeface="Courier New" pitchFamily="49" charset="0"/>
              </a:rPr>
              <a:t>class </a:t>
            </a:r>
            <a:r>
              <a:rPr lang="de-DE" sz="1600" b="1" smtClean="0">
                <a:latin typeface="Courier New" pitchFamily="49" charset="0"/>
              </a:rPr>
              <a:t>AsyncMath extends Thread</a:t>
            </a:r>
            <a:r>
              <a:rPr lang="de-DE" sz="1600" smtClean="0">
                <a:latin typeface="Courier New" pitchFamily="49" charset="0"/>
              </a:rPr>
              <a:t> {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... // Attribute und Konstruktor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public </a:t>
            </a:r>
            <a:r>
              <a:rPr lang="de-DE" sz="1600" b="1" smtClean="0">
                <a:latin typeface="Courier New" pitchFamily="49" charset="0"/>
              </a:rPr>
              <a:t>void addDelta()</a:t>
            </a:r>
            <a:r>
              <a:rPr lang="de-DE" sz="1600" smtClean="0">
                <a:latin typeface="Courier New" pitchFamily="49" charset="0"/>
              </a:rPr>
              <a:t> {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try {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    int </a:t>
            </a:r>
            <a:r>
              <a:rPr lang="de-DE" sz="1600" b="1" smtClean="0">
                <a:latin typeface="Courier New" pitchFamily="49" charset="0"/>
              </a:rPr>
              <a:t>a = buffer.getValue()</a:t>
            </a:r>
            <a:r>
              <a:rPr lang="de-DE" sz="1600" smtClean="0">
                <a:latin typeface="Courier New" pitchFamily="49" charset="0"/>
              </a:rPr>
              <a:t>;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    </a:t>
            </a:r>
            <a:r>
              <a:rPr lang="de-DE" sz="1600" b="1" smtClean="0">
                <a:latin typeface="Courier New" pitchFamily="49" charset="0"/>
              </a:rPr>
              <a:t>a += delta</a:t>
            </a:r>
            <a:r>
              <a:rPr lang="de-DE" sz="1600" smtClean="0">
                <a:latin typeface="Courier New" pitchFamily="49" charset="0"/>
              </a:rPr>
              <a:t>;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    sleep(waitPattern++ &amp; 15);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    </a:t>
            </a:r>
            <a:r>
              <a:rPr lang="de-DE" sz="1600" b="1" smtClean="0">
                <a:latin typeface="Courier New" pitchFamily="49" charset="0"/>
              </a:rPr>
              <a:t>buffer.setValue(a)</a:t>
            </a:r>
            <a:r>
              <a:rPr lang="de-DE" sz="1600" smtClean="0">
                <a:latin typeface="Courier New" pitchFamily="49" charset="0"/>
              </a:rPr>
              <a:t>;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} catch (InterruptedException e) { }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}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public void </a:t>
            </a:r>
            <a:r>
              <a:rPr lang="de-DE" sz="1600" b="1" smtClean="0">
                <a:latin typeface="Courier New" pitchFamily="49" charset="0"/>
              </a:rPr>
              <a:t>run()</a:t>
            </a:r>
            <a:r>
              <a:rPr lang="de-DE" sz="1600" smtClean="0">
                <a:latin typeface="Courier New" pitchFamily="49" charset="0"/>
              </a:rPr>
              <a:t> {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  for (int i = 0; i &lt; 1000; i++) {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     </a:t>
            </a:r>
            <a:r>
              <a:rPr lang="de-DE" sz="1600" b="1" smtClean="0">
                <a:latin typeface="Courier New" pitchFamily="49" charset="0"/>
              </a:rPr>
              <a:t>addDelta();</a:t>
            </a:r>
            <a:br>
              <a:rPr lang="de-DE" sz="1600" b="1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     System.out.println(buffer.getValue());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    }</a:t>
            </a:r>
            <a:br>
              <a:rPr lang="de-DE" sz="1600" smtClean="0">
                <a:latin typeface="Courier New" pitchFamily="49" charset="0"/>
              </a:rPr>
            </a:br>
            <a:r>
              <a:rPr lang="de-DE" sz="1600" smtClean="0">
                <a:latin typeface="Courier New" pitchFamily="49" charset="0"/>
              </a:rPr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de-DE" sz="1600" smtClean="0">
                <a:latin typeface="Courier New" pitchFamily="49" charset="0"/>
              </a:rPr>
              <a:t>}</a:t>
            </a:r>
          </a:p>
        </p:txBody>
      </p:sp>
      <p:sp>
        <p:nvSpPr>
          <p:cNvPr id="966660" name="Rectangle 4"/>
          <p:cNvSpPr>
            <a:spLocks noChangeArrowheads="1"/>
          </p:cNvSpPr>
          <p:nvPr/>
        </p:nvSpPr>
        <p:spPr bwMode="auto">
          <a:xfrm>
            <a:off x="2738438" y="4249738"/>
            <a:ext cx="6915150" cy="2032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>
                <a:solidFill>
                  <a:srgbClr val="000000"/>
                </a:solidFill>
              </a:rPr>
              <a:t>  IntBuffer buffer = new IntBuffer();</a:t>
            </a:r>
            <a:br>
              <a:rPr lang="de-DE">
                <a:solidFill>
                  <a:srgbClr val="000000"/>
                </a:solidFill>
              </a:rPr>
            </a:br>
            <a:r>
              <a:rPr lang="de-DE">
                <a:solidFill>
                  <a:srgbClr val="000000"/>
                </a:solidFill>
              </a:rPr>
              <a:t>Thread t1 = new AsyncMath(buffer, </a:t>
            </a:r>
            <a:r>
              <a:rPr lang="de-DE" b="1">
                <a:solidFill>
                  <a:srgbClr val="000000"/>
                </a:solidFill>
              </a:rPr>
              <a:t>1</a:t>
            </a:r>
            <a:r>
              <a:rPr lang="de-DE">
                <a:solidFill>
                  <a:srgbClr val="000000"/>
                </a:solidFill>
              </a:rPr>
              <a:t>);</a:t>
            </a:r>
            <a:br>
              <a:rPr lang="de-DE">
                <a:solidFill>
                  <a:srgbClr val="000000"/>
                </a:solidFill>
              </a:rPr>
            </a:br>
            <a:r>
              <a:rPr lang="de-DE">
                <a:solidFill>
                  <a:srgbClr val="000000"/>
                </a:solidFill>
              </a:rPr>
              <a:t>Thread t2 = new AsyncMath(buffer, </a:t>
            </a:r>
            <a:r>
              <a:rPr lang="de-DE" b="1">
                <a:solidFill>
                  <a:srgbClr val="000000"/>
                </a:solidFill>
              </a:rPr>
              <a:t>-1</a:t>
            </a:r>
            <a:r>
              <a:rPr lang="de-DE">
                <a:solidFill>
                  <a:srgbClr val="000000"/>
                </a:solidFill>
              </a:rPr>
              <a:t>);</a:t>
            </a:r>
            <a:br>
              <a:rPr lang="de-DE">
                <a:solidFill>
                  <a:srgbClr val="000000"/>
                </a:solidFill>
              </a:rPr>
            </a:br>
            <a:r>
              <a:rPr lang="de-DE">
                <a:solidFill>
                  <a:srgbClr val="000000"/>
                </a:solidFill>
              </a:rPr>
              <a:t>t1.start(); t2.start();</a:t>
            </a:r>
            <a:br>
              <a:rPr lang="de-DE">
                <a:solidFill>
                  <a:srgbClr val="000000"/>
                </a:solidFill>
              </a:rPr>
            </a:br>
            <a:r>
              <a:rPr lang="de-DE">
                <a:solidFill>
                  <a:srgbClr val="000000"/>
                </a:solidFill>
              </a:rPr>
              <a:t>try {</a:t>
            </a:r>
            <a:br>
              <a:rPr lang="de-DE">
                <a:solidFill>
                  <a:srgbClr val="000000"/>
                </a:solidFill>
              </a:rPr>
            </a:br>
            <a:r>
              <a:rPr lang="de-DE">
                <a:solidFill>
                  <a:srgbClr val="000000"/>
                </a:solidFill>
              </a:rPr>
              <a:t>   t1.join(); t2.join();</a:t>
            </a:r>
            <a:br>
              <a:rPr lang="de-DE">
                <a:solidFill>
                  <a:srgbClr val="000000"/>
                </a:solidFill>
              </a:rPr>
            </a:br>
            <a:r>
              <a:rPr lang="de-DE">
                <a:solidFill>
                  <a:srgbClr val="000000"/>
                </a:solidFill>
              </a:rPr>
              <a:t>} catch (Exception e) { }</a:t>
            </a:r>
            <a:br>
              <a:rPr lang="de-DE">
                <a:solidFill>
                  <a:srgbClr val="000000"/>
                </a:solidFill>
              </a:rPr>
            </a:br>
            <a:r>
              <a:rPr lang="de-DE">
                <a:solidFill>
                  <a:srgbClr val="000000"/>
                </a:solidFill>
              </a:rPr>
              <a:t>System.out.print("Erg.:"+ buffer.getValue());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6660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1776664" y="2108200"/>
            <a:ext cx="5554663" cy="3841750"/>
            <a:chOff x="925" y="1372"/>
            <a:chExt cx="3499" cy="2420"/>
          </a:xfrm>
        </p:grpSpPr>
        <p:sp>
          <p:nvSpPr>
            <p:cNvPr id="18438" name="Text Box 3"/>
            <p:cNvSpPr txBox="1">
              <a:spLocks noChangeArrowheads="1"/>
            </p:cNvSpPr>
            <p:nvPr/>
          </p:nvSpPr>
          <p:spPr bwMode="auto">
            <a:xfrm>
              <a:off x="925" y="1393"/>
              <a:ext cx="27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b="1"/>
                <a:t>t1</a:t>
              </a:r>
            </a:p>
          </p:txBody>
        </p:sp>
        <p:sp>
          <p:nvSpPr>
            <p:cNvPr id="18439" name="Text Box 4"/>
            <p:cNvSpPr txBox="1">
              <a:spLocks noChangeArrowheads="1"/>
            </p:cNvSpPr>
            <p:nvPr/>
          </p:nvSpPr>
          <p:spPr bwMode="auto">
            <a:xfrm>
              <a:off x="1924" y="1389"/>
              <a:ext cx="27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b="1"/>
                <a:t>t2</a:t>
              </a:r>
            </a:p>
          </p:txBody>
        </p:sp>
        <p:sp>
          <p:nvSpPr>
            <p:cNvPr id="18440" name="Text Box 5"/>
            <p:cNvSpPr txBox="1">
              <a:spLocks noChangeArrowheads="1"/>
            </p:cNvSpPr>
            <p:nvPr/>
          </p:nvSpPr>
          <p:spPr bwMode="auto">
            <a:xfrm>
              <a:off x="2901" y="1393"/>
              <a:ext cx="27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b="1"/>
                <a:t>t3</a:t>
              </a:r>
            </a:p>
          </p:txBody>
        </p:sp>
        <p:sp>
          <p:nvSpPr>
            <p:cNvPr id="18441" name="Text Box 6"/>
            <p:cNvSpPr txBox="1">
              <a:spLocks noChangeArrowheads="1"/>
            </p:cNvSpPr>
            <p:nvPr/>
          </p:nvSpPr>
          <p:spPr bwMode="auto">
            <a:xfrm>
              <a:off x="3692" y="1372"/>
              <a:ext cx="7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b="1"/>
                <a:t>myObject</a:t>
              </a:r>
            </a:p>
          </p:txBody>
        </p:sp>
        <p:sp>
          <p:nvSpPr>
            <p:cNvPr id="18442" name="Rectangle 7"/>
            <p:cNvSpPr>
              <a:spLocks noChangeArrowheads="1"/>
            </p:cNvSpPr>
            <p:nvPr/>
          </p:nvSpPr>
          <p:spPr bwMode="auto">
            <a:xfrm>
              <a:off x="3848" y="1824"/>
              <a:ext cx="312" cy="76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443" name="Line 8"/>
            <p:cNvSpPr>
              <a:spLocks noChangeShapeType="1"/>
            </p:cNvSpPr>
            <p:nvPr/>
          </p:nvSpPr>
          <p:spPr bwMode="auto">
            <a:xfrm>
              <a:off x="1040" y="1968"/>
              <a:ext cx="28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444" name="Line 9"/>
            <p:cNvSpPr>
              <a:spLocks noChangeShapeType="1"/>
            </p:cNvSpPr>
            <p:nvPr/>
          </p:nvSpPr>
          <p:spPr bwMode="auto">
            <a:xfrm>
              <a:off x="1040" y="1776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445" name="Line 10"/>
            <p:cNvSpPr>
              <a:spLocks noChangeShapeType="1"/>
            </p:cNvSpPr>
            <p:nvPr/>
          </p:nvSpPr>
          <p:spPr bwMode="auto">
            <a:xfrm>
              <a:off x="3016" y="1776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446" name="Line 11"/>
            <p:cNvSpPr>
              <a:spLocks noChangeShapeType="1"/>
            </p:cNvSpPr>
            <p:nvPr/>
          </p:nvSpPr>
          <p:spPr bwMode="auto">
            <a:xfrm>
              <a:off x="2028" y="1776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447" name="Text Box 12"/>
            <p:cNvSpPr txBox="1">
              <a:spLocks noChangeArrowheads="1"/>
            </p:cNvSpPr>
            <p:nvPr/>
          </p:nvSpPr>
          <p:spPr bwMode="auto">
            <a:xfrm>
              <a:off x="2080" y="1757"/>
              <a:ext cx="71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sz="1400" b="1"/>
                <a:t>aMethod()</a:t>
              </a:r>
            </a:p>
          </p:txBody>
        </p:sp>
        <p:sp>
          <p:nvSpPr>
            <p:cNvPr id="18448" name="Line 13"/>
            <p:cNvSpPr>
              <a:spLocks noChangeShapeType="1"/>
            </p:cNvSpPr>
            <p:nvPr/>
          </p:nvSpPr>
          <p:spPr bwMode="auto">
            <a:xfrm>
              <a:off x="2028" y="2496"/>
              <a:ext cx="1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449" name="Rectangle 14"/>
            <p:cNvSpPr>
              <a:spLocks noChangeArrowheads="1"/>
            </p:cNvSpPr>
            <p:nvPr/>
          </p:nvSpPr>
          <p:spPr bwMode="auto">
            <a:xfrm>
              <a:off x="3848" y="2400"/>
              <a:ext cx="312" cy="528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450" name="Line 15"/>
            <p:cNvSpPr>
              <a:spLocks noChangeShapeType="1"/>
            </p:cNvSpPr>
            <p:nvPr/>
          </p:nvSpPr>
          <p:spPr bwMode="auto">
            <a:xfrm>
              <a:off x="3016" y="2784"/>
              <a:ext cx="8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451" name="Text Box 16"/>
            <p:cNvSpPr txBox="1">
              <a:spLocks noChangeArrowheads="1"/>
            </p:cNvSpPr>
            <p:nvPr/>
          </p:nvSpPr>
          <p:spPr bwMode="auto">
            <a:xfrm>
              <a:off x="3120" y="2621"/>
              <a:ext cx="71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sz="1400" b="1"/>
                <a:t>aMethod()</a:t>
              </a:r>
            </a:p>
          </p:txBody>
        </p:sp>
        <p:sp>
          <p:nvSpPr>
            <p:cNvPr id="18452" name="Text Box 17"/>
            <p:cNvSpPr txBox="1">
              <a:spLocks noChangeArrowheads="1"/>
            </p:cNvSpPr>
            <p:nvPr/>
          </p:nvSpPr>
          <p:spPr bwMode="auto">
            <a:xfrm>
              <a:off x="2288" y="2333"/>
              <a:ext cx="71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sz="1400" b="1"/>
                <a:t>aMethod()</a:t>
              </a:r>
            </a:p>
          </p:txBody>
        </p:sp>
        <p:sp>
          <p:nvSpPr>
            <p:cNvPr id="18453" name="Rectangle 18"/>
            <p:cNvSpPr>
              <a:spLocks noChangeArrowheads="1"/>
            </p:cNvSpPr>
            <p:nvPr/>
          </p:nvSpPr>
          <p:spPr bwMode="auto">
            <a:xfrm>
              <a:off x="3848" y="2688"/>
              <a:ext cx="312" cy="48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18436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Synchronisation (1)</a:t>
            </a:r>
          </a:p>
        </p:txBody>
      </p:sp>
      <p:sp>
        <p:nvSpPr>
          <p:cNvPr id="18437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285750" y="1006475"/>
            <a:ext cx="8382000" cy="609600"/>
          </a:xfrm>
        </p:spPr>
        <p:txBody>
          <a:bodyPr/>
          <a:lstStyle/>
          <a:p>
            <a:r>
              <a:rPr lang="de-DE" dirty="0" smtClean="0"/>
              <a:t>Verschiedene Threads bearbeiten ein Objekt durcheinander: Kann katastrophale Folgen haben!</a:t>
            </a:r>
          </a:p>
          <a:p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grpSp>
        <p:nvGrpSpPr>
          <p:cNvPr id="26" name="Gruppieren 25"/>
          <p:cNvGrpSpPr/>
          <p:nvPr/>
        </p:nvGrpSpPr>
        <p:grpSpPr>
          <a:xfrm>
            <a:off x="4343400" y="3453063"/>
            <a:ext cx="5402179" cy="2755232"/>
            <a:chOff x="4343400" y="3453063"/>
            <a:chExt cx="5402179" cy="2755232"/>
          </a:xfrm>
        </p:grpSpPr>
        <p:sp>
          <p:nvSpPr>
            <p:cNvPr id="19462" name="Text Box 3"/>
            <p:cNvSpPr txBox="1">
              <a:spLocks noChangeArrowheads="1"/>
            </p:cNvSpPr>
            <p:nvPr/>
          </p:nvSpPr>
          <p:spPr bwMode="auto">
            <a:xfrm>
              <a:off x="4343400" y="3457649"/>
              <a:ext cx="416859" cy="2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b="1"/>
                <a:t>t1</a:t>
              </a:r>
            </a:p>
          </p:txBody>
        </p:sp>
        <p:sp>
          <p:nvSpPr>
            <p:cNvPr id="19463" name="Text Box 4"/>
            <p:cNvSpPr txBox="1">
              <a:spLocks noChangeArrowheads="1"/>
            </p:cNvSpPr>
            <p:nvPr/>
          </p:nvSpPr>
          <p:spPr bwMode="auto">
            <a:xfrm>
              <a:off x="5885777" y="3453063"/>
              <a:ext cx="416859" cy="2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b="1"/>
                <a:t>t2</a:t>
              </a:r>
            </a:p>
          </p:txBody>
        </p:sp>
        <p:sp>
          <p:nvSpPr>
            <p:cNvPr id="19464" name="Text Box 5"/>
            <p:cNvSpPr txBox="1">
              <a:spLocks noChangeArrowheads="1"/>
            </p:cNvSpPr>
            <p:nvPr/>
          </p:nvSpPr>
          <p:spPr bwMode="auto">
            <a:xfrm>
              <a:off x="7394188" y="3457649"/>
              <a:ext cx="416859" cy="2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b="1"/>
                <a:t>t3</a:t>
              </a:r>
            </a:p>
          </p:txBody>
        </p:sp>
        <p:sp>
          <p:nvSpPr>
            <p:cNvPr id="19465" name="Text Box 6"/>
            <p:cNvSpPr txBox="1">
              <a:spLocks noChangeArrowheads="1"/>
            </p:cNvSpPr>
            <p:nvPr/>
          </p:nvSpPr>
          <p:spPr bwMode="auto">
            <a:xfrm>
              <a:off x="8615429" y="3453063"/>
              <a:ext cx="1130150" cy="243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b="1"/>
                <a:t>myObject</a:t>
              </a:r>
            </a:p>
          </p:txBody>
        </p:sp>
        <p:sp>
          <p:nvSpPr>
            <p:cNvPr id="19466" name="Rectangle 7"/>
            <p:cNvSpPr>
              <a:spLocks noChangeArrowheads="1"/>
            </p:cNvSpPr>
            <p:nvPr/>
          </p:nvSpPr>
          <p:spPr bwMode="auto">
            <a:xfrm>
              <a:off x="8856281" y="3951825"/>
              <a:ext cx="481703" cy="880574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67" name="Line 8"/>
            <p:cNvSpPr>
              <a:spLocks noChangeShapeType="1"/>
            </p:cNvSpPr>
            <p:nvPr/>
          </p:nvSpPr>
          <p:spPr bwMode="auto">
            <a:xfrm>
              <a:off x="4520951" y="4116933"/>
              <a:ext cx="43353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68" name="Line 9"/>
            <p:cNvSpPr>
              <a:spLocks noChangeShapeType="1"/>
            </p:cNvSpPr>
            <p:nvPr/>
          </p:nvSpPr>
          <p:spPr bwMode="auto">
            <a:xfrm>
              <a:off x="4520951" y="3896790"/>
              <a:ext cx="0" cy="2311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69" name="Line 10"/>
            <p:cNvSpPr>
              <a:spLocks noChangeShapeType="1"/>
            </p:cNvSpPr>
            <p:nvPr/>
          </p:nvSpPr>
          <p:spPr bwMode="auto">
            <a:xfrm>
              <a:off x="7571738" y="3896790"/>
              <a:ext cx="0" cy="2311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70" name="Line 11"/>
            <p:cNvSpPr>
              <a:spLocks noChangeShapeType="1"/>
            </p:cNvSpPr>
            <p:nvPr/>
          </p:nvSpPr>
          <p:spPr bwMode="auto">
            <a:xfrm>
              <a:off x="6046345" y="3896790"/>
              <a:ext cx="0" cy="23115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71" name="Text Box 12"/>
            <p:cNvSpPr txBox="1">
              <a:spLocks noChangeArrowheads="1"/>
            </p:cNvSpPr>
            <p:nvPr/>
          </p:nvSpPr>
          <p:spPr bwMode="auto">
            <a:xfrm>
              <a:off x="6126629" y="3875004"/>
              <a:ext cx="1213522" cy="220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sz="1400" b="1" dirty="0"/>
                <a:t>aMethod1()</a:t>
              </a:r>
            </a:p>
          </p:txBody>
        </p:sp>
        <p:sp>
          <p:nvSpPr>
            <p:cNvPr id="19472" name="Line 13"/>
            <p:cNvSpPr>
              <a:spLocks noChangeShapeType="1"/>
            </p:cNvSpPr>
            <p:nvPr/>
          </p:nvSpPr>
          <p:spPr bwMode="auto">
            <a:xfrm>
              <a:off x="6046345" y="4722327"/>
              <a:ext cx="27296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73" name="Rectangle 14"/>
            <p:cNvSpPr>
              <a:spLocks noChangeArrowheads="1"/>
            </p:cNvSpPr>
            <p:nvPr/>
          </p:nvSpPr>
          <p:spPr bwMode="auto">
            <a:xfrm>
              <a:off x="8856281" y="5657937"/>
              <a:ext cx="481703" cy="550358"/>
            </a:xfrm>
            <a:prstGeom prst="rect">
              <a:avLst/>
            </a:prstGeom>
            <a:solidFill>
              <a:srgbClr val="CC99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74" name="Rectangle 15"/>
            <p:cNvSpPr>
              <a:spLocks noChangeArrowheads="1"/>
            </p:cNvSpPr>
            <p:nvPr/>
          </p:nvSpPr>
          <p:spPr bwMode="auto">
            <a:xfrm>
              <a:off x="8856281" y="4942471"/>
              <a:ext cx="481703" cy="605394"/>
            </a:xfrm>
            <a:prstGeom prst="rect">
              <a:avLst/>
            </a:prstGeom>
            <a:solidFill>
              <a:schemeClr val="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75" name="Line 16"/>
            <p:cNvSpPr>
              <a:spLocks noChangeShapeType="1"/>
            </p:cNvSpPr>
            <p:nvPr/>
          </p:nvSpPr>
          <p:spPr bwMode="auto">
            <a:xfrm>
              <a:off x="7571738" y="5272686"/>
              <a:ext cx="12042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76" name="Text Box 17"/>
            <p:cNvSpPr txBox="1">
              <a:spLocks noChangeArrowheads="1"/>
            </p:cNvSpPr>
            <p:nvPr/>
          </p:nvSpPr>
          <p:spPr bwMode="auto">
            <a:xfrm>
              <a:off x="7672146" y="4989537"/>
              <a:ext cx="1110079" cy="220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sz="1400" b="1" dirty="0" err="1"/>
                <a:t>aMethod</a:t>
              </a:r>
              <a:r>
                <a:rPr lang="de-DE" sz="1400" b="1" dirty="0"/>
                <a:t>()</a:t>
              </a:r>
            </a:p>
          </p:txBody>
        </p:sp>
        <p:sp>
          <p:nvSpPr>
            <p:cNvPr id="19477" name="Text Box 18"/>
            <p:cNvSpPr txBox="1">
              <a:spLocks noChangeArrowheads="1"/>
            </p:cNvSpPr>
            <p:nvPr/>
          </p:nvSpPr>
          <p:spPr bwMode="auto">
            <a:xfrm>
              <a:off x="6447764" y="4480399"/>
              <a:ext cx="1110079" cy="220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 sz="1400" b="1"/>
                <a:t>aMethod()</a:t>
              </a:r>
            </a:p>
          </p:txBody>
        </p:sp>
        <p:sp>
          <p:nvSpPr>
            <p:cNvPr id="19478" name="Line 19"/>
            <p:cNvSpPr>
              <a:spLocks noChangeShapeType="1"/>
            </p:cNvSpPr>
            <p:nvPr/>
          </p:nvSpPr>
          <p:spPr bwMode="auto">
            <a:xfrm>
              <a:off x="8775997" y="4722327"/>
              <a:ext cx="0" cy="2201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79" name="Line 20"/>
            <p:cNvSpPr>
              <a:spLocks noChangeShapeType="1"/>
            </p:cNvSpPr>
            <p:nvPr/>
          </p:nvSpPr>
          <p:spPr bwMode="auto">
            <a:xfrm>
              <a:off x="8775997" y="5272686"/>
              <a:ext cx="0" cy="385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80" name="Line 21"/>
            <p:cNvSpPr>
              <a:spLocks noChangeShapeType="1"/>
            </p:cNvSpPr>
            <p:nvPr/>
          </p:nvSpPr>
          <p:spPr bwMode="auto">
            <a:xfrm>
              <a:off x="8775997" y="4942471"/>
              <a:ext cx="802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481" name="Line 22"/>
            <p:cNvSpPr>
              <a:spLocks noChangeShapeType="1"/>
            </p:cNvSpPr>
            <p:nvPr/>
          </p:nvSpPr>
          <p:spPr bwMode="auto">
            <a:xfrm>
              <a:off x="8775997" y="5657937"/>
              <a:ext cx="802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19460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Synchronisation (2)</a:t>
            </a:r>
          </a:p>
        </p:txBody>
      </p:sp>
      <p:sp>
        <p:nvSpPr>
          <p:cNvPr id="19461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285750" y="1030287"/>
            <a:ext cx="8382000" cy="2952165"/>
          </a:xfrm>
        </p:spPr>
        <p:txBody>
          <a:bodyPr/>
          <a:lstStyle/>
          <a:p>
            <a:r>
              <a:rPr lang="de-DE" sz="1800" dirty="0" smtClean="0"/>
              <a:t>Verschiedene Threads bearbeiten ein Objekt sequentiell</a:t>
            </a:r>
          </a:p>
          <a:p>
            <a:r>
              <a:rPr lang="de-DE" sz="1800" dirty="0" smtClean="0"/>
              <a:t>Das Schlüsselwort</a:t>
            </a:r>
            <a:r>
              <a:rPr lang="de-DE" sz="1800" dirty="0" smtClean="0">
                <a:latin typeface="Courier New" pitchFamily="49" charset="0"/>
              </a:rPr>
              <a:t> </a:t>
            </a:r>
            <a:r>
              <a:rPr lang="de-DE" sz="1800" dirty="0" err="1" smtClean="0">
                <a:latin typeface="Courier New" pitchFamily="49" charset="0"/>
              </a:rPr>
              <a:t>synchronized</a:t>
            </a:r>
            <a:r>
              <a:rPr lang="de-DE" sz="1800" dirty="0" smtClean="0"/>
              <a:t> ermöglicht das wechselseitige Ausschließen von Codekörpern</a:t>
            </a:r>
          </a:p>
          <a:p>
            <a:pPr lvl="1"/>
            <a:r>
              <a:rPr lang="de-DE" dirty="0" err="1">
                <a:latin typeface="Courier New" pitchFamily="49" charset="0"/>
              </a:rPr>
              <a:t>s</a:t>
            </a:r>
            <a:r>
              <a:rPr lang="de-DE" dirty="0" err="1" smtClean="0">
                <a:latin typeface="Courier New" pitchFamily="49" charset="0"/>
              </a:rPr>
              <a:t>ynchronized</a:t>
            </a:r>
            <a:r>
              <a:rPr lang="de-DE" dirty="0" smtClean="0"/>
              <a:t> als Methoden-</a:t>
            </a:r>
            <a:r>
              <a:rPr lang="de-DE" dirty="0" err="1" smtClean="0"/>
              <a:t>Modifizierer</a:t>
            </a:r>
            <a:endParaRPr lang="de-DE" dirty="0" smtClean="0"/>
          </a:p>
          <a:p>
            <a:pPr lvl="1"/>
            <a:r>
              <a:rPr lang="de-DE" dirty="0" err="1">
                <a:latin typeface="Courier New" pitchFamily="49" charset="0"/>
              </a:rPr>
              <a:t>s</a:t>
            </a:r>
            <a:r>
              <a:rPr lang="de-DE" dirty="0" err="1" smtClean="0">
                <a:latin typeface="Courier New" pitchFamily="49" charset="0"/>
              </a:rPr>
              <a:t>ynchronized</a:t>
            </a:r>
            <a:r>
              <a:rPr lang="de-DE" dirty="0" smtClean="0"/>
              <a:t> um einem Anweisungsblock</a:t>
            </a:r>
          </a:p>
          <a:p>
            <a:pPr lvl="1"/>
            <a:r>
              <a:rPr lang="de-DE" dirty="0" err="1">
                <a:latin typeface="Courier New" pitchFamily="49" charset="0"/>
              </a:rPr>
              <a:t>s</a:t>
            </a:r>
            <a:r>
              <a:rPr lang="de-DE" dirty="0" err="1" smtClean="0">
                <a:latin typeface="Courier New" pitchFamily="49" charset="0"/>
              </a:rPr>
              <a:t>ynchronized</a:t>
            </a:r>
            <a:r>
              <a:rPr lang="de-DE" dirty="0" smtClean="0"/>
              <a:t> als </a:t>
            </a:r>
            <a:r>
              <a:rPr lang="de-DE" dirty="0" err="1" smtClean="0"/>
              <a:t>Modifier</a:t>
            </a:r>
            <a:r>
              <a:rPr lang="de-DE" dirty="0" smtClean="0"/>
              <a:t> von Klassen-Methoden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541338" y="1066800"/>
            <a:ext cx="8172450" cy="278130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ClrTx/>
              <a:buFontTx/>
              <a:buNone/>
            </a:pP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MyClass</a:t>
            </a:r>
            <a:r>
              <a:rPr lang="de-DE" dirty="0"/>
              <a:t> {</a:t>
            </a:r>
          </a:p>
          <a:p>
            <a:pPr marL="457200" indent="-457200">
              <a:buClrTx/>
              <a:buFontTx/>
              <a:buNone/>
            </a:pPr>
            <a:r>
              <a:rPr lang="de-DE" dirty="0"/>
              <a:t>      private </a:t>
            </a:r>
            <a:r>
              <a:rPr lang="de-DE" b="1" dirty="0" err="1"/>
              <a:t>Object</a:t>
            </a:r>
            <a:r>
              <a:rPr lang="de-DE" b="1" dirty="0"/>
              <a:t> </a:t>
            </a:r>
            <a:r>
              <a:rPr lang="de-DE" b="1" dirty="0" err="1"/>
              <a:t>myObject</a:t>
            </a:r>
            <a:r>
              <a:rPr lang="de-DE" dirty="0"/>
              <a:t>;</a:t>
            </a:r>
          </a:p>
          <a:p>
            <a:pPr marL="457200" indent="-457200">
              <a:buClrTx/>
              <a:buFontTx/>
              <a:buNone/>
            </a:pPr>
            <a:endParaRPr lang="de-DE" dirty="0"/>
          </a:p>
          <a:p>
            <a:pPr marL="457200" indent="-457200">
              <a:buClrTx/>
              <a:buFontTx/>
              <a:buNone/>
            </a:pPr>
            <a:r>
              <a:rPr lang="de-DE" dirty="0"/>
              <a:t>  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b="1" dirty="0" err="1"/>
              <a:t>myMethod</a:t>
            </a:r>
            <a:r>
              <a:rPr lang="de-DE" dirty="0"/>
              <a:t>() { </a:t>
            </a:r>
            <a:br>
              <a:rPr lang="de-DE" dirty="0"/>
            </a:br>
            <a:r>
              <a:rPr lang="de-DE" dirty="0"/>
              <a:t>        </a:t>
            </a:r>
            <a:r>
              <a:rPr lang="de-DE" b="1" dirty="0" err="1">
                <a:solidFill>
                  <a:schemeClr val="accent2"/>
                </a:solidFill>
              </a:rPr>
              <a:t>synchronized</a:t>
            </a:r>
            <a:r>
              <a:rPr lang="de-DE" b="1" dirty="0">
                <a:solidFill>
                  <a:schemeClr val="accent2"/>
                </a:solidFill>
              </a:rPr>
              <a:t>(</a:t>
            </a:r>
            <a:r>
              <a:rPr lang="de-DE" b="1" dirty="0" err="1">
                <a:solidFill>
                  <a:schemeClr val="accent2"/>
                </a:solidFill>
              </a:rPr>
              <a:t>myObject</a:t>
            </a:r>
            <a:r>
              <a:rPr lang="de-DE" b="1" dirty="0">
                <a:solidFill>
                  <a:schemeClr val="accent2"/>
                </a:solidFill>
              </a:rPr>
              <a:t>)</a:t>
            </a:r>
            <a:r>
              <a:rPr lang="de-DE" dirty="0"/>
              <a:t> {</a:t>
            </a:r>
          </a:p>
          <a:p>
            <a:pPr marL="457200" indent="-457200">
              <a:buClrTx/>
              <a:buFontTx/>
              <a:buNone/>
            </a:pPr>
            <a:endParaRPr lang="de-DE" dirty="0"/>
          </a:p>
          <a:p>
            <a:pPr marL="457200" indent="-457200">
              <a:buClrTx/>
              <a:buFontTx/>
              <a:buNone/>
            </a:pPr>
            <a:r>
              <a:rPr lang="de-DE" dirty="0"/>
              <a:t>            // benutze hier </a:t>
            </a:r>
            <a:r>
              <a:rPr lang="de-DE" dirty="0" err="1"/>
              <a:t>myObject</a:t>
            </a:r>
            <a:endParaRPr lang="de-DE" dirty="0"/>
          </a:p>
          <a:p>
            <a:pPr marL="457200" indent="-457200">
              <a:buClrTx/>
              <a:buFontTx/>
              <a:buNone/>
            </a:pPr>
            <a:endParaRPr lang="de-DE" dirty="0"/>
          </a:p>
          <a:p>
            <a:pPr marL="457200" indent="-457200">
              <a:buClrTx/>
              <a:buFontTx/>
              <a:buNone/>
            </a:pPr>
            <a:r>
              <a:rPr lang="de-DE" dirty="0"/>
              <a:t>            }</a:t>
            </a:r>
          </a:p>
          <a:p>
            <a:pPr marL="457200" indent="-457200">
              <a:buClrTx/>
              <a:buFontTx/>
              <a:buNone/>
            </a:pPr>
            <a:r>
              <a:rPr lang="de-DE" dirty="0"/>
              <a:t>      }</a:t>
            </a:r>
          </a:p>
          <a:p>
            <a:pPr marL="457200" indent="-457200">
              <a:buClrTx/>
              <a:buFontTx/>
              <a:buNone/>
            </a:pPr>
            <a:r>
              <a:rPr lang="de-DE" dirty="0"/>
              <a:t>}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Synchronisation über Block</a:t>
            </a:r>
          </a:p>
        </p:txBody>
      </p:sp>
      <p:sp>
        <p:nvSpPr>
          <p:cNvPr id="2048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85750" y="4187825"/>
            <a:ext cx="8382000" cy="1676400"/>
          </a:xfrm>
        </p:spPr>
        <p:txBody>
          <a:bodyPr/>
          <a:lstStyle/>
          <a:p>
            <a:r>
              <a:rPr lang="de-DE" sz="1800" b="1" smtClean="0"/>
              <a:t>Ablauf bei Synchronisation</a:t>
            </a:r>
            <a:endParaRPr lang="de-DE" sz="1800" smtClean="0"/>
          </a:p>
          <a:p>
            <a:pPr lvl="1"/>
            <a:r>
              <a:rPr lang="de-DE" sz="1600" smtClean="0"/>
              <a:t>1. Sperre das angesprochene Objekt</a:t>
            </a:r>
          </a:p>
          <a:p>
            <a:pPr lvl="1"/>
            <a:r>
              <a:rPr lang="de-DE" sz="1600" smtClean="0"/>
              <a:t>2. Führe den synchronisierten Block durch</a:t>
            </a:r>
          </a:p>
          <a:p>
            <a:pPr lvl="1"/>
            <a:r>
              <a:rPr lang="de-DE" sz="1600" smtClean="0"/>
              <a:t>3. Gebe das angesprochene Objekt wieder frei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750888" y="1127125"/>
            <a:ext cx="8172450" cy="180340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ClrTx/>
              <a:buFontTx/>
              <a:buNone/>
            </a:pP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b="1" dirty="0" err="1"/>
              <a:t>MyClass</a:t>
            </a:r>
            <a:r>
              <a:rPr lang="de-DE" dirty="0"/>
              <a:t> </a:t>
            </a:r>
            <a:r>
              <a:rPr lang="de-DE" dirty="0" err="1"/>
              <a:t>implements</a:t>
            </a:r>
            <a:r>
              <a:rPr lang="de-DE" dirty="0"/>
              <a:t> {</a:t>
            </a:r>
          </a:p>
          <a:p>
            <a:pPr marL="457200" indent="-457200">
              <a:buClrTx/>
              <a:buFontTx/>
              <a:buNone/>
            </a:pPr>
            <a:endParaRPr lang="de-DE" dirty="0"/>
          </a:p>
          <a:p>
            <a:pPr marL="457200" indent="-457200">
              <a:buClrTx/>
              <a:buFontTx/>
              <a:buNone/>
            </a:pPr>
            <a:r>
              <a:rPr lang="de-DE" dirty="0"/>
              <a:t>  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b="1" dirty="0" err="1">
                <a:solidFill>
                  <a:schemeClr val="accent2"/>
                </a:solidFill>
              </a:rPr>
              <a:t>synchronized</a:t>
            </a:r>
            <a:r>
              <a:rPr lang="de-DE" dirty="0"/>
              <a:t> </a:t>
            </a:r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b="1" dirty="0" err="1"/>
              <a:t>myMethod</a:t>
            </a:r>
            <a:r>
              <a:rPr lang="de-DE" dirty="0"/>
              <a:t>( ... ) {</a:t>
            </a:r>
          </a:p>
          <a:p>
            <a:pPr marL="457200" indent="-457200">
              <a:buClrTx/>
              <a:buFontTx/>
              <a:buNone/>
            </a:pPr>
            <a:r>
              <a:rPr lang="de-DE" dirty="0"/>
              <a:t>      ....</a:t>
            </a:r>
          </a:p>
          <a:p>
            <a:pPr marL="457200" indent="-457200">
              <a:buClrTx/>
              <a:buFontTx/>
              <a:buNone/>
            </a:pPr>
            <a:r>
              <a:rPr lang="de-DE" dirty="0"/>
              <a:t>      }</a:t>
            </a:r>
          </a:p>
          <a:p>
            <a:pPr marL="457200" indent="-457200">
              <a:buClrTx/>
              <a:buFontTx/>
              <a:buNone/>
            </a:pPr>
            <a:r>
              <a:rPr lang="de-DE" dirty="0"/>
              <a:t>      ...</a:t>
            </a:r>
          </a:p>
          <a:p>
            <a:pPr marL="457200" indent="-457200">
              <a:buClrTx/>
              <a:buFontTx/>
              <a:buNone/>
            </a:pPr>
            <a:r>
              <a:rPr lang="de-DE" dirty="0"/>
              <a:t>}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Synchronisation über Methode</a:t>
            </a:r>
          </a:p>
        </p:txBody>
      </p:sp>
      <p:sp>
        <p:nvSpPr>
          <p:cNvPr id="2150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85750" y="3211513"/>
            <a:ext cx="8382000" cy="3048000"/>
          </a:xfrm>
        </p:spPr>
        <p:txBody>
          <a:bodyPr/>
          <a:lstStyle/>
          <a:p>
            <a:r>
              <a:rPr lang="de-DE" sz="1800" b="1" smtClean="0"/>
              <a:t>Ablauf bei Synchronisation</a:t>
            </a:r>
            <a:endParaRPr lang="de-DE" sz="1800" smtClean="0"/>
          </a:p>
          <a:p>
            <a:pPr lvl="1"/>
            <a:r>
              <a:rPr lang="de-DE" sz="1600" smtClean="0"/>
              <a:t>1. Sperre das angesprochene Objekt</a:t>
            </a:r>
          </a:p>
          <a:p>
            <a:pPr lvl="1"/>
            <a:r>
              <a:rPr lang="de-DE" sz="1600" smtClean="0"/>
              <a:t>2. Führe die synchronisierte Methode durch</a:t>
            </a:r>
          </a:p>
          <a:p>
            <a:pPr lvl="1"/>
            <a:r>
              <a:rPr lang="de-DE" sz="1600" smtClean="0"/>
              <a:t>3. Gebe das angesprochene Objekt wieder frei</a:t>
            </a:r>
          </a:p>
          <a:p>
            <a:r>
              <a:rPr lang="de-DE" sz="1800" b="1" smtClean="0"/>
              <a:t>Wichtig</a:t>
            </a:r>
            <a:endParaRPr lang="de-DE" sz="1800" smtClean="0"/>
          </a:p>
          <a:p>
            <a:pPr lvl="1"/>
            <a:r>
              <a:rPr lang="de-DE" sz="1600" smtClean="0"/>
              <a:t>Die Sperre betrifft nur synchronisierte Methoden.</a:t>
            </a:r>
          </a:p>
          <a:p>
            <a:pPr lvl="1"/>
            <a:r>
              <a:rPr lang="de-DE" sz="1600" smtClean="0"/>
              <a:t>Der sperrende Thread hat weiterhin Zugriff auf die gesperrten Methoden.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2531" name="Rectangle 5"/>
          <p:cNvSpPr>
            <a:spLocks noChangeArrowheads="1"/>
          </p:cNvSpPr>
          <p:nvPr/>
        </p:nvSpPr>
        <p:spPr bwMode="auto">
          <a:xfrm>
            <a:off x="1362075" y="2451100"/>
            <a:ext cx="3505200" cy="113506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de-DE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85750" y="1027113"/>
            <a:ext cx="5300663" cy="472440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dirty="0" err="1">
                <a:solidFill>
                  <a:srgbClr val="000000"/>
                </a:solidFill>
              </a:rPr>
              <a:t>class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AsyncMath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extends</a:t>
            </a:r>
            <a:r>
              <a:rPr lang="de-DE" b="1" dirty="0">
                <a:solidFill>
                  <a:srgbClr val="000000"/>
                </a:solidFill>
              </a:rPr>
              <a:t> Thread</a:t>
            </a:r>
            <a:r>
              <a:rPr lang="de-DE" dirty="0">
                <a:solidFill>
                  <a:srgbClr val="000000"/>
                </a:solidFill>
              </a:rPr>
              <a:t> {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... // Attribute und </a:t>
            </a:r>
            <a:r>
              <a:rPr lang="de-DE" dirty="0" err="1">
                <a:solidFill>
                  <a:srgbClr val="000000"/>
                </a:solidFill>
              </a:rPr>
              <a:t>Konstruktor</a:t>
            </a:r>
            <a:r>
              <a:rPr lang="de-DE" dirty="0">
                <a:solidFill>
                  <a:srgbClr val="000000"/>
                </a:solidFill>
              </a:rPr>
              <a:t/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/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 err="1">
                <a:solidFill>
                  <a:srgbClr val="000000"/>
                </a:solidFill>
              </a:rPr>
              <a:t>public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void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addDelta</a:t>
            </a:r>
            <a:r>
              <a:rPr lang="de-DE" b="1" dirty="0">
                <a:solidFill>
                  <a:srgbClr val="000000"/>
                </a:solidFill>
              </a:rPr>
              <a:t>()</a:t>
            </a:r>
            <a:r>
              <a:rPr lang="de-DE" dirty="0">
                <a:solidFill>
                  <a:srgbClr val="000000"/>
                </a:solidFill>
              </a:rPr>
              <a:t> {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</a:t>
            </a:r>
            <a:r>
              <a:rPr lang="de-DE" dirty="0" err="1">
                <a:solidFill>
                  <a:srgbClr val="000000"/>
                </a:solidFill>
              </a:rPr>
              <a:t>try</a:t>
            </a:r>
            <a:r>
              <a:rPr lang="de-DE" dirty="0">
                <a:solidFill>
                  <a:srgbClr val="000000"/>
                </a:solidFill>
              </a:rPr>
              <a:t> {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</a:t>
            </a:r>
            <a:r>
              <a:rPr lang="de-DE" b="1" dirty="0" err="1">
                <a:solidFill>
                  <a:srgbClr val="000000"/>
                </a:solidFill>
              </a:rPr>
              <a:t>synchronized</a:t>
            </a:r>
            <a:r>
              <a:rPr lang="de-DE" b="1" dirty="0">
                <a:solidFill>
                  <a:srgbClr val="000000"/>
                </a:solidFill>
              </a:rPr>
              <a:t> ( </a:t>
            </a:r>
            <a:r>
              <a:rPr lang="de-DE" b="1" dirty="0" err="1">
                <a:solidFill>
                  <a:srgbClr val="000000"/>
                </a:solidFill>
              </a:rPr>
              <a:t>buffer</a:t>
            </a:r>
            <a:r>
              <a:rPr lang="de-DE" b="1" dirty="0">
                <a:solidFill>
                  <a:srgbClr val="000000"/>
                </a:solidFill>
              </a:rPr>
              <a:t> ) {</a:t>
            </a:r>
            <a:br>
              <a:rPr lang="de-DE" b="1" dirty="0">
                <a:solidFill>
                  <a:srgbClr val="000000"/>
                </a:solidFill>
              </a:rPr>
            </a:br>
            <a:r>
              <a:rPr lang="de-DE" b="1" dirty="0">
                <a:solidFill>
                  <a:srgbClr val="000000"/>
                </a:solidFill>
              </a:rPr>
              <a:t/>
            </a:r>
            <a:br>
              <a:rPr lang="de-DE" b="1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  </a:t>
            </a:r>
            <a:r>
              <a:rPr lang="de-DE" dirty="0" err="1">
                <a:solidFill>
                  <a:srgbClr val="000000"/>
                </a:solidFill>
              </a:rPr>
              <a:t>int</a:t>
            </a:r>
            <a:r>
              <a:rPr lang="de-DE" dirty="0">
                <a:solidFill>
                  <a:srgbClr val="000000"/>
                </a:solidFill>
              </a:rPr>
              <a:t> a = </a:t>
            </a:r>
            <a:r>
              <a:rPr lang="de-DE" dirty="0" err="1">
                <a:solidFill>
                  <a:srgbClr val="000000"/>
                </a:solidFill>
              </a:rPr>
              <a:t>buffer.getValue</a:t>
            </a:r>
            <a:r>
              <a:rPr lang="de-DE" dirty="0">
                <a:solidFill>
                  <a:srgbClr val="000000"/>
                </a:solidFill>
              </a:rPr>
              <a:t>();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  a += </a:t>
            </a:r>
            <a:r>
              <a:rPr lang="de-DE" dirty="0" err="1">
                <a:solidFill>
                  <a:srgbClr val="000000"/>
                </a:solidFill>
              </a:rPr>
              <a:t>delta</a:t>
            </a:r>
            <a:r>
              <a:rPr lang="de-DE" dirty="0">
                <a:solidFill>
                  <a:srgbClr val="000000"/>
                </a:solidFill>
              </a:rPr>
              <a:t>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  </a:t>
            </a:r>
            <a:r>
              <a:rPr lang="de-DE" dirty="0" err="1">
                <a:solidFill>
                  <a:srgbClr val="000000"/>
                </a:solidFill>
              </a:rPr>
              <a:t>sleep</a:t>
            </a:r>
            <a:r>
              <a:rPr lang="de-DE" dirty="0">
                <a:solidFill>
                  <a:srgbClr val="000000"/>
                </a:solidFill>
              </a:rPr>
              <a:t>(</a:t>
            </a:r>
            <a:r>
              <a:rPr lang="de-DE" dirty="0" err="1">
                <a:solidFill>
                  <a:srgbClr val="000000"/>
                </a:solidFill>
              </a:rPr>
              <a:t>waitPattern</a:t>
            </a:r>
            <a:r>
              <a:rPr lang="de-DE" dirty="0">
                <a:solidFill>
                  <a:srgbClr val="000000"/>
                </a:solidFill>
              </a:rPr>
              <a:t>++ &amp; 15);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  </a:t>
            </a:r>
            <a:r>
              <a:rPr lang="de-DE" dirty="0" err="1">
                <a:solidFill>
                  <a:srgbClr val="000000"/>
                </a:solidFill>
              </a:rPr>
              <a:t>buffer.setValue</a:t>
            </a:r>
            <a:r>
              <a:rPr lang="de-DE" dirty="0">
                <a:solidFill>
                  <a:srgbClr val="000000"/>
                </a:solidFill>
              </a:rPr>
              <a:t>(a);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/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</a:t>
            </a:r>
            <a:r>
              <a:rPr lang="de-DE" b="1" dirty="0">
                <a:solidFill>
                  <a:srgbClr val="000000"/>
                </a:solidFill>
              </a:rPr>
              <a:t>}</a:t>
            </a:r>
            <a:br>
              <a:rPr lang="de-DE" b="1" dirty="0">
                <a:solidFill>
                  <a:srgbClr val="000000"/>
                </a:solidFill>
              </a:rPr>
            </a:br>
            <a:r>
              <a:rPr lang="de-DE" b="1" dirty="0">
                <a:solidFill>
                  <a:srgbClr val="000000"/>
                </a:solidFill>
              </a:rPr>
              <a:t>  </a:t>
            </a:r>
            <a:r>
              <a:rPr lang="de-DE" dirty="0">
                <a:solidFill>
                  <a:srgbClr val="000000"/>
                </a:solidFill>
              </a:rPr>
              <a:t>  } catch (</a:t>
            </a:r>
            <a:r>
              <a:rPr lang="de-DE" dirty="0" err="1">
                <a:solidFill>
                  <a:srgbClr val="000000"/>
                </a:solidFill>
              </a:rPr>
              <a:t>InterruptedException</a:t>
            </a:r>
            <a:r>
              <a:rPr lang="de-DE" dirty="0">
                <a:solidFill>
                  <a:srgbClr val="000000"/>
                </a:solidFill>
              </a:rPr>
              <a:t> e) { }  }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...</a:t>
            </a:r>
          </a:p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65113"/>
            <a:ext cx="7810500" cy="427037"/>
          </a:xfrm>
        </p:spPr>
        <p:txBody>
          <a:bodyPr/>
          <a:lstStyle/>
          <a:p>
            <a:r>
              <a:rPr lang="de-DE" b="1" smtClean="0"/>
              <a:t>Zwei Threads, eine synchronisierte Ressource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91200" y="1600200"/>
            <a:ext cx="3657600" cy="2286000"/>
          </a:xfrm>
        </p:spPr>
        <p:txBody>
          <a:bodyPr/>
          <a:lstStyle/>
          <a:p>
            <a:r>
              <a:rPr lang="de-DE" dirty="0" smtClean="0"/>
              <a:t>Synchronisation über </a:t>
            </a:r>
            <a:r>
              <a:rPr lang="de-DE" dirty="0" err="1" smtClean="0">
                <a:latin typeface="Courier New" pitchFamily="49" charset="0"/>
              </a:rPr>
              <a:t>synchronized</a:t>
            </a:r>
            <a:r>
              <a:rPr lang="de-DE" dirty="0" smtClean="0">
                <a:latin typeface="Courier New" pitchFamily="49" charset="0"/>
              </a:rPr>
              <a:t> (</a:t>
            </a:r>
            <a:r>
              <a:rPr lang="de-DE" dirty="0" err="1" smtClean="0">
                <a:latin typeface="Courier New" pitchFamily="49" charset="0"/>
              </a:rPr>
              <a:t>Object</a:t>
            </a:r>
            <a:r>
              <a:rPr lang="de-DE" dirty="0" smtClean="0">
                <a:latin typeface="Courier New" pitchFamily="49" charset="0"/>
              </a:rPr>
              <a:t>) </a:t>
            </a:r>
          </a:p>
          <a:p>
            <a:r>
              <a:rPr lang="de-DE" dirty="0" smtClean="0"/>
              <a:t>Im anschließenden Block hat immer nur genau ein Thread Zugriff auf das </a:t>
            </a:r>
            <a:r>
              <a:rPr lang="de-DE" dirty="0" err="1" smtClean="0">
                <a:latin typeface="Courier New" pitchFamily="49" charset="0"/>
              </a:rPr>
              <a:t>Object</a:t>
            </a:r>
            <a:r>
              <a:rPr lang="de-DE" dirty="0" smtClean="0"/>
              <a:t>.</a:t>
            </a:r>
          </a:p>
          <a:p>
            <a:r>
              <a:rPr lang="de-DE" dirty="0" smtClean="0"/>
              <a:t>Alle anderen müssen warten!</a:t>
            </a:r>
            <a:endParaRPr lang="de-DE" dirty="0" smtClean="0">
              <a:latin typeface="Courier New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Wann </a:t>
            </a:r>
            <a:r>
              <a:rPr lang="de-DE" b="1" dirty="0" err="1" smtClean="0">
                <a:latin typeface="Courier New" pitchFamily="49" charset="0"/>
              </a:rPr>
              <a:t>synchronized</a:t>
            </a:r>
            <a:r>
              <a:rPr lang="de-DE" b="1" dirty="0" smtClean="0"/>
              <a:t> nicht gut genug ist</a:t>
            </a:r>
          </a:p>
        </p:txBody>
      </p:sp>
      <p:grpSp>
        <p:nvGrpSpPr>
          <p:cNvPr id="14" name="Gruppieren 13"/>
          <p:cNvGrpSpPr/>
          <p:nvPr/>
        </p:nvGrpSpPr>
        <p:grpSpPr>
          <a:xfrm>
            <a:off x="1729674" y="2799181"/>
            <a:ext cx="5597525" cy="3024103"/>
            <a:chOff x="1031875" y="1463675"/>
            <a:chExt cx="7056438" cy="4321175"/>
          </a:xfrm>
        </p:grpSpPr>
        <p:sp>
          <p:nvSpPr>
            <p:cNvPr id="23556" name="Rectangle 3"/>
            <p:cNvSpPr>
              <a:spLocks noChangeArrowheads="1"/>
            </p:cNvSpPr>
            <p:nvPr/>
          </p:nvSpPr>
          <p:spPr bwMode="auto">
            <a:xfrm>
              <a:off x="1031875" y="1463675"/>
              <a:ext cx="2519363" cy="1223963"/>
            </a:xfrm>
            <a:prstGeom prst="rect">
              <a:avLst/>
            </a:prstGeom>
            <a:solidFill>
              <a:srgbClr val="CD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r>
                <a:rPr lang="de-DE" sz="1400" b="1" dirty="0" err="1">
                  <a:latin typeface="Arial" pitchFamily="34" charset="0"/>
                </a:rPr>
                <a:t>threadA</a:t>
              </a:r>
              <a:endParaRPr lang="de-DE" sz="1400" b="1" dirty="0">
                <a:latin typeface="Arial" pitchFamily="34" charset="0"/>
              </a:endParaRPr>
            </a:p>
          </p:txBody>
        </p:sp>
        <p:sp>
          <p:nvSpPr>
            <p:cNvPr id="23557" name="Rectangle 4"/>
            <p:cNvSpPr>
              <a:spLocks noChangeArrowheads="1"/>
            </p:cNvSpPr>
            <p:nvPr/>
          </p:nvSpPr>
          <p:spPr bwMode="auto">
            <a:xfrm>
              <a:off x="5568950" y="4560888"/>
              <a:ext cx="2519363" cy="1223962"/>
            </a:xfrm>
            <a:prstGeom prst="rect">
              <a:avLst/>
            </a:prstGeom>
            <a:solidFill>
              <a:srgbClr val="CD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r>
                <a:rPr lang="de-DE" sz="1400" b="1">
                  <a:latin typeface="Arial" pitchFamily="34" charset="0"/>
                </a:rPr>
                <a:t>threadB</a:t>
              </a:r>
            </a:p>
          </p:txBody>
        </p:sp>
        <p:sp>
          <p:nvSpPr>
            <p:cNvPr id="23558" name="AutoShape 5"/>
            <p:cNvSpPr>
              <a:spLocks noChangeArrowheads="1"/>
            </p:cNvSpPr>
            <p:nvPr/>
          </p:nvSpPr>
          <p:spPr bwMode="auto">
            <a:xfrm>
              <a:off x="1822450" y="4776788"/>
              <a:ext cx="936625" cy="792162"/>
            </a:xfrm>
            <a:prstGeom prst="octagon">
              <a:avLst>
                <a:gd name="adj" fmla="val 2928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r>
                <a:rPr lang="de-DE" sz="1400" b="1">
                  <a:latin typeface="Arial" pitchFamily="34" charset="0"/>
                </a:rPr>
                <a:t>lock1</a:t>
              </a:r>
            </a:p>
          </p:txBody>
        </p:sp>
        <p:sp>
          <p:nvSpPr>
            <p:cNvPr id="23559" name="AutoShape 6"/>
            <p:cNvSpPr>
              <a:spLocks noChangeArrowheads="1"/>
            </p:cNvSpPr>
            <p:nvPr/>
          </p:nvSpPr>
          <p:spPr bwMode="auto">
            <a:xfrm>
              <a:off x="6430963" y="1608138"/>
              <a:ext cx="936625" cy="792162"/>
            </a:xfrm>
            <a:prstGeom prst="octagon">
              <a:avLst>
                <a:gd name="adj" fmla="val 2928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r>
                <a:rPr lang="de-DE" sz="1400" b="1">
                  <a:latin typeface="Arial" pitchFamily="34" charset="0"/>
                </a:rPr>
                <a:t>lock2</a:t>
              </a:r>
            </a:p>
          </p:txBody>
        </p:sp>
        <p:sp>
          <p:nvSpPr>
            <p:cNvPr id="23560" name="AutoShape 7"/>
            <p:cNvSpPr>
              <a:spLocks noChangeArrowheads="1"/>
            </p:cNvSpPr>
            <p:nvPr/>
          </p:nvSpPr>
          <p:spPr bwMode="auto">
            <a:xfrm>
              <a:off x="3840163" y="1679575"/>
              <a:ext cx="2305050" cy="503238"/>
            </a:xfrm>
            <a:prstGeom prst="rightArrow">
              <a:avLst>
                <a:gd name="adj1" fmla="val 50000"/>
                <a:gd name="adj2" fmla="val 11451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r>
                <a:rPr lang="de-DE" sz="1400" b="1">
                  <a:latin typeface="Arial" pitchFamily="34" charset="0"/>
                </a:rPr>
                <a:t>wants</a:t>
              </a:r>
            </a:p>
          </p:txBody>
        </p:sp>
        <p:sp>
          <p:nvSpPr>
            <p:cNvPr id="23561" name="AutoShape 8"/>
            <p:cNvSpPr>
              <a:spLocks noChangeArrowheads="1"/>
            </p:cNvSpPr>
            <p:nvPr/>
          </p:nvSpPr>
          <p:spPr bwMode="auto">
            <a:xfrm>
              <a:off x="3048000" y="4919663"/>
              <a:ext cx="2376488" cy="504825"/>
            </a:xfrm>
            <a:prstGeom prst="leftArrow">
              <a:avLst>
                <a:gd name="adj1" fmla="val 50000"/>
                <a:gd name="adj2" fmla="val 11768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r>
                <a:rPr lang="de-DE" sz="1400" b="1">
                  <a:latin typeface="Arial" pitchFamily="34" charset="0"/>
                </a:rPr>
                <a:t>wants</a:t>
              </a:r>
            </a:p>
          </p:txBody>
        </p:sp>
        <p:sp>
          <p:nvSpPr>
            <p:cNvPr id="23562" name="AutoShape 9"/>
            <p:cNvSpPr>
              <a:spLocks noChangeArrowheads="1"/>
            </p:cNvSpPr>
            <p:nvPr/>
          </p:nvSpPr>
          <p:spPr bwMode="auto">
            <a:xfrm rot="10800000">
              <a:off x="1824038" y="2779295"/>
              <a:ext cx="979320" cy="1900988"/>
            </a:xfrm>
            <a:prstGeom prst="downArrow">
              <a:avLst>
                <a:gd name="adj1" fmla="val 50000"/>
                <a:gd name="adj2" fmla="val 4645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endParaRPr lang="de-DE" sz="1400" b="1">
                <a:latin typeface="Arial" pitchFamily="34" charset="0"/>
              </a:endParaRPr>
            </a:p>
          </p:txBody>
        </p:sp>
        <p:sp>
          <p:nvSpPr>
            <p:cNvPr id="23563" name="Rectangle 10"/>
            <p:cNvSpPr>
              <a:spLocks noChangeArrowheads="1"/>
            </p:cNvSpPr>
            <p:nvPr/>
          </p:nvSpPr>
          <p:spPr bwMode="auto">
            <a:xfrm>
              <a:off x="1895475" y="3663769"/>
              <a:ext cx="914400" cy="382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r>
                <a:rPr lang="de-DE" sz="1400" b="1" dirty="0" err="1">
                  <a:latin typeface="Arial" pitchFamily="34" charset="0"/>
                </a:rPr>
                <a:t>has</a:t>
              </a:r>
              <a:endParaRPr lang="de-DE" sz="1400" b="1" dirty="0">
                <a:latin typeface="Arial" pitchFamily="34" charset="0"/>
              </a:endParaRPr>
            </a:p>
          </p:txBody>
        </p:sp>
        <p:sp>
          <p:nvSpPr>
            <p:cNvPr id="23564" name="AutoShape 11"/>
            <p:cNvSpPr>
              <a:spLocks noChangeArrowheads="1"/>
            </p:cNvSpPr>
            <p:nvPr/>
          </p:nvSpPr>
          <p:spPr bwMode="auto">
            <a:xfrm rot="10800000">
              <a:off x="6359525" y="2544763"/>
              <a:ext cx="1095375" cy="1873250"/>
            </a:xfrm>
            <a:prstGeom prst="upArrow">
              <a:avLst>
                <a:gd name="adj1" fmla="val 50000"/>
                <a:gd name="adj2" fmla="val 42754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 sz="1400"/>
            </a:p>
          </p:txBody>
        </p:sp>
        <p:sp>
          <p:nvSpPr>
            <p:cNvPr id="23565" name="Rectangle 12"/>
            <p:cNvSpPr>
              <a:spLocks noChangeArrowheads="1"/>
            </p:cNvSpPr>
            <p:nvPr/>
          </p:nvSpPr>
          <p:spPr bwMode="auto">
            <a:xfrm>
              <a:off x="6642100" y="3132822"/>
              <a:ext cx="1157288" cy="382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ClrTx/>
                <a:buFontTx/>
                <a:buNone/>
              </a:pPr>
              <a:r>
                <a:rPr lang="de-DE" sz="1400" b="1" dirty="0" err="1">
                  <a:latin typeface="Arial" pitchFamily="34" charset="0"/>
                </a:rPr>
                <a:t>has</a:t>
              </a:r>
              <a:endParaRPr lang="de-DE" sz="1400" b="1" dirty="0">
                <a:latin typeface="Arial" pitchFamily="34" charset="0"/>
              </a:endParaRPr>
            </a:p>
          </p:txBody>
        </p:sp>
      </p:grp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280988" y="913386"/>
            <a:ext cx="9421812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marR="0" lvl="0" indent="-285750" algn="l" defTabSz="630238" rtl="0" eaLnBrk="0" fontAlgn="base" latinLnBrk="0" hangingPunct="0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>
                <a:srgbClr val="00337F"/>
              </a:buClr>
              <a:buSzPct val="150000"/>
              <a:buFont typeface="Wingdings" pitchFamily="2" charset="2"/>
              <a:buBlip>
                <a:blip r:embed="rId3"/>
              </a:buBlip>
              <a:tabLst>
                <a:tab pos="285750" algn="l"/>
              </a:tabLst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Durch Synchronisation kann ein </a:t>
            </a: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Thread</a:t>
            </a: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sicher Werte ändern, die von einem anderen </a:t>
            </a: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Thread</a:t>
            </a: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gelesen werden können</a:t>
            </a:r>
          </a:p>
          <a:p>
            <a:pPr marL="285750" marR="0" lvl="0" indent="-285750" algn="l" defTabSz="630238" rtl="0" eaLnBrk="0" fontAlgn="base" latinLnBrk="0" hangingPunct="0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>
                <a:srgbClr val="00337F"/>
              </a:buClr>
              <a:buSzPct val="150000"/>
              <a:buFont typeface="Wingdings" pitchFamily="2" charset="2"/>
              <a:buBlip>
                <a:blip r:embed="rId3"/>
              </a:buBlip>
              <a:tabLst>
                <a:tab pos="285750" algn="l"/>
              </a:tabLst>
              <a:defRPr/>
            </a:pP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Was noch fehlt ist ein Mechanismus, der es einem </a:t>
            </a: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Thread</a:t>
            </a: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erlaubt solange zu warten, bis er eine Meldung von einem anderen </a:t>
            </a: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Thread</a:t>
            </a:r>
            <a:r>
              <a:rPr kumimoji="0" lang="de-DE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erhält</a:t>
            </a:r>
          </a:p>
        </p:txBody>
      </p:sp>
      <p:sp>
        <p:nvSpPr>
          <p:cNvPr id="16" name="Ellipse 15"/>
          <p:cNvSpPr/>
          <p:nvPr/>
        </p:nvSpPr>
        <p:spPr bwMode="auto">
          <a:xfrm>
            <a:off x="3982453" y="3886200"/>
            <a:ext cx="1359569" cy="842211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</a:pPr>
            <a:r>
              <a:rPr kumimoji="0" lang="de-DE" sz="1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Deadlock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Kommunikation zwischen </a:t>
            </a:r>
            <a:r>
              <a:rPr lang="de-DE" b="1" smtClean="0">
                <a:latin typeface="Courier New" pitchFamily="49" charset="0"/>
              </a:rPr>
              <a:t>Thread</a:t>
            </a:r>
            <a:r>
              <a:rPr lang="de-DE" b="1" smtClean="0"/>
              <a:t>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913386"/>
            <a:ext cx="9421812" cy="4733925"/>
          </a:xfrm>
        </p:spPr>
        <p:txBody>
          <a:bodyPr/>
          <a:lstStyle/>
          <a:p>
            <a:r>
              <a:rPr lang="de-DE" sz="1800" dirty="0" smtClean="0"/>
              <a:t>Der </a:t>
            </a:r>
            <a:r>
              <a:rPr lang="de-DE" sz="1800" i="1" dirty="0" err="1" smtClean="0"/>
              <a:t>wait</a:t>
            </a:r>
            <a:r>
              <a:rPr lang="de-DE" sz="1800" i="1" dirty="0" smtClean="0"/>
              <a:t>/</a:t>
            </a:r>
            <a:r>
              <a:rPr lang="de-DE" sz="1800" i="1" dirty="0" err="1" smtClean="0"/>
              <a:t>notify</a:t>
            </a:r>
            <a:r>
              <a:rPr lang="de-DE" sz="1800" dirty="0" smtClean="0"/>
              <a:t> Mechanismus ist schon in </a:t>
            </a:r>
            <a:r>
              <a:rPr lang="de-DE" sz="1800" dirty="0" err="1" smtClean="0">
                <a:latin typeface="Courier New" pitchFamily="49" charset="0"/>
              </a:rPr>
              <a:t>Object</a:t>
            </a:r>
            <a:r>
              <a:rPr lang="de-DE" sz="1800" dirty="0" smtClean="0"/>
              <a:t> definiert</a:t>
            </a:r>
          </a:p>
          <a:p>
            <a:pPr lvl="1"/>
            <a:r>
              <a:rPr lang="de-DE" sz="1600" dirty="0" smtClean="0"/>
              <a:t>Das API besteht aus den Methoden </a:t>
            </a:r>
            <a:r>
              <a:rPr lang="de-DE" sz="1600" dirty="0" err="1" smtClean="0">
                <a:latin typeface="Courier New" pitchFamily="49" charset="0"/>
              </a:rPr>
              <a:t>notify</a:t>
            </a:r>
            <a:r>
              <a:rPr lang="de-DE" sz="1600" dirty="0" smtClean="0">
                <a:latin typeface="Courier New" pitchFamily="49" charset="0"/>
              </a:rPr>
              <a:t>(), </a:t>
            </a:r>
            <a:r>
              <a:rPr lang="de-DE" sz="1600" dirty="0" err="1" smtClean="0">
                <a:latin typeface="Courier New" pitchFamily="49" charset="0"/>
              </a:rPr>
              <a:t>notifyAll</a:t>
            </a:r>
            <a:r>
              <a:rPr lang="de-DE" sz="1600" dirty="0" smtClean="0">
                <a:latin typeface="Courier New" pitchFamily="49" charset="0"/>
              </a:rPr>
              <a:t>(), </a:t>
            </a:r>
            <a:r>
              <a:rPr lang="de-DE" sz="1600" dirty="0" err="1" smtClean="0">
                <a:latin typeface="Courier New" pitchFamily="49" charset="0"/>
              </a:rPr>
              <a:t>wait</a:t>
            </a:r>
            <a:r>
              <a:rPr lang="de-DE" sz="1600" dirty="0" smtClean="0">
                <a:latin typeface="Courier New" pitchFamily="49" charset="0"/>
              </a:rPr>
              <a:t>(),</a:t>
            </a:r>
            <a:r>
              <a:rPr lang="de-DE" sz="1600" dirty="0" smtClean="0"/>
              <a:t> </a:t>
            </a:r>
            <a:r>
              <a:rPr lang="de-DE" sz="1600" dirty="0" err="1" smtClean="0">
                <a:latin typeface="Courier New" pitchFamily="49" charset="0"/>
              </a:rPr>
              <a:t>wait</a:t>
            </a:r>
            <a:r>
              <a:rPr lang="de-DE" sz="1600" dirty="0" smtClean="0">
                <a:latin typeface="Courier New" pitchFamily="49" charset="0"/>
              </a:rPr>
              <a:t>(</a:t>
            </a:r>
            <a:r>
              <a:rPr lang="de-DE" sz="1600" dirty="0" err="1" smtClean="0">
                <a:latin typeface="Courier New" pitchFamily="49" charset="0"/>
              </a:rPr>
              <a:t>long</a:t>
            </a:r>
            <a:r>
              <a:rPr lang="de-DE" sz="1600" dirty="0" smtClean="0">
                <a:latin typeface="Courier New" pitchFamily="49" charset="0"/>
              </a:rPr>
              <a:t>)</a:t>
            </a:r>
            <a:r>
              <a:rPr lang="de-DE" sz="1600" dirty="0" smtClean="0"/>
              <a:t> und </a:t>
            </a:r>
            <a:r>
              <a:rPr lang="de-DE" sz="1600" dirty="0" err="1" smtClean="0">
                <a:latin typeface="Courier New" pitchFamily="49" charset="0"/>
              </a:rPr>
              <a:t>wait</a:t>
            </a:r>
            <a:r>
              <a:rPr lang="de-DE" sz="1600" dirty="0" smtClean="0">
                <a:latin typeface="Courier New" pitchFamily="49" charset="0"/>
              </a:rPr>
              <a:t>(</a:t>
            </a:r>
            <a:r>
              <a:rPr lang="de-DE" sz="1600" dirty="0" err="1" smtClean="0">
                <a:latin typeface="Courier New" pitchFamily="49" charset="0"/>
              </a:rPr>
              <a:t>long</a:t>
            </a:r>
            <a:r>
              <a:rPr lang="de-DE" sz="1600" dirty="0" smtClean="0">
                <a:latin typeface="Courier New" pitchFamily="49" charset="0"/>
              </a:rPr>
              <a:t>, </a:t>
            </a:r>
            <a:r>
              <a:rPr lang="de-DE" sz="1600" dirty="0" err="1" smtClean="0">
                <a:latin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</a:rPr>
              <a:t>)</a:t>
            </a:r>
          </a:p>
          <a:p>
            <a:pPr lvl="1"/>
            <a:r>
              <a:rPr lang="de-DE" sz="1600" dirty="0" smtClean="0"/>
              <a:t>Alle Methoden sind als</a:t>
            </a:r>
            <a:r>
              <a:rPr lang="de-DE" sz="1600" dirty="0" smtClean="0">
                <a:latin typeface="Courier New" pitchFamily="49" charset="0"/>
              </a:rPr>
              <a:t> final </a:t>
            </a:r>
            <a:r>
              <a:rPr lang="de-DE" sz="1600" dirty="0" smtClean="0"/>
              <a:t>deklariert</a:t>
            </a:r>
          </a:p>
        </p:txBody>
      </p:sp>
      <p:grpSp>
        <p:nvGrpSpPr>
          <p:cNvPr id="21" name="Gruppieren 20"/>
          <p:cNvGrpSpPr/>
          <p:nvPr/>
        </p:nvGrpSpPr>
        <p:grpSpPr>
          <a:xfrm>
            <a:off x="1251277" y="2776658"/>
            <a:ext cx="6773785" cy="2077431"/>
            <a:chOff x="1251277" y="3958420"/>
            <a:chExt cx="6773785" cy="2077431"/>
          </a:xfrm>
        </p:grpSpPr>
        <p:sp>
          <p:nvSpPr>
            <p:cNvPr id="8" name="Rechteck 7"/>
            <p:cNvSpPr/>
            <p:nvPr/>
          </p:nvSpPr>
          <p:spPr bwMode="auto">
            <a:xfrm>
              <a:off x="2538662" y="4355433"/>
              <a:ext cx="4138863" cy="1407695"/>
            </a:xfrm>
            <a:prstGeom prst="rect">
              <a:avLst/>
            </a:prstGeom>
            <a:solidFill>
              <a:srgbClr val="FFCC99"/>
            </a:solidFill>
            <a:ln w="635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endParaRPr kumimoji="0" lang="de-DE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endParaRPr>
            </a:p>
          </p:txBody>
        </p:sp>
        <p:sp>
          <p:nvSpPr>
            <p:cNvPr id="9" name="Gebogener Pfeil 8"/>
            <p:cNvSpPr/>
            <p:nvPr/>
          </p:nvSpPr>
          <p:spPr bwMode="auto">
            <a:xfrm>
              <a:off x="1251277" y="3958420"/>
              <a:ext cx="1864895" cy="1768641"/>
            </a:xfrm>
            <a:prstGeom prst="circularArrow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endParaRPr kumimoji="0" lang="de-DE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endParaRPr>
            </a:p>
          </p:txBody>
        </p:sp>
        <p:sp>
          <p:nvSpPr>
            <p:cNvPr id="10" name="Gebogener Pfeil 9"/>
            <p:cNvSpPr/>
            <p:nvPr/>
          </p:nvSpPr>
          <p:spPr bwMode="auto">
            <a:xfrm rot="10800000">
              <a:off x="1251277" y="4267210"/>
              <a:ext cx="1884946" cy="1768641"/>
            </a:xfrm>
            <a:prstGeom prst="circularArrow">
              <a:avLst/>
            </a:prstGeom>
            <a:solidFill>
              <a:srgbClr val="92D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endParaRPr kumimoji="0" lang="de-DE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endParaRPr>
            </a:p>
          </p:txBody>
        </p:sp>
        <p:sp>
          <p:nvSpPr>
            <p:cNvPr id="11" name="Gebogener Pfeil 10"/>
            <p:cNvSpPr/>
            <p:nvPr/>
          </p:nvSpPr>
          <p:spPr bwMode="auto">
            <a:xfrm>
              <a:off x="6252410" y="4002518"/>
              <a:ext cx="1736558" cy="1768641"/>
            </a:xfrm>
            <a:prstGeom prst="circularArrow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endParaRPr kumimoji="0" lang="de-DE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endParaRPr>
            </a:p>
          </p:txBody>
        </p:sp>
        <p:sp>
          <p:nvSpPr>
            <p:cNvPr id="12" name="Gebogener Pfeil 11"/>
            <p:cNvSpPr/>
            <p:nvPr/>
          </p:nvSpPr>
          <p:spPr bwMode="auto">
            <a:xfrm rot="10800000">
              <a:off x="6260429" y="4263206"/>
              <a:ext cx="1764633" cy="1768641"/>
            </a:xfrm>
            <a:prstGeom prst="circularArrow">
              <a:avLst/>
            </a:prstGeom>
            <a:solidFill>
              <a:srgbClr val="92D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endParaRPr kumimoji="0" lang="de-DE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endParaRPr>
            </a:p>
          </p:txBody>
        </p:sp>
        <p:sp>
          <p:nvSpPr>
            <p:cNvPr id="13" name="Textfeld 12"/>
            <p:cNvSpPr txBox="1"/>
            <p:nvPr/>
          </p:nvSpPr>
          <p:spPr>
            <a:xfrm>
              <a:off x="1515979" y="4812633"/>
              <a:ext cx="10587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 smtClean="0">
                  <a:latin typeface="+mn-lt"/>
                </a:rPr>
                <a:t>Thread A</a:t>
              </a:r>
              <a:endParaRPr lang="de-DE" b="1" dirty="0">
                <a:latin typeface="+mn-lt"/>
              </a:endParaRPr>
            </a:p>
          </p:txBody>
        </p:sp>
        <p:sp>
          <p:nvSpPr>
            <p:cNvPr id="14" name="Textfeld 13"/>
            <p:cNvSpPr txBox="1"/>
            <p:nvPr/>
          </p:nvSpPr>
          <p:spPr>
            <a:xfrm>
              <a:off x="6637422" y="4796592"/>
              <a:ext cx="11229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 smtClean="0">
                  <a:latin typeface="+mn-lt"/>
                </a:rPr>
                <a:t>Thread B</a:t>
              </a:r>
              <a:endParaRPr lang="de-DE" b="1" dirty="0">
                <a:latin typeface="+mn-lt"/>
              </a:endParaRP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5662876" y="4531896"/>
              <a:ext cx="7740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 err="1" smtClean="0">
                  <a:latin typeface="+mn-lt"/>
                </a:rPr>
                <a:t>wait</a:t>
              </a:r>
              <a:r>
                <a:rPr lang="de-DE" b="1" dirty="0" smtClean="0">
                  <a:latin typeface="+mn-lt"/>
                </a:rPr>
                <a:t>()</a:t>
              </a:r>
              <a:endParaRPr lang="de-DE" b="1" dirty="0">
                <a:latin typeface="+mn-lt"/>
              </a:endParaRPr>
            </a:p>
          </p:txBody>
        </p:sp>
        <p:sp>
          <p:nvSpPr>
            <p:cNvPr id="16" name="Textfeld 15"/>
            <p:cNvSpPr txBox="1"/>
            <p:nvPr/>
          </p:nvSpPr>
          <p:spPr>
            <a:xfrm>
              <a:off x="5522498" y="5249778"/>
              <a:ext cx="9384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 err="1" smtClean="0">
                  <a:latin typeface="+mn-lt"/>
                </a:rPr>
                <a:t>notify</a:t>
              </a:r>
              <a:r>
                <a:rPr lang="de-DE" b="1" dirty="0" smtClean="0">
                  <a:latin typeface="+mn-lt"/>
                </a:rPr>
                <a:t>()</a:t>
              </a:r>
              <a:endParaRPr lang="de-DE" b="1" dirty="0">
                <a:latin typeface="+mn-lt"/>
              </a:endParaRPr>
            </a:p>
          </p:txBody>
        </p:sp>
        <p:sp>
          <p:nvSpPr>
            <p:cNvPr id="17" name="Textfeld 16"/>
            <p:cNvSpPr txBox="1"/>
            <p:nvPr/>
          </p:nvSpPr>
          <p:spPr>
            <a:xfrm>
              <a:off x="3072076" y="5165552"/>
              <a:ext cx="7740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 err="1" smtClean="0">
                  <a:latin typeface="+mn-lt"/>
                </a:rPr>
                <a:t>wait</a:t>
              </a:r>
              <a:r>
                <a:rPr lang="de-DE" b="1" dirty="0" smtClean="0">
                  <a:latin typeface="+mn-lt"/>
                </a:rPr>
                <a:t>()</a:t>
              </a:r>
              <a:endParaRPr lang="de-DE" b="1" dirty="0">
                <a:latin typeface="+mn-lt"/>
              </a:endParaRPr>
            </a:p>
          </p:txBody>
        </p:sp>
        <p:sp>
          <p:nvSpPr>
            <p:cNvPr id="18" name="Textfeld 17"/>
            <p:cNvSpPr txBox="1"/>
            <p:nvPr/>
          </p:nvSpPr>
          <p:spPr>
            <a:xfrm>
              <a:off x="3052011" y="4547918"/>
              <a:ext cx="9384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 err="1" smtClean="0">
                  <a:latin typeface="+mn-lt"/>
                </a:rPr>
                <a:t>notify</a:t>
              </a:r>
              <a:r>
                <a:rPr lang="de-DE" b="1" dirty="0" smtClean="0">
                  <a:latin typeface="+mn-lt"/>
                </a:rPr>
                <a:t>()</a:t>
              </a:r>
              <a:endParaRPr lang="de-DE" b="1" dirty="0">
                <a:latin typeface="+mn-lt"/>
              </a:endParaRPr>
            </a:p>
          </p:txBody>
        </p:sp>
        <p:sp>
          <p:nvSpPr>
            <p:cNvPr id="19" name="Ellipse 18"/>
            <p:cNvSpPr/>
            <p:nvPr/>
          </p:nvSpPr>
          <p:spPr bwMode="auto">
            <a:xfrm>
              <a:off x="4018547" y="4644191"/>
              <a:ext cx="1359569" cy="842211"/>
            </a:xfrm>
            <a:prstGeom prst="ellipse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</a:pPr>
              <a:r>
                <a:rPr kumimoji="0" lang="de-DE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rPr>
                <a:t>Data</a:t>
              </a:r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4146885" y="4170954"/>
              <a:ext cx="105877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b="1" dirty="0" smtClean="0">
                  <a:latin typeface="+mn-lt"/>
                </a:rPr>
                <a:t>Monitor</a:t>
              </a:r>
              <a:endParaRPr lang="de-DE" b="1" dirty="0">
                <a:latin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wait, notify, notifyAll</a:t>
            </a:r>
          </a:p>
        </p:txBody>
      </p:sp>
      <p:grpSp>
        <p:nvGrpSpPr>
          <p:cNvPr id="25604" name="Group 3"/>
          <p:cNvGrpSpPr>
            <a:grpSpLocks/>
          </p:cNvGrpSpPr>
          <p:nvPr/>
        </p:nvGrpSpPr>
        <p:grpSpPr bwMode="auto">
          <a:xfrm>
            <a:off x="6751638" y="144463"/>
            <a:ext cx="2246312" cy="3297237"/>
            <a:chOff x="2774" y="1379"/>
            <a:chExt cx="1306" cy="2077"/>
          </a:xfrm>
        </p:grpSpPr>
        <p:sp>
          <p:nvSpPr>
            <p:cNvPr id="25609" name="Rectangle 4"/>
            <p:cNvSpPr>
              <a:spLocks noChangeArrowheads="1"/>
            </p:cNvSpPr>
            <p:nvPr/>
          </p:nvSpPr>
          <p:spPr bwMode="auto">
            <a:xfrm>
              <a:off x="2832" y="1632"/>
              <a:ext cx="1248" cy="1056"/>
            </a:xfrm>
            <a:prstGeom prst="rect">
              <a:avLst/>
            </a:prstGeom>
            <a:solidFill>
              <a:srgbClr val="FF6600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r>
                <a:rPr lang="de-DE">
                  <a:latin typeface="Tahoma" pitchFamily="34" charset="0"/>
                </a:rPr>
                <a:t>buffer</a:t>
              </a:r>
            </a:p>
          </p:txBody>
        </p:sp>
        <p:sp>
          <p:nvSpPr>
            <p:cNvPr id="25610" name="Text Box 5"/>
            <p:cNvSpPr txBox="1">
              <a:spLocks noChangeArrowheads="1"/>
            </p:cNvSpPr>
            <p:nvPr/>
          </p:nvSpPr>
          <p:spPr bwMode="auto">
            <a:xfrm>
              <a:off x="2774" y="1379"/>
              <a:ext cx="91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de-DE">
                  <a:latin typeface="Tahoma" pitchFamily="34" charset="0"/>
                </a:rPr>
                <a:t>ein Java-Objekt</a:t>
              </a:r>
            </a:p>
          </p:txBody>
        </p:sp>
        <p:grpSp>
          <p:nvGrpSpPr>
            <p:cNvPr id="25611" name="Group 6"/>
            <p:cNvGrpSpPr>
              <a:grpSpLocks/>
            </p:cNvGrpSpPr>
            <p:nvPr/>
          </p:nvGrpSpPr>
          <p:grpSpPr bwMode="auto">
            <a:xfrm>
              <a:off x="2832" y="2688"/>
              <a:ext cx="624" cy="768"/>
              <a:chOff x="480" y="2832"/>
              <a:chExt cx="624" cy="768"/>
            </a:xfrm>
          </p:grpSpPr>
          <p:sp>
            <p:nvSpPr>
              <p:cNvPr id="25612" name="Rectangle 7"/>
              <p:cNvSpPr>
                <a:spLocks noChangeArrowheads="1"/>
              </p:cNvSpPr>
              <p:nvPr/>
            </p:nvSpPr>
            <p:spPr bwMode="auto">
              <a:xfrm>
                <a:off x="480" y="2832"/>
                <a:ext cx="624" cy="19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buClrTx/>
                  <a:buFontTx/>
                  <a:buNone/>
                </a:pPr>
                <a:r>
                  <a:rPr lang="de-DE">
                    <a:latin typeface="Tahoma" pitchFamily="34" charset="0"/>
                  </a:rPr>
                  <a:t>t0</a:t>
                </a:r>
              </a:p>
            </p:txBody>
          </p:sp>
          <p:sp>
            <p:nvSpPr>
              <p:cNvPr id="25613" name="Rectangle 8"/>
              <p:cNvSpPr>
                <a:spLocks noChangeArrowheads="1"/>
              </p:cNvSpPr>
              <p:nvPr/>
            </p:nvSpPr>
            <p:spPr bwMode="auto">
              <a:xfrm>
                <a:off x="480" y="3024"/>
                <a:ext cx="624" cy="19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buClrTx/>
                  <a:buFontTx/>
                  <a:buNone/>
                </a:pPr>
                <a:r>
                  <a:rPr lang="de-DE">
                    <a:latin typeface="Tahoma" pitchFamily="34" charset="0"/>
                  </a:rPr>
                  <a:t>t1</a:t>
                </a:r>
              </a:p>
            </p:txBody>
          </p:sp>
          <p:sp>
            <p:nvSpPr>
              <p:cNvPr id="25614" name="Rectangle 9"/>
              <p:cNvSpPr>
                <a:spLocks noChangeArrowheads="1"/>
              </p:cNvSpPr>
              <p:nvPr/>
            </p:nvSpPr>
            <p:spPr bwMode="auto">
              <a:xfrm>
                <a:off x="480" y="3216"/>
                <a:ext cx="624" cy="19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buClrTx/>
                  <a:buFontTx/>
                  <a:buNone/>
                </a:pPr>
                <a:r>
                  <a:rPr lang="de-DE">
                    <a:latin typeface="Tahoma" pitchFamily="34" charset="0"/>
                  </a:rPr>
                  <a:t>t2</a:t>
                </a:r>
              </a:p>
            </p:txBody>
          </p:sp>
          <p:sp>
            <p:nvSpPr>
              <p:cNvPr id="25615" name="Rectangle 10"/>
              <p:cNvSpPr>
                <a:spLocks noChangeArrowheads="1"/>
              </p:cNvSpPr>
              <p:nvPr/>
            </p:nvSpPr>
            <p:spPr bwMode="auto">
              <a:xfrm>
                <a:off x="480" y="3408"/>
                <a:ext cx="624" cy="19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buClrTx/>
                  <a:buFontTx/>
                  <a:buNone/>
                </a:pPr>
                <a:r>
                  <a:rPr lang="de-DE">
                    <a:latin typeface="Tahoma" pitchFamily="34" charset="0"/>
                  </a:rPr>
                  <a:t>t3</a:t>
                </a:r>
              </a:p>
            </p:txBody>
          </p:sp>
        </p:grpSp>
      </p:grpSp>
      <p:sp>
        <p:nvSpPr>
          <p:cNvPr id="25605" name="Text Box 11"/>
          <p:cNvSpPr txBox="1">
            <a:spLocks noChangeArrowheads="1"/>
          </p:cNvSpPr>
          <p:nvPr/>
        </p:nvSpPr>
        <p:spPr bwMode="auto">
          <a:xfrm>
            <a:off x="285750" y="1054100"/>
            <a:ext cx="5761038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ClrTx/>
              <a:buFontTx/>
              <a:buAutoNum type="arabicPeriod"/>
            </a:pPr>
            <a:r>
              <a:rPr lang="de-DE" dirty="0">
                <a:latin typeface="Arial" pitchFamily="34" charset="0"/>
              </a:rPr>
              <a:t>Java verwaltet für jedes Objekt eine </a:t>
            </a:r>
            <a:br>
              <a:rPr lang="de-DE" dirty="0">
                <a:latin typeface="Arial" pitchFamily="34" charset="0"/>
              </a:rPr>
            </a:br>
            <a:r>
              <a:rPr lang="de-DE" dirty="0">
                <a:latin typeface="Arial" pitchFamily="34" charset="0"/>
              </a:rPr>
              <a:t>Liste wartender THREADS</a:t>
            </a:r>
            <a:br>
              <a:rPr lang="de-DE" dirty="0">
                <a:latin typeface="Arial" pitchFamily="34" charset="0"/>
              </a:rPr>
            </a:br>
            <a:endParaRPr lang="de-DE" dirty="0">
              <a:latin typeface="Arial" pitchFamily="34" charset="0"/>
            </a:endParaRPr>
          </a:p>
          <a:p>
            <a:pPr marL="457200" indent="-457200">
              <a:buClrTx/>
              <a:buFontTx/>
              <a:buAutoNum type="arabicPeriod"/>
            </a:pPr>
            <a:r>
              <a:rPr lang="de-DE" dirty="0">
                <a:latin typeface="Arial" pitchFamily="34" charset="0"/>
              </a:rPr>
              <a:t>Ein Thread kommt dort rein durch den </a:t>
            </a:r>
            <a:br>
              <a:rPr lang="de-DE" dirty="0">
                <a:latin typeface="Arial" pitchFamily="34" charset="0"/>
              </a:rPr>
            </a:br>
            <a:r>
              <a:rPr lang="de-DE" dirty="0">
                <a:latin typeface="Arial" pitchFamily="34" charset="0"/>
              </a:rPr>
              <a:t>Aufruf von </a:t>
            </a:r>
            <a:r>
              <a:rPr lang="de-DE" dirty="0" err="1">
                <a:latin typeface="Arial" pitchFamily="34" charset="0"/>
              </a:rPr>
              <a:t>wait</a:t>
            </a:r>
            <a:r>
              <a:rPr lang="de-DE" dirty="0">
                <a:latin typeface="Arial" pitchFamily="34" charset="0"/>
              </a:rPr>
              <a:t>() während das Objekt</a:t>
            </a:r>
            <a:br>
              <a:rPr lang="de-DE" dirty="0">
                <a:latin typeface="Arial" pitchFamily="34" charset="0"/>
              </a:rPr>
            </a:br>
            <a:r>
              <a:rPr lang="de-DE" dirty="0">
                <a:latin typeface="Arial" pitchFamily="34" charset="0"/>
              </a:rPr>
              <a:t>synchronisiert ist:</a:t>
            </a:r>
            <a:br>
              <a:rPr lang="de-DE" dirty="0">
                <a:latin typeface="Arial" pitchFamily="34" charset="0"/>
              </a:rPr>
            </a:br>
            <a:r>
              <a:rPr lang="de-DE" dirty="0">
                <a:latin typeface="Arial" pitchFamily="34" charset="0"/>
              </a:rPr>
              <a:t/>
            </a:r>
            <a:br>
              <a:rPr lang="de-DE" dirty="0">
                <a:latin typeface="Arial" pitchFamily="34" charset="0"/>
              </a:rPr>
            </a:br>
            <a:r>
              <a:rPr lang="de-DE" b="1" dirty="0" err="1">
                <a:latin typeface="Arial" pitchFamily="34" charset="0"/>
              </a:rPr>
              <a:t>synchronized</a:t>
            </a:r>
            <a:r>
              <a:rPr lang="de-DE" b="1" dirty="0">
                <a:latin typeface="Arial" pitchFamily="34" charset="0"/>
              </a:rPr>
              <a:t>(</a:t>
            </a:r>
            <a:r>
              <a:rPr lang="de-DE" b="1" dirty="0" err="1">
                <a:latin typeface="Arial" pitchFamily="34" charset="0"/>
              </a:rPr>
              <a:t>buffer</a:t>
            </a:r>
            <a:r>
              <a:rPr lang="de-DE" b="1" dirty="0">
                <a:latin typeface="Arial" pitchFamily="34" charset="0"/>
              </a:rPr>
              <a:t>)</a:t>
            </a:r>
            <a:r>
              <a:rPr lang="de-DE" dirty="0">
                <a:latin typeface="Arial" pitchFamily="34" charset="0"/>
              </a:rPr>
              <a:t> {</a:t>
            </a:r>
            <a:br>
              <a:rPr lang="de-DE" dirty="0">
                <a:latin typeface="Arial" pitchFamily="34" charset="0"/>
              </a:rPr>
            </a:br>
            <a:r>
              <a:rPr lang="de-DE" dirty="0">
                <a:latin typeface="Arial" pitchFamily="34" charset="0"/>
              </a:rPr>
              <a:t>      ....</a:t>
            </a:r>
            <a:br>
              <a:rPr lang="de-DE" dirty="0">
                <a:latin typeface="Arial" pitchFamily="34" charset="0"/>
              </a:rPr>
            </a:br>
            <a:r>
              <a:rPr lang="de-DE" b="1" dirty="0">
                <a:latin typeface="Arial" pitchFamily="34" charset="0"/>
              </a:rPr>
              <a:t>      </a:t>
            </a:r>
            <a:r>
              <a:rPr lang="de-DE" b="1" dirty="0" err="1">
                <a:latin typeface="Arial" pitchFamily="34" charset="0"/>
              </a:rPr>
              <a:t>b</a:t>
            </a:r>
            <a:r>
              <a:rPr lang="de-DE" b="1" dirty="0" err="1" smtClean="0">
                <a:latin typeface="Arial" pitchFamily="34" charset="0"/>
              </a:rPr>
              <a:t>uffer.wait</a:t>
            </a:r>
            <a:r>
              <a:rPr lang="de-DE" dirty="0">
                <a:latin typeface="Arial" pitchFamily="34" charset="0"/>
              </a:rPr>
              <a:t>();</a:t>
            </a:r>
            <a:br>
              <a:rPr lang="de-DE" dirty="0">
                <a:latin typeface="Arial" pitchFamily="34" charset="0"/>
              </a:rPr>
            </a:br>
            <a:r>
              <a:rPr lang="de-DE" dirty="0">
                <a:latin typeface="Arial" pitchFamily="34" charset="0"/>
              </a:rPr>
              <a:t>}</a:t>
            </a:r>
            <a:r>
              <a:rPr lang="de-DE" b="1" dirty="0">
                <a:latin typeface="Arial" pitchFamily="34" charset="0"/>
              </a:rPr>
              <a:t/>
            </a:r>
            <a:br>
              <a:rPr lang="de-DE" b="1" dirty="0">
                <a:latin typeface="Arial" pitchFamily="34" charset="0"/>
              </a:rPr>
            </a:br>
            <a:endParaRPr lang="de-DE" b="1" dirty="0">
              <a:latin typeface="Arial" pitchFamily="34" charset="0"/>
            </a:endParaRPr>
          </a:p>
          <a:p>
            <a:pPr marL="457200" indent="-457200">
              <a:buClrTx/>
              <a:buFontTx/>
              <a:buAutoNum type="arabicPeriod"/>
            </a:pPr>
            <a:r>
              <a:rPr lang="de-DE" b="1" dirty="0" err="1">
                <a:latin typeface="Arial" pitchFamily="34" charset="0"/>
              </a:rPr>
              <a:t>notify</a:t>
            </a:r>
            <a:r>
              <a:rPr lang="de-DE" b="1" dirty="0">
                <a:latin typeface="Arial" pitchFamily="34" charset="0"/>
              </a:rPr>
              <a:t>()</a:t>
            </a:r>
            <a:r>
              <a:rPr lang="de-DE" dirty="0">
                <a:latin typeface="Arial" pitchFamily="34" charset="0"/>
              </a:rPr>
              <a:t> weckt den ersten Thread, </a:t>
            </a:r>
            <a:br>
              <a:rPr lang="de-DE" dirty="0">
                <a:latin typeface="Arial" pitchFamily="34" charset="0"/>
              </a:rPr>
            </a:br>
            <a:r>
              <a:rPr lang="de-DE" b="1" dirty="0" err="1">
                <a:latin typeface="Arial" pitchFamily="34" charset="0"/>
              </a:rPr>
              <a:t>notifyAll</a:t>
            </a:r>
            <a:r>
              <a:rPr lang="de-DE" b="1" dirty="0">
                <a:latin typeface="Arial" pitchFamily="34" charset="0"/>
              </a:rPr>
              <a:t>()</a:t>
            </a:r>
            <a:r>
              <a:rPr lang="de-DE" dirty="0">
                <a:latin typeface="Arial" pitchFamily="34" charset="0"/>
              </a:rPr>
              <a:t> weckt alle Threads dieser Liste</a:t>
            </a:r>
            <a:br>
              <a:rPr lang="de-DE" dirty="0">
                <a:latin typeface="Arial" pitchFamily="34" charset="0"/>
              </a:rPr>
            </a:br>
            <a:endParaRPr lang="de-DE" dirty="0">
              <a:latin typeface="Arial" pitchFamily="34" charset="0"/>
            </a:endParaRPr>
          </a:p>
          <a:p>
            <a:pPr marL="457200" indent="-457200">
              <a:buClrTx/>
              <a:buFontTx/>
              <a:buAutoNum type="arabicPeriod"/>
            </a:pPr>
            <a:r>
              <a:rPr lang="de-DE" dirty="0" err="1">
                <a:latin typeface="Arial" pitchFamily="34" charset="0"/>
              </a:rPr>
              <a:t>wait</a:t>
            </a:r>
            <a:r>
              <a:rPr lang="de-DE" dirty="0">
                <a:latin typeface="Arial" pitchFamily="34" charset="0"/>
              </a:rPr>
              <a:t>, </a:t>
            </a:r>
            <a:r>
              <a:rPr lang="de-DE" dirty="0" err="1">
                <a:latin typeface="Arial" pitchFamily="34" charset="0"/>
              </a:rPr>
              <a:t>notify</a:t>
            </a:r>
            <a:r>
              <a:rPr lang="de-DE" dirty="0">
                <a:latin typeface="Arial" pitchFamily="34" charset="0"/>
              </a:rPr>
              <a:t> und </a:t>
            </a:r>
            <a:r>
              <a:rPr lang="de-DE" dirty="0" err="1">
                <a:latin typeface="Arial" pitchFamily="34" charset="0"/>
              </a:rPr>
              <a:t>notifyAll</a:t>
            </a:r>
            <a:r>
              <a:rPr lang="de-DE" dirty="0">
                <a:latin typeface="Arial" pitchFamily="34" charset="0"/>
              </a:rPr>
              <a:t> sind Methoden von </a:t>
            </a:r>
            <a:r>
              <a:rPr lang="de-DE" dirty="0" err="1">
                <a:latin typeface="Arial" pitchFamily="34" charset="0"/>
              </a:rPr>
              <a:t>Object</a:t>
            </a:r>
            <a:r>
              <a:rPr lang="de-DE" dirty="0">
                <a:latin typeface="Arial" pitchFamily="34" charset="0"/>
              </a:rPr>
              <a:t>,</a:t>
            </a:r>
            <a:br>
              <a:rPr lang="de-DE" dirty="0">
                <a:latin typeface="Arial" pitchFamily="34" charset="0"/>
              </a:rPr>
            </a:br>
            <a:r>
              <a:rPr lang="de-DE" dirty="0">
                <a:latin typeface="Arial" pitchFamily="34" charset="0"/>
              </a:rPr>
              <a:t>stehen also immer zur Verfügung. Sie funktionieren </a:t>
            </a:r>
            <a:br>
              <a:rPr lang="de-DE" dirty="0">
                <a:latin typeface="Arial" pitchFamily="34" charset="0"/>
              </a:rPr>
            </a:br>
            <a:r>
              <a:rPr lang="de-DE" dirty="0">
                <a:latin typeface="Arial" pitchFamily="34" charset="0"/>
              </a:rPr>
              <a:t>allerdings nur, wenn man exklusiven Zugriff auf das Objekt hat </a:t>
            </a:r>
            <a:br>
              <a:rPr lang="de-DE" dirty="0">
                <a:latin typeface="Arial" pitchFamily="34" charset="0"/>
              </a:rPr>
            </a:br>
            <a:r>
              <a:rPr lang="de-DE" b="1" dirty="0">
                <a:latin typeface="Arial" pitchFamily="34" charset="0"/>
              </a:rPr>
              <a:t>Beachte</a:t>
            </a:r>
            <a:r>
              <a:rPr lang="de-DE" dirty="0">
                <a:latin typeface="Arial" pitchFamily="34" charset="0"/>
              </a:rPr>
              <a:t>: </a:t>
            </a:r>
            <a:r>
              <a:rPr lang="de-DE" dirty="0" err="1">
                <a:latin typeface="Arial" pitchFamily="34" charset="0"/>
              </a:rPr>
              <a:t>sleep</a:t>
            </a:r>
            <a:r>
              <a:rPr lang="de-DE" dirty="0">
                <a:latin typeface="Arial" pitchFamily="34" charset="0"/>
              </a:rPr>
              <a:t>, </a:t>
            </a:r>
            <a:r>
              <a:rPr lang="de-DE" dirty="0" err="1">
                <a:latin typeface="Arial" pitchFamily="34" charset="0"/>
              </a:rPr>
              <a:t>join</a:t>
            </a:r>
            <a:r>
              <a:rPr lang="de-DE" dirty="0">
                <a:latin typeface="Arial" pitchFamily="34" charset="0"/>
              </a:rPr>
              <a:t> sind Methoden von Thread!</a:t>
            </a:r>
          </a:p>
        </p:txBody>
      </p:sp>
      <p:sp>
        <p:nvSpPr>
          <p:cNvPr id="25606" name="AutoShape 12"/>
          <p:cNvSpPr>
            <a:spLocks/>
          </p:cNvSpPr>
          <p:nvPr/>
        </p:nvSpPr>
        <p:spPr bwMode="auto">
          <a:xfrm>
            <a:off x="8089900" y="2260600"/>
            <a:ext cx="82550" cy="1219200"/>
          </a:xfrm>
          <a:prstGeom prst="rightBrace">
            <a:avLst>
              <a:gd name="adj1" fmla="val 12307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25607" name="Text Box 13"/>
          <p:cNvSpPr txBox="1">
            <a:spLocks noChangeArrowheads="1"/>
          </p:cNvSpPr>
          <p:nvPr/>
        </p:nvSpPr>
        <p:spPr bwMode="auto">
          <a:xfrm>
            <a:off x="8320088" y="2544763"/>
            <a:ext cx="1093787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de-DE">
                <a:latin typeface="Tahoma" pitchFamily="34" charset="0"/>
              </a:rPr>
              <a:t>Liste </a:t>
            </a:r>
            <a:br>
              <a:rPr lang="de-DE">
                <a:latin typeface="Tahoma" pitchFamily="34" charset="0"/>
              </a:rPr>
            </a:br>
            <a:r>
              <a:rPr lang="de-DE">
                <a:latin typeface="Tahoma" pitchFamily="34" charset="0"/>
              </a:rPr>
              <a:t>wartender</a:t>
            </a:r>
            <a:br>
              <a:rPr lang="de-DE">
                <a:latin typeface="Tahoma" pitchFamily="34" charset="0"/>
              </a:rPr>
            </a:br>
            <a:r>
              <a:rPr lang="de-DE">
                <a:latin typeface="Tahoma" pitchFamily="34" charset="0"/>
              </a:rPr>
              <a:t>Threads</a:t>
            </a:r>
          </a:p>
        </p:txBody>
      </p:sp>
      <p:sp>
        <p:nvSpPr>
          <p:cNvPr id="995342" name="Text Box 14"/>
          <p:cNvSpPr txBox="1">
            <a:spLocks noChangeArrowheads="1"/>
          </p:cNvSpPr>
          <p:nvPr/>
        </p:nvSpPr>
        <p:spPr bwMode="auto">
          <a:xfrm>
            <a:off x="6304547" y="3521657"/>
            <a:ext cx="3388728" cy="277495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buClrTx/>
              <a:buFontTx/>
              <a:buNone/>
            </a:pPr>
            <a:r>
              <a:rPr lang="de-DE" sz="1400" dirty="0" smtClean="0"/>
              <a:t> </a:t>
            </a:r>
            <a:r>
              <a:rPr lang="de-DE" sz="1400" dirty="0" err="1" smtClean="0"/>
              <a:t>public</a:t>
            </a:r>
            <a:r>
              <a:rPr lang="de-DE" sz="1400" dirty="0" smtClean="0"/>
              <a:t> </a:t>
            </a:r>
            <a:r>
              <a:rPr lang="de-DE" sz="1400" dirty="0" err="1"/>
              <a:t>class</a:t>
            </a:r>
            <a:r>
              <a:rPr lang="de-DE" sz="1400" dirty="0"/>
              <a:t> X {</a:t>
            </a:r>
            <a:br>
              <a:rPr lang="de-DE" sz="1400" dirty="0"/>
            </a:br>
            <a:r>
              <a:rPr lang="de-DE" sz="1400" dirty="0"/>
              <a:t> </a:t>
            </a:r>
            <a:r>
              <a:rPr lang="de-DE" sz="1400" dirty="0" smtClean="0"/>
              <a:t> …</a:t>
            </a:r>
            <a:endParaRPr lang="de-DE" sz="1400" dirty="0"/>
          </a:p>
          <a:p>
            <a:pPr>
              <a:buClrTx/>
              <a:buFontTx/>
              <a:buNone/>
            </a:pPr>
            <a:r>
              <a:rPr lang="de-DE" sz="1400" dirty="0"/>
              <a:t>  </a:t>
            </a:r>
            <a:r>
              <a:rPr lang="de-DE" sz="1400" dirty="0" smtClean="0"/>
              <a:t>  </a:t>
            </a:r>
            <a:r>
              <a:rPr lang="de-DE" sz="1400" dirty="0" err="1"/>
              <a:t>public</a:t>
            </a:r>
            <a:r>
              <a:rPr lang="de-DE" sz="1400" dirty="0"/>
              <a:t> </a:t>
            </a:r>
            <a:r>
              <a:rPr lang="de-DE" sz="1400" dirty="0" err="1"/>
              <a:t>synchronized</a:t>
            </a:r>
            <a:r>
              <a:rPr lang="de-DE" sz="1400" dirty="0"/>
              <a:t> </a:t>
            </a:r>
            <a:r>
              <a:rPr lang="de-DE" sz="1400" dirty="0" err="1"/>
              <a:t>doY</a:t>
            </a:r>
            <a:r>
              <a:rPr lang="de-DE" sz="1400" dirty="0"/>
              <a:t>() {</a:t>
            </a:r>
          </a:p>
          <a:p>
            <a:pPr>
              <a:buClrTx/>
              <a:buFontTx/>
              <a:buNone/>
            </a:pPr>
            <a:r>
              <a:rPr lang="de-DE" sz="1400" dirty="0"/>
              <a:t>   </a:t>
            </a:r>
            <a:r>
              <a:rPr lang="de-DE" sz="1400" dirty="0" smtClean="0"/>
              <a:t>    </a:t>
            </a:r>
            <a:r>
              <a:rPr lang="de-DE" sz="1400" b="1" dirty="0" err="1"/>
              <a:t>wait</a:t>
            </a:r>
            <a:r>
              <a:rPr lang="de-DE" sz="1400" b="1" dirty="0"/>
              <a:t>();</a:t>
            </a:r>
          </a:p>
          <a:p>
            <a:pPr>
              <a:buClrTx/>
              <a:buFontTx/>
              <a:buNone/>
            </a:pPr>
            <a:r>
              <a:rPr lang="de-DE" sz="1400" dirty="0"/>
              <a:t>   </a:t>
            </a:r>
            <a:r>
              <a:rPr lang="de-DE" sz="1400" dirty="0" smtClean="0"/>
              <a:t> }</a:t>
            </a:r>
            <a:r>
              <a:rPr lang="de-DE" sz="1400" dirty="0"/>
              <a:t/>
            </a:r>
            <a:br>
              <a:rPr lang="de-DE" sz="1400" dirty="0"/>
            </a:br>
            <a:r>
              <a:rPr lang="de-DE" sz="1400" dirty="0"/>
              <a:t> </a:t>
            </a:r>
            <a:r>
              <a:rPr lang="de-DE" sz="1400" dirty="0" smtClean="0"/>
              <a:t> …</a:t>
            </a:r>
            <a:endParaRPr lang="de-DE" sz="1400" dirty="0"/>
          </a:p>
          <a:p>
            <a:pPr>
              <a:buClrTx/>
              <a:buFontTx/>
              <a:buNone/>
            </a:pPr>
            <a:r>
              <a:rPr lang="de-DE" sz="1400" dirty="0" smtClean="0"/>
              <a:t> }</a:t>
            </a:r>
            <a:r>
              <a:rPr lang="de-DE" sz="1400" dirty="0"/>
              <a:t/>
            </a:r>
            <a:br>
              <a:rPr lang="de-DE" sz="1400" dirty="0"/>
            </a:br>
            <a:endParaRPr lang="de-DE" sz="1400" dirty="0"/>
          </a:p>
          <a:p>
            <a:pPr>
              <a:buClrTx/>
              <a:buFontTx/>
              <a:buNone/>
            </a:pPr>
            <a:r>
              <a:rPr lang="de-DE" sz="1400" dirty="0" smtClean="0">
                <a:latin typeface="Arial Unicode MS" pitchFamily="34" charset="-128"/>
              </a:rPr>
              <a:t> oder</a:t>
            </a:r>
            <a:endParaRPr lang="de-DE" sz="1400" dirty="0">
              <a:latin typeface="Arial Unicode MS" pitchFamily="34" charset="-128"/>
            </a:endParaRPr>
          </a:p>
          <a:p>
            <a:pPr>
              <a:buClrTx/>
              <a:buFontTx/>
              <a:buNone/>
            </a:pPr>
            <a:r>
              <a:rPr lang="de-DE" sz="1400" dirty="0"/>
              <a:t/>
            </a:r>
            <a:br>
              <a:rPr lang="de-DE" sz="1400" dirty="0"/>
            </a:br>
            <a:r>
              <a:rPr lang="de-DE" sz="1400" dirty="0" smtClean="0"/>
              <a:t> </a:t>
            </a:r>
            <a:r>
              <a:rPr lang="de-DE" sz="1400" dirty="0" err="1" smtClean="0"/>
              <a:t>synchronized</a:t>
            </a:r>
            <a:r>
              <a:rPr lang="de-DE" sz="1400" dirty="0" smtClean="0"/>
              <a:t>(</a:t>
            </a:r>
            <a:r>
              <a:rPr lang="de-DE" sz="1400" dirty="0" err="1" smtClean="0"/>
              <a:t>obj</a:t>
            </a:r>
            <a:r>
              <a:rPr lang="de-DE" sz="1400" dirty="0"/>
              <a:t>) {</a:t>
            </a:r>
          </a:p>
          <a:p>
            <a:pPr>
              <a:buClrTx/>
              <a:buFontTx/>
              <a:buNone/>
            </a:pPr>
            <a:r>
              <a:rPr lang="de-DE" sz="1400" dirty="0"/>
              <a:t> </a:t>
            </a:r>
            <a:r>
              <a:rPr lang="de-DE" sz="1400" dirty="0" smtClean="0"/>
              <a:t>   </a:t>
            </a:r>
            <a:r>
              <a:rPr lang="de-DE" sz="1400" b="1" dirty="0" err="1"/>
              <a:t>obj.wait</a:t>
            </a:r>
            <a:r>
              <a:rPr lang="de-DE" sz="1400" b="1" dirty="0"/>
              <a:t>();</a:t>
            </a:r>
          </a:p>
          <a:p>
            <a:pPr>
              <a:buClrTx/>
              <a:buFontTx/>
              <a:buNone/>
            </a:pPr>
            <a:r>
              <a:rPr lang="de-DE" sz="1400" dirty="0" smtClean="0"/>
              <a:t> }</a:t>
            </a:r>
            <a:endParaRPr lang="de-DE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534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65113"/>
            <a:ext cx="6275388" cy="427037"/>
          </a:xfrm>
        </p:spPr>
        <p:txBody>
          <a:bodyPr/>
          <a:lstStyle/>
          <a:p>
            <a:r>
              <a:rPr lang="de-DE" b="1" smtClean="0"/>
              <a:t>Erzeuger/Verbraucher-Problem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1009650"/>
            <a:ext cx="9421812" cy="4733925"/>
          </a:xfrm>
        </p:spPr>
        <p:txBody>
          <a:bodyPr/>
          <a:lstStyle/>
          <a:p>
            <a:r>
              <a:rPr lang="de-DE" smtClean="0"/>
              <a:t>Jeder Erzeuger/Verbraucher greift auf denselben Puffer zu</a:t>
            </a:r>
          </a:p>
          <a:p>
            <a:r>
              <a:rPr lang="de-DE" smtClean="0"/>
              <a:t>Jeder Erzeuger/Verbraucher läuft in einem eigenen </a:t>
            </a:r>
            <a:r>
              <a:rPr lang="de-DE" smtClean="0">
                <a:latin typeface="Courier New" pitchFamily="49" charset="0"/>
              </a:rPr>
              <a:t>Thread</a:t>
            </a:r>
            <a:endParaRPr lang="de-DE" smtClean="0"/>
          </a:p>
          <a:p>
            <a:r>
              <a:rPr lang="de-DE" smtClean="0"/>
              <a:t>Jeder Erzeuger kann ein Objekt im Puffer ablegen, wenn Platz ist</a:t>
            </a:r>
          </a:p>
          <a:p>
            <a:r>
              <a:rPr lang="de-DE" smtClean="0"/>
              <a:t>Jeder Verbraucher kann ein Objekt nur entnehmen, wenn der Puffer nicht leer ist</a:t>
            </a:r>
          </a:p>
          <a:p>
            <a:r>
              <a:rPr lang="de-DE" smtClean="0"/>
              <a:t>Erzeuger/Verbraucher warten, wenn ihre Bedingungen nicht erfüllt sind</a:t>
            </a:r>
          </a:p>
          <a:p>
            <a:pPr lvl="1"/>
            <a:endParaRPr lang="de-DE" smtClean="0"/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1216025" y="4348163"/>
            <a:ext cx="528638" cy="4857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de-DE" sz="2400">
                <a:latin typeface="Arial" pitchFamily="34" charset="0"/>
              </a:rPr>
              <a:t>E</a:t>
            </a:r>
            <a:r>
              <a:rPr lang="de-DE" sz="2400" baseline="-25000">
                <a:latin typeface="Arial" pitchFamily="34" charset="0"/>
              </a:rPr>
              <a:t>1</a:t>
            </a:r>
            <a:endParaRPr lang="de-DE" sz="2400">
              <a:latin typeface="Arial" pitchFamily="34" charset="0"/>
            </a:endParaRPr>
          </a:p>
        </p:txBody>
      </p:sp>
      <p:sp>
        <p:nvSpPr>
          <p:cNvPr id="26630" name="Text Box 5"/>
          <p:cNvSpPr txBox="1">
            <a:spLocks noChangeArrowheads="1"/>
          </p:cNvSpPr>
          <p:nvPr/>
        </p:nvSpPr>
        <p:spPr bwMode="auto">
          <a:xfrm>
            <a:off x="1220788" y="4983163"/>
            <a:ext cx="528637" cy="4857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de-DE" sz="2400">
                <a:latin typeface="Arial" pitchFamily="34" charset="0"/>
              </a:rPr>
              <a:t>E</a:t>
            </a:r>
            <a:r>
              <a:rPr lang="de-DE" sz="2400" baseline="-25000">
                <a:latin typeface="Arial" pitchFamily="34" charset="0"/>
              </a:rPr>
              <a:t>2</a:t>
            </a:r>
            <a:endParaRPr lang="de-DE" sz="2400">
              <a:latin typeface="Arial" pitchFamily="34" charset="0"/>
            </a:endParaRPr>
          </a:p>
        </p:txBody>
      </p:sp>
      <p:sp>
        <p:nvSpPr>
          <p:cNvPr id="26631" name="Text Box 6"/>
          <p:cNvSpPr txBox="1">
            <a:spLocks noChangeArrowheads="1"/>
          </p:cNvSpPr>
          <p:nvPr/>
        </p:nvSpPr>
        <p:spPr bwMode="auto">
          <a:xfrm>
            <a:off x="1216025" y="5616575"/>
            <a:ext cx="528638" cy="4857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de-DE" sz="2400">
                <a:latin typeface="Arial" pitchFamily="34" charset="0"/>
              </a:rPr>
              <a:t>E</a:t>
            </a:r>
            <a:r>
              <a:rPr lang="de-DE" sz="2400" baseline="-25000">
                <a:latin typeface="Arial" pitchFamily="34" charset="0"/>
              </a:rPr>
              <a:t>3</a:t>
            </a:r>
            <a:endParaRPr lang="de-DE" sz="2400">
              <a:latin typeface="Arial" pitchFamily="34" charset="0"/>
            </a:endParaRPr>
          </a:p>
        </p:txBody>
      </p:sp>
      <p:sp>
        <p:nvSpPr>
          <p:cNvPr id="26632" name="Text Box 7"/>
          <p:cNvSpPr txBox="1">
            <a:spLocks noChangeArrowheads="1"/>
          </p:cNvSpPr>
          <p:nvPr/>
        </p:nvSpPr>
        <p:spPr bwMode="auto">
          <a:xfrm>
            <a:off x="8169275" y="5621338"/>
            <a:ext cx="528638" cy="485775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de-DE" sz="2400">
                <a:latin typeface="Arial" pitchFamily="34" charset="0"/>
              </a:rPr>
              <a:t>V</a:t>
            </a:r>
            <a:r>
              <a:rPr lang="de-DE" sz="2400" baseline="-25000">
                <a:latin typeface="Arial" pitchFamily="34" charset="0"/>
              </a:rPr>
              <a:t>2</a:t>
            </a:r>
            <a:endParaRPr lang="de-DE" sz="2400">
              <a:latin typeface="Arial" pitchFamily="34" charset="0"/>
            </a:endParaRPr>
          </a:p>
        </p:txBody>
      </p:sp>
      <p:sp>
        <p:nvSpPr>
          <p:cNvPr id="26633" name="Text Box 8"/>
          <p:cNvSpPr txBox="1">
            <a:spLocks noChangeArrowheads="1"/>
          </p:cNvSpPr>
          <p:nvPr/>
        </p:nvSpPr>
        <p:spPr bwMode="auto">
          <a:xfrm>
            <a:off x="8169275" y="4351338"/>
            <a:ext cx="528638" cy="485775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de-DE" sz="2400">
                <a:latin typeface="Arial" pitchFamily="34" charset="0"/>
              </a:rPr>
              <a:t>V</a:t>
            </a:r>
            <a:r>
              <a:rPr lang="de-DE" sz="2400" baseline="-25000">
                <a:latin typeface="Arial" pitchFamily="34" charset="0"/>
              </a:rPr>
              <a:t>1</a:t>
            </a:r>
            <a:endParaRPr lang="de-DE" sz="2400">
              <a:latin typeface="Arial" pitchFamily="34" charset="0"/>
            </a:endParaRPr>
          </a:p>
        </p:txBody>
      </p:sp>
      <p:sp>
        <p:nvSpPr>
          <p:cNvPr id="26634" name="Rectangle 9"/>
          <p:cNvSpPr>
            <a:spLocks noChangeArrowheads="1"/>
          </p:cNvSpPr>
          <p:nvPr/>
        </p:nvSpPr>
        <p:spPr bwMode="auto">
          <a:xfrm>
            <a:off x="2617788" y="4675188"/>
            <a:ext cx="4784725" cy="107632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26635" name="Text Box 10"/>
          <p:cNvSpPr txBox="1">
            <a:spLocks noChangeArrowheads="1"/>
          </p:cNvSpPr>
          <p:nvPr/>
        </p:nvSpPr>
        <p:spPr bwMode="auto">
          <a:xfrm>
            <a:off x="2814638" y="5294313"/>
            <a:ext cx="441642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>
              <a:buClrTx/>
              <a:buFontTx/>
              <a:buNone/>
            </a:pPr>
            <a:r>
              <a:rPr lang="de-DE" sz="1800">
                <a:latin typeface="Arial" pitchFamily="34" charset="0"/>
              </a:rPr>
              <a:t>Puffer (n=8)</a:t>
            </a:r>
          </a:p>
        </p:txBody>
      </p:sp>
      <p:sp>
        <p:nvSpPr>
          <p:cNvPr id="26636" name="Text Box 11"/>
          <p:cNvSpPr txBox="1">
            <a:spLocks noChangeArrowheads="1"/>
          </p:cNvSpPr>
          <p:nvPr/>
        </p:nvSpPr>
        <p:spPr bwMode="auto">
          <a:xfrm>
            <a:off x="3367088" y="4824413"/>
            <a:ext cx="55245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>
              <a:buClrTx/>
              <a:buFontTx/>
              <a:buNone/>
            </a:pPr>
            <a:r>
              <a:rPr lang="de-DE" sz="2400">
                <a:latin typeface="Arial" pitchFamily="34" charset="0"/>
              </a:rPr>
              <a:t>y</a:t>
            </a:r>
          </a:p>
        </p:txBody>
      </p:sp>
      <p:sp>
        <p:nvSpPr>
          <p:cNvPr id="26637" name="Text Box 12"/>
          <p:cNvSpPr txBox="1">
            <a:spLocks noChangeArrowheads="1"/>
          </p:cNvSpPr>
          <p:nvPr/>
        </p:nvSpPr>
        <p:spPr bwMode="auto">
          <a:xfrm>
            <a:off x="3919538" y="4824413"/>
            <a:ext cx="55245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>
              <a:buClrTx/>
              <a:buFontTx/>
              <a:buNone/>
            </a:pPr>
            <a:r>
              <a:rPr lang="de-DE" sz="2400">
                <a:latin typeface="Arial" pitchFamily="34" charset="0"/>
              </a:rPr>
              <a:t>z</a:t>
            </a:r>
          </a:p>
        </p:txBody>
      </p:sp>
      <p:sp>
        <p:nvSpPr>
          <p:cNvPr id="26638" name="Text Box 13"/>
          <p:cNvSpPr txBox="1">
            <a:spLocks noChangeArrowheads="1"/>
          </p:cNvSpPr>
          <p:nvPr/>
        </p:nvSpPr>
        <p:spPr bwMode="auto">
          <a:xfrm>
            <a:off x="4471988" y="4824413"/>
            <a:ext cx="550862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buClrTx/>
              <a:buFontTx/>
              <a:buNone/>
            </a:pPr>
            <a:endParaRPr lang="de-DE" sz="2400">
              <a:latin typeface="Arial" pitchFamily="34" charset="0"/>
            </a:endParaRPr>
          </a:p>
        </p:txBody>
      </p:sp>
      <p:sp>
        <p:nvSpPr>
          <p:cNvPr id="26639" name="Text Box 14"/>
          <p:cNvSpPr txBox="1">
            <a:spLocks noChangeArrowheads="1"/>
          </p:cNvSpPr>
          <p:nvPr/>
        </p:nvSpPr>
        <p:spPr bwMode="auto">
          <a:xfrm>
            <a:off x="5022850" y="4824413"/>
            <a:ext cx="55245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buClrTx/>
              <a:buFontTx/>
              <a:buNone/>
            </a:pPr>
            <a:endParaRPr lang="de-DE" sz="2400">
              <a:latin typeface="Arial" pitchFamily="34" charset="0"/>
            </a:endParaRPr>
          </a:p>
        </p:txBody>
      </p:sp>
      <p:sp>
        <p:nvSpPr>
          <p:cNvPr id="26640" name="Text Box 15"/>
          <p:cNvSpPr txBox="1">
            <a:spLocks noChangeArrowheads="1"/>
          </p:cNvSpPr>
          <p:nvPr/>
        </p:nvSpPr>
        <p:spPr bwMode="auto">
          <a:xfrm>
            <a:off x="5575300" y="4824413"/>
            <a:ext cx="55245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buClrTx/>
              <a:buFontTx/>
              <a:buNone/>
            </a:pPr>
            <a:endParaRPr lang="de-DE" sz="2400">
              <a:latin typeface="Arial" pitchFamily="34" charset="0"/>
            </a:endParaRPr>
          </a:p>
        </p:txBody>
      </p:sp>
      <p:sp>
        <p:nvSpPr>
          <p:cNvPr id="26641" name="Text Box 16"/>
          <p:cNvSpPr txBox="1">
            <a:spLocks noChangeArrowheads="1"/>
          </p:cNvSpPr>
          <p:nvPr/>
        </p:nvSpPr>
        <p:spPr bwMode="auto">
          <a:xfrm>
            <a:off x="6127750" y="4824413"/>
            <a:ext cx="55245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buClrTx/>
              <a:buFontTx/>
              <a:buNone/>
            </a:pPr>
            <a:endParaRPr lang="de-DE" sz="2400">
              <a:latin typeface="Arial" pitchFamily="34" charset="0"/>
            </a:endParaRPr>
          </a:p>
        </p:txBody>
      </p:sp>
      <p:sp>
        <p:nvSpPr>
          <p:cNvPr id="26642" name="Text Box 17"/>
          <p:cNvSpPr txBox="1">
            <a:spLocks noChangeArrowheads="1"/>
          </p:cNvSpPr>
          <p:nvPr/>
        </p:nvSpPr>
        <p:spPr bwMode="auto">
          <a:xfrm>
            <a:off x="6680200" y="4824413"/>
            <a:ext cx="55086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buClrTx/>
              <a:buFontTx/>
              <a:buNone/>
            </a:pPr>
            <a:endParaRPr lang="de-DE" sz="2400">
              <a:latin typeface="Arial" pitchFamily="34" charset="0"/>
            </a:endParaRPr>
          </a:p>
        </p:txBody>
      </p:sp>
      <p:sp>
        <p:nvSpPr>
          <p:cNvPr id="26643" name="Text Box 18"/>
          <p:cNvSpPr txBox="1">
            <a:spLocks noChangeArrowheads="1"/>
          </p:cNvSpPr>
          <p:nvPr/>
        </p:nvSpPr>
        <p:spPr bwMode="auto">
          <a:xfrm>
            <a:off x="2814638" y="4824413"/>
            <a:ext cx="55245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>
              <a:buClrTx/>
              <a:buFontTx/>
              <a:buNone/>
            </a:pPr>
            <a:r>
              <a:rPr lang="de-DE" sz="2400">
                <a:latin typeface="Arial" pitchFamily="34" charset="0"/>
              </a:rPr>
              <a:t>x</a:t>
            </a:r>
          </a:p>
        </p:txBody>
      </p:sp>
      <p:cxnSp>
        <p:nvCxnSpPr>
          <p:cNvPr id="26644" name="AutoShape 19"/>
          <p:cNvCxnSpPr>
            <a:cxnSpLocks noChangeShapeType="1"/>
            <a:stCxn id="26629" idx="3"/>
            <a:endCxn id="26634" idx="1"/>
          </p:cNvCxnSpPr>
          <p:nvPr/>
        </p:nvCxnSpPr>
        <p:spPr bwMode="auto">
          <a:xfrm>
            <a:off x="1758950" y="4591050"/>
            <a:ext cx="858838" cy="622300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6645" name="AutoShape 20"/>
          <p:cNvCxnSpPr>
            <a:cxnSpLocks noChangeShapeType="1"/>
            <a:stCxn id="26631" idx="3"/>
            <a:endCxn id="26634" idx="1"/>
          </p:cNvCxnSpPr>
          <p:nvPr/>
        </p:nvCxnSpPr>
        <p:spPr bwMode="auto">
          <a:xfrm flipV="1">
            <a:off x="1758950" y="5213350"/>
            <a:ext cx="858838" cy="646113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6646" name="AutoShape 21"/>
          <p:cNvCxnSpPr>
            <a:cxnSpLocks noChangeShapeType="1"/>
            <a:stCxn id="26630" idx="3"/>
            <a:endCxn id="26634" idx="1"/>
          </p:cNvCxnSpPr>
          <p:nvPr/>
        </p:nvCxnSpPr>
        <p:spPr bwMode="auto">
          <a:xfrm flipV="1">
            <a:off x="1763713" y="5213350"/>
            <a:ext cx="854075" cy="12700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6647" name="AutoShape 22"/>
          <p:cNvCxnSpPr>
            <a:cxnSpLocks noChangeShapeType="1"/>
            <a:stCxn id="26634" idx="3"/>
            <a:endCxn id="26632" idx="1"/>
          </p:cNvCxnSpPr>
          <p:nvPr/>
        </p:nvCxnSpPr>
        <p:spPr bwMode="auto">
          <a:xfrm>
            <a:off x="7402513" y="5213350"/>
            <a:ext cx="752475" cy="6508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26648" name="AutoShape 23"/>
          <p:cNvCxnSpPr>
            <a:cxnSpLocks noChangeShapeType="1"/>
            <a:stCxn id="26634" idx="3"/>
            <a:endCxn id="26633" idx="1"/>
          </p:cNvCxnSpPr>
          <p:nvPr/>
        </p:nvCxnSpPr>
        <p:spPr bwMode="auto">
          <a:xfrm flipV="1">
            <a:off x="7402513" y="4594225"/>
            <a:ext cx="752475" cy="6191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Das Einfügen von Objekten in den Puffer</a:t>
            </a:r>
          </a:p>
        </p:txBody>
      </p:sp>
      <p:sp>
        <p:nvSpPr>
          <p:cNvPr id="27652" name="Text Box 3"/>
          <p:cNvSpPr txBox="1">
            <a:spLocks noChangeArrowheads="1"/>
          </p:cNvSpPr>
          <p:nvPr/>
        </p:nvSpPr>
        <p:spPr bwMode="auto">
          <a:xfrm>
            <a:off x="446088" y="1189038"/>
            <a:ext cx="8497887" cy="44926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de-DE"/>
              <a:t>public class </a:t>
            </a:r>
            <a:r>
              <a:rPr lang="de-DE" b="1"/>
              <a:t>Buffer</a:t>
            </a:r>
            <a:r>
              <a:rPr lang="de-DE"/>
              <a:t> {</a:t>
            </a:r>
          </a:p>
          <a:p>
            <a:pPr>
              <a:buClrTx/>
              <a:buFontTx/>
              <a:buNone/>
            </a:pPr>
            <a:r>
              <a:rPr lang="de-DE"/>
              <a:t>    private int items = 3;	       // Items im Puffer</a:t>
            </a:r>
          </a:p>
          <a:p>
            <a:pPr>
              <a:buClrTx/>
              <a:buFontTx/>
              <a:buNone/>
            </a:pPr>
            <a:r>
              <a:rPr lang="de-DE"/>
              <a:t>    private int spaceleft = 5;       // Platz im Puffer</a:t>
            </a:r>
          </a:p>
          <a:p>
            <a:pPr>
              <a:buClrTx/>
              <a:buFontTx/>
              <a:buNone/>
            </a:pPr>
            <a:endParaRPr lang="de-DE"/>
          </a:p>
          <a:p>
            <a:pPr>
              <a:buClrTx/>
              <a:buFontTx/>
              <a:buNone/>
            </a:pPr>
            <a:r>
              <a:rPr lang="de-DE"/>
              <a:t>    public </a:t>
            </a:r>
            <a:r>
              <a:rPr lang="de-DE" b="1"/>
              <a:t>synchronized</a:t>
            </a:r>
            <a:r>
              <a:rPr lang="de-DE"/>
              <a:t> void </a:t>
            </a:r>
            <a:r>
              <a:rPr lang="de-DE" b="1"/>
              <a:t>put</a:t>
            </a:r>
            <a:r>
              <a:rPr lang="de-DE"/>
              <a:t>(Object x) {</a:t>
            </a:r>
          </a:p>
          <a:p>
            <a:pPr>
              <a:buClrTx/>
              <a:buFontTx/>
              <a:buNone/>
            </a:pPr>
            <a:r>
              <a:rPr lang="de-DE"/>
              <a:t>        while (spaceleft == 0) {    </a:t>
            </a:r>
          </a:p>
          <a:p>
            <a:pPr>
              <a:buClrTx/>
              <a:buFontTx/>
              <a:buNone/>
            </a:pPr>
            <a:r>
              <a:rPr lang="de-DE"/>
              <a:t>	    try {    </a:t>
            </a:r>
          </a:p>
          <a:p>
            <a:pPr>
              <a:buClrTx/>
              <a:buFontTx/>
              <a:buNone/>
            </a:pPr>
            <a:r>
              <a:rPr lang="de-DE"/>
              <a:t>                </a:t>
            </a:r>
            <a:r>
              <a:rPr lang="de-DE" b="1"/>
              <a:t>wait();</a:t>
            </a:r>
          </a:p>
          <a:p>
            <a:pPr>
              <a:buClrTx/>
              <a:buFontTx/>
              <a:buNone/>
            </a:pPr>
            <a:r>
              <a:rPr lang="de-DE"/>
              <a:t>            } catch(InterruptedException e) {}</a:t>
            </a:r>
          </a:p>
          <a:p>
            <a:pPr>
              <a:buClrTx/>
              <a:buFontTx/>
              <a:buNone/>
            </a:pPr>
            <a:r>
              <a:rPr lang="de-DE"/>
              <a:t>        }</a:t>
            </a:r>
          </a:p>
          <a:p>
            <a:pPr>
              <a:buClrTx/>
              <a:buFontTx/>
              <a:buNone/>
            </a:pPr>
            <a:r>
              <a:rPr lang="de-DE"/>
              <a:t>   </a:t>
            </a:r>
          </a:p>
          <a:p>
            <a:pPr>
              <a:buClrTx/>
              <a:buFontTx/>
              <a:buNone/>
            </a:pPr>
            <a:r>
              <a:rPr lang="de-DE"/>
              <a:t>        // jetzt ist Platz, um obj in den Puffer einzutragen ...</a:t>
            </a:r>
          </a:p>
          <a:p>
            <a:pPr>
              <a:buClrTx/>
              <a:buFontTx/>
              <a:buNone/>
            </a:pPr>
            <a:endParaRPr lang="de-DE"/>
          </a:p>
          <a:p>
            <a:pPr>
              <a:buClrTx/>
              <a:buFontTx/>
              <a:buNone/>
            </a:pPr>
            <a:r>
              <a:rPr lang="de-DE"/>
              <a:t>        items++;</a:t>
            </a:r>
          </a:p>
          <a:p>
            <a:pPr>
              <a:buClrTx/>
              <a:buFontTx/>
              <a:buNone/>
            </a:pPr>
            <a:r>
              <a:rPr lang="de-DE"/>
              <a:t>        spaceleft--;</a:t>
            </a:r>
          </a:p>
          <a:p>
            <a:pPr>
              <a:buClrTx/>
              <a:buFontTx/>
              <a:buNone/>
            </a:pPr>
            <a:r>
              <a:rPr lang="de-DE"/>
              <a:t>        </a:t>
            </a:r>
            <a:r>
              <a:rPr lang="de-DE" b="1"/>
              <a:t>notifyAll();</a:t>
            </a:r>
          </a:p>
          <a:p>
            <a:pPr>
              <a:buClrTx/>
              <a:buFontTx/>
              <a:buNone/>
            </a:pPr>
            <a:r>
              <a:rPr lang="de-DE"/>
              <a:t>    }</a:t>
            </a:r>
          </a:p>
          <a:p>
            <a:pPr>
              <a:buClrTx/>
              <a:buFontTx/>
              <a:buNone/>
            </a:pPr>
            <a:r>
              <a:rPr lang="de-DE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Das Auslesen von Objekten in den Puffer</a:t>
            </a: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471488" y="1214438"/>
            <a:ext cx="8497887" cy="44926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b="1" dirty="0" err="1"/>
              <a:t>Buffer</a:t>
            </a:r>
            <a:r>
              <a:rPr lang="de-DE" b="1" dirty="0"/>
              <a:t> </a:t>
            </a:r>
            <a:r>
              <a:rPr lang="de-DE" dirty="0"/>
              <a:t>{</a:t>
            </a:r>
          </a:p>
          <a:p>
            <a:pPr>
              <a:buClrTx/>
              <a:buFontTx/>
              <a:buNone/>
            </a:pPr>
            <a:r>
              <a:rPr lang="de-DE" dirty="0"/>
              <a:t>    // ...</a:t>
            </a:r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b="1" dirty="0" err="1"/>
              <a:t>synchronized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b="1" dirty="0" err="1"/>
              <a:t>get</a:t>
            </a:r>
            <a:r>
              <a:rPr lang="de-DE" dirty="0"/>
              <a:t>() {</a:t>
            </a:r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while</a:t>
            </a:r>
            <a:r>
              <a:rPr lang="de-DE" dirty="0"/>
              <a:t> (</a:t>
            </a:r>
            <a:r>
              <a:rPr lang="de-DE" dirty="0" err="1"/>
              <a:t>items</a:t>
            </a:r>
            <a:r>
              <a:rPr lang="de-DE" dirty="0"/>
              <a:t> == 0) {    </a:t>
            </a:r>
          </a:p>
          <a:p>
            <a:pPr>
              <a:buClrTx/>
              <a:buFontTx/>
              <a:buNone/>
            </a:pPr>
            <a:r>
              <a:rPr lang="de-DE" dirty="0"/>
              <a:t>	    </a:t>
            </a:r>
            <a:r>
              <a:rPr lang="de-DE" dirty="0" err="1"/>
              <a:t>try</a:t>
            </a:r>
            <a:r>
              <a:rPr lang="de-DE" dirty="0"/>
              <a:t> {    </a:t>
            </a:r>
          </a:p>
          <a:p>
            <a:pPr>
              <a:buClrTx/>
              <a:buFontTx/>
              <a:buNone/>
            </a:pPr>
            <a:r>
              <a:rPr lang="de-DE" dirty="0"/>
              <a:t>                </a:t>
            </a:r>
            <a:r>
              <a:rPr lang="de-DE" b="1" dirty="0" err="1"/>
              <a:t>wait</a:t>
            </a:r>
            <a:r>
              <a:rPr lang="de-DE" b="1" dirty="0"/>
              <a:t>();</a:t>
            </a:r>
          </a:p>
          <a:p>
            <a:pPr>
              <a:buClrTx/>
              <a:buFontTx/>
              <a:buNone/>
            </a:pPr>
            <a:r>
              <a:rPr lang="de-DE" dirty="0"/>
              <a:t>            } catch(</a:t>
            </a:r>
            <a:r>
              <a:rPr lang="de-DE" dirty="0" err="1"/>
              <a:t>InterruptedException</a:t>
            </a:r>
            <a:r>
              <a:rPr lang="de-DE" dirty="0"/>
              <a:t> e) {}</a:t>
            </a:r>
          </a:p>
          <a:p>
            <a:pPr>
              <a:buClrTx/>
              <a:buFontTx/>
              <a:buNone/>
            </a:pPr>
            <a:r>
              <a:rPr lang="de-DE" dirty="0"/>
              <a:t>        }</a:t>
            </a:r>
          </a:p>
          <a:p>
            <a:pPr>
              <a:buClrTx/>
              <a:buFontTx/>
              <a:buNone/>
            </a:pPr>
            <a:endParaRPr lang="de-DE" dirty="0"/>
          </a:p>
          <a:p>
            <a:pPr>
              <a:buClrTx/>
              <a:buFontTx/>
              <a:buNone/>
            </a:pPr>
            <a:r>
              <a:rPr lang="de-DE" dirty="0"/>
              <a:t>        // jetzt kann ein Objekt aus dem Puffer entnommen werden </a:t>
            </a:r>
          </a:p>
          <a:p>
            <a:pPr>
              <a:buClrTx/>
              <a:buFontTx/>
              <a:buNone/>
            </a:pPr>
            <a:endParaRPr lang="de-DE" dirty="0"/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items</a:t>
            </a:r>
            <a:r>
              <a:rPr lang="de-DE" dirty="0"/>
              <a:t>--;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spaceleft</a:t>
            </a:r>
            <a:r>
              <a:rPr lang="de-DE" dirty="0"/>
              <a:t>++;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b="1" dirty="0" err="1"/>
              <a:t>notifyAll</a:t>
            </a:r>
            <a:r>
              <a:rPr lang="de-DE" b="1" dirty="0"/>
              <a:t>()</a:t>
            </a:r>
            <a:r>
              <a:rPr lang="de-DE" dirty="0"/>
              <a:t>;</a:t>
            </a:r>
          </a:p>
          <a:p>
            <a:pPr>
              <a:buClrTx/>
              <a:buFontTx/>
              <a:buNone/>
            </a:pPr>
            <a:endParaRPr lang="de-DE" dirty="0"/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return</a:t>
            </a:r>
            <a:r>
              <a:rPr lang="de-DE" dirty="0"/>
              <a:t> </a:t>
            </a:r>
            <a:r>
              <a:rPr lang="de-DE" dirty="0" err="1"/>
              <a:t>obj</a:t>
            </a:r>
            <a:r>
              <a:rPr lang="de-DE" dirty="0"/>
              <a:t>;</a:t>
            </a:r>
          </a:p>
          <a:p>
            <a:pPr>
              <a:buClrTx/>
              <a:buFontTx/>
              <a:buNone/>
            </a:pPr>
            <a:r>
              <a:rPr lang="de-DE" dirty="0"/>
              <a:t>    }</a:t>
            </a:r>
          </a:p>
          <a:p>
            <a:pPr>
              <a:buClrTx/>
              <a:buFontTx/>
              <a:buNone/>
            </a:pPr>
            <a:r>
              <a:rPr lang="de-DE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Der Erzeuger</a:t>
            </a:r>
          </a:p>
        </p:txBody>
      </p:sp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482600" y="1114425"/>
            <a:ext cx="8497888" cy="473710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b="1" dirty="0"/>
              <a:t>Producer</a:t>
            </a:r>
            <a:r>
              <a:rPr lang="de-DE" dirty="0"/>
              <a:t> </a:t>
            </a:r>
            <a:r>
              <a:rPr lang="de-DE" dirty="0" err="1"/>
              <a:t>implements</a:t>
            </a:r>
            <a:r>
              <a:rPr lang="de-DE" dirty="0"/>
              <a:t> </a:t>
            </a:r>
            <a:r>
              <a:rPr lang="de-DE" dirty="0" err="1"/>
              <a:t>Runnable</a:t>
            </a:r>
            <a:r>
              <a:rPr lang="de-DE" dirty="0"/>
              <a:t> {</a:t>
            </a:r>
          </a:p>
          <a:p>
            <a:pPr>
              <a:buClrTx/>
              <a:buFontTx/>
              <a:buNone/>
            </a:pPr>
            <a:r>
              <a:rPr lang="de-DE" dirty="0"/>
              <a:t>    private </a:t>
            </a:r>
            <a:r>
              <a:rPr lang="de-DE" dirty="0" err="1"/>
              <a:t>int</a:t>
            </a:r>
            <a:r>
              <a:rPr lang="de-DE" dirty="0"/>
              <a:t> </a:t>
            </a:r>
            <a:r>
              <a:rPr lang="de-DE" dirty="0" err="1"/>
              <a:t>id</a:t>
            </a:r>
            <a:r>
              <a:rPr lang="de-DE" dirty="0"/>
              <a:t>;</a:t>
            </a:r>
          </a:p>
          <a:p>
            <a:pPr>
              <a:buClrTx/>
              <a:buFontTx/>
              <a:buNone/>
            </a:pPr>
            <a:r>
              <a:rPr lang="de-DE" dirty="0"/>
              <a:t>    private </a:t>
            </a:r>
            <a:r>
              <a:rPr lang="de-DE" dirty="0" err="1"/>
              <a:t>Buffer</a:t>
            </a:r>
            <a:r>
              <a:rPr lang="de-DE" dirty="0"/>
              <a:t> b;</a:t>
            </a:r>
          </a:p>
          <a:p>
            <a:pPr>
              <a:buClrTx/>
              <a:buFontTx/>
              <a:buNone/>
            </a:pPr>
            <a:endParaRPr lang="de-DE" dirty="0"/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b="1" dirty="0"/>
              <a:t>Producer</a:t>
            </a:r>
            <a:r>
              <a:rPr lang="de-DE" dirty="0"/>
              <a:t> (</a:t>
            </a:r>
            <a:r>
              <a:rPr lang="de-DE" dirty="0" err="1"/>
              <a:t>Buffer</a:t>
            </a:r>
            <a:r>
              <a:rPr lang="de-DE" dirty="0"/>
              <a:t> b, </a:t>
            </a:r>
            <a:r>
              <a:rPr lang="de-DE" dirty="0" err="1"/>
              <a:t>int</a:t>
            </a:r>
            <a:r>
              <a:rPr lang="de-DE" dirty="0"/>
              <a:t> </a:t>
            </a:r>
            <a:r>
              <a:rPr lang="de-DE" dirty="0" err="1"/>
              <a:t>id</a:t>
            </a:r>
            <a:r>
              <a:rPr lang="de-DE" dirty="0"/>
              <a:t>) {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this.b</a:t>
            </a:r>
            <a:r>
              <a:rPr lang="de-DE" dirty="0"/>
              <a:t>  = b;</a:t>
            </a:r>
          </a:p>
          <a:p>
            <a:pPr>
              <a:buClrTx/>
              <a:buFontTx/>
              <a:buNone/>
            </a:pPr>
            <a:r>
              <a:rPr lang="de-DE" dirty="0"/>
              <a:t>        this.id = </a:t>
            </a:r>
            <a:r>
              <a:rPr lang="de-DE" dirty="0" err="1"/>
              <a:t>id</a:t>
            </a:r>
            <a:r>
              <a:rPr lang="de-DE" dirty="0"/>
              <a:t>;</a:t>
            </a:r>
          </a:p>
          <a:p>
            <a:pPr>
              <a:buClrTx/>
              <a:buFontTx/>
              <a:buNone/>
            </a:pPr>
            <a:r>
              <a:rPr lang="de-DE" dirty="0"/>
              <a:t>    }</a:t>
            </a:r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b="1" dirty="0" err="1"/>
              <a:t>run</a:t>
            </a:r>
            <a:r>
              <a:rPr lang="de-DE" dirty="0"/>
              <a:t>() {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while</a:t>
            </a:r>
            <a:r>
              <a:rPr lang="de-DE" dirty="0"/>
              <a:t>(</a:t>
            </a:r>
            <a:r>
              <a:rPr lang="de-DE" dirty="0" err="1"/>
              <a:t>true</a:t>
            </a:r>
            <a:r>
              <a:rPr lang="de-DE" dirty="0"/>
              <a:t>) {</a:t>
            </a:r>
          </a:p>
          <a:p>
            <a:pPr>
              <a:buClrTx/>
              <a:buFontTx/>
              <a:buNone/>
            </a:pPr>
            <a:r>
              <a:rPr lang="de-DE" dirty="0"/>
              <a:t>            // Erzeuge ein Produkt x</a:t>
            </a:r>
          </a:p>
          <a:p>
            <a:pPr>
              <a:buClrTx/>
              <a:buFontTx/>
              <a:buNone/>
            </a:pPr>
            <a:r>
              <a:rPr lang="de-DE" dirty="0"/>
              <a:t>            </a:t>
            </a:r>
            <a:r>
              <a:rPr lang="de-DE" dirty="0" err="1"/>
              <a:t>b.put</a:t>
            </a:r>
            <a:r>
              <a:rPr lang="de-DE" dirty="0"/>
              <a:t>(x);</a:t>
            </a:r>
          </a:p>
          <a:p>
            <a:pPr>
              <a:buClrTx/>
              <a:buFontTx/>
              <a:buNone/>
            </a:pPr>
            <a:r>
              <a:rPr lang="de-DE" dirty="0"/>
              <a:t>        }</a:t>
            </a:r>
          </a:p>
          <a:p>
            <a:pPr>
              <a:buClrTx/>
              <a:buFontTx/>
              <a:buNone/>
            </a:pPr>
            <a:r>
              <a:rPr lang="de-DE" dirty="0"/>
              <a:t>    }</a:t>
            </a:r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b="1" dirty="0" err="1" smtClean="0"/>
              <a:t>startProducer</a:t>
            </a:r>
            <a:r>
              <a:rPr lang="de-DE" dirty="0" smtClean="0"/>
              <a:t>() </a:t>
            </a:r>
            <a:r>
              <a:rPr lang="de-DE" dirty="0"/>
              <a:t>{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smtClean="0"/>
              <a:t>Thread t </a:t>
            </a:r>
            <a:r>
              <a:rPr lang="de-DE" dirty="0"/>
              <a:t>= </a:t>
            </a:r>
            <a:r>
              <a:rPr lang="de-DE" dirty="0" err="1"/>
              <a:t>new</a:t>
            </a:r>
            <a:r>
              <a:rPr lang="de-DE" dirty="0"/>
              <a:t> Thread(</a:t>
            </a:r>
            <a:r>
              <a:rPr lang="de-DE" dirty="0" err="1"/>
              <a:t>this</a:t>
            </a:r>
            <a:r>
              <a:rPr lang="de-DE" dirty="0"/>
              <a:t>);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t.start</a:t>
            </a:r>
            <a:r>
              <a:rPr lang="de-DE" dirty="0"/>
              <a:t>(); 			</a:t>
            </a:r>
          </a:p>
          <a:p>
            <a:pPr>
              <a:buClrTx/>
              <a:buFontTx/>
              <a:buNone/>
            </a:pPr>
            <a:r>
              <a:rPr lang="de-DE" dirty="0"/>
              <a:t>    }</a:t>
            </a:r>
          </a:p>
          <a:p>
            <a:pPr>
              <a:buClrTx/>
              <a:buFontTx/>
              <a:buNone/>
            </a:pPr>
            <a:r>
              <a:rPr lang="de-DE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Der Verbraucher</a:t>
            </a:r>
          </a:p>
        </p:txBody>
      </p:sp>
      <p:sp>
        <p:nvSpPr>
          <p:cNvPr id="30724" name="Text Box 3"/>
          <p:cNvSpPr txBox="1">
            <a:spLocks noChangeArrowheads="1"/>
          </p:cNvSpPr>
          <p:nvPr/>
        </p:nvSpPr>
        <p:spPr bwMode="auto">
          <a:xfrm>
            <a:off x="434975" y="1104900"/>
            <a:ext cx="8497888" cy="4737100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b="1" dirty="0"/>
              <a:t>Consumer</a:t>
            </a:r>
            <a:r>
              <a:rPr lang="de-DE" dirty="0"/>
              <a:t> </a:t>
            </a:r>
            <a:r>
              <a:rPr lang="de-DE" dirty="0" err="1"/>
              <a:t>implements</a:t>
            </a:r>
            <a:r>
              <a:rPr lang="de-DE" dirty="0"/>
              <a:t> </a:t>
            </a:r>
            <a:r>
              <a:rPr lang="de-DE" dirty="0" err="1"/>
              <a:t>Runnable</a:t>
            </a:r>
            <a:r>
              <a:rPr lang="de-DE" dirty="0"/>
              <a:t> {</a:t>
            </a:r>
          </a:p>
          <a:p>
            <a:pPr>
              <a:buClrTx/>
              <a:buFontTx/>
              <a:buNone/>
            </a:pPr>
            <a:r>
              <a:rPr lang="de-DE" dirty="0"/>
              <a:t>    private </a:t>
            </a:r>
            <a:r>
              <a:rPr lang="de-DE" dirty="0" err="1"/>
              <a:t>int</a:t>
            </a:r>
            <a:r>
              <a:rPr lang="de-DE" dirty="0"/>
              <a:t> </a:t>
            </a:r>
            <a:r>
              <a:rPr lang="de-DE" dirty="0" err="1"/>
              <a:t>id</a:t>
            </a:r>
            <a:r>
              <a:rPr lang="de-DE" dirty="0"/>
              <a:t>;</a:t>
            </a:r>
          </a:p>
          <a:p>
            <a:pPr>
              <a:buClrTx/>
              <a:buFontTx/>
              <a:buNone/>
            </a:pPr>
            <a:r>
              <a:rPr lang="de-DE" dirty="0"/>
              <a:t>    private </a:t>
            </a:r>
            <a:r>
              <a:rPr lang="de-DE" dirty="0" err="1"/>
              <a:t>Buffer</a:t>
            </a:r>
            <a:r>
              <a:rPr lang="de-DE" dirty="0"/>
              <a:t> b;</a:t>
            </a:r>
          </a:p>
          <a:p>
            <a:pPr>
              <a:buClrTx/>
              <a:buFontTx/>
              <a:buNone/>
            </a:pPr>
            <a:endParaRPr lang="de-DE" dirty="0"/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b="1" dirty="0"/>
              <a:t>Consumer</a:t>
            </a:r>
            <a:r>
              <a:rPr lang="de-DE" dirty="0"/>
              <a:t>(</a:t>
            </a:r>
            <a:r>
              <a:rPr lang="de-DE" dirty="0" err="1"/>
              <a:t>Buffer</a:t>
            </a:r>
            <a:r>
              <a:rPr lang="de-DE" dirty="0"/>
              <a:t> b, </a:t>
            </a:r>
            <a:r>
              <a:rPr lang="de-DE" dirty="0" err="1"/>
              <a:t>int</a:t>
            </a:r>
            <a:r>
              <a:rPr lang="de-DE" dirty="0"/>
              <a:t> </a:t>
            </a:r>
            <a:r>
              <a:rPr lang="de-DE" dirty="0" err="1"/>
              <a:t>id</a:t>
            </a:r>
            <a:r>
              <a:rPr lang="de-DE" dirty="0"/>
              <a:t>) {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this.b</a:t>
            </a:r>
            <a:r>
              <a:rPr lang="de-DE" dirty="0"/>
              <a:t> = b;</a:t>
            </a:r>
          </a:p>
          <a:p>
            <a:pPr>
              <a:buClrTx/>
              <a:buFontTx/>
              <a:buNone/>
            </a:pPr>
            <a:r>
              <a:rPr lang="de-DE" dirty="0"/>
              <a:t>        this.id = </a:t>
            </a:r>
            <a:r>
              <a:rPr lang="de-DE" dirty="0" err="1"/>
              <a:t>id</a:t>
            </a:r>
            <a:r>
              <a:rPr lang="de-DE" dirty="0"/>
              <a:t>;</a:t>
            </a:r>
          </a:p>
          <a:p>
            <a:pPr>
              <a:buClrTx/>
              <a:buFontTx/>
              <a:buNone/>
            </a:pPr>
            <a:r>
              <a:rPr lang="de-DE" dirty="0"/>
              <a:t>    }</a:t>
            </a:r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b="1" dirty="0" err="1"/>
              <a:t>run</a:t>
            </a:r>
            <a:r>
              <a:rPr lang="de-DE" dirty="0"/>
              <a:t>()  {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while</a:t>
            </a:r>
            <a:r>
              <a:rPr lang="de-DE" dirty="0"/>
              <a:t>(</a:t>
            </a:r>
            <a:r>
              <a:rPr lang="de-DE" dirty="0" err="1"/>
              <a:t>true</a:t>
            </a:r>
            <a:r>
              <a:rPr lang="de-DE" dirty="0"/>
              <a:t>){</a:t>
            </a:r>
          </a:p>
          <a:p>
            <a:pPr>
              <a:buClrTx/>
              <a:buFontTx/>
              <a:buNone/>
            </a:pPr>
            <a:r>
              <a:rPr lang="de-DE" dirty="0"/>
              <a:t>            x = </a:t>
            </a:r>
            <a:r>
              <a:rPr lang="de-DE" dirty="0" err="1"/>
              <a:t>b.get</a:t>
            </a:r>
            <a:r>
              <a:rPr lang="de-DE" dirty="0"/>
              <a:t>();</a:t>
            </a:r>
          </a:p>
          <a:p>
            <a:pPr>
              <a:buClrTx/>
              <a:buFontTx/>
              <a:buNone/>
            </a:pPr>
            <a:r>
              <a:rPr lang="de-DE" dirty="0"/>
              <a:t>            // mach was mit dem geholten Produkt x</a:t>
            </a:r>
          </a:p>
          <a:p>
            <a:pPr>
              <a:buClrTx/>
              <a:buFontTx/>
              <a:buNone/>
            </a:pPr>
            <a:r>
              <a:rPr lang="de-DE" dirty="0"/>
              <a:t>        }</a:t>
            </a:r>
          </a:p>
          <a:p>
            <a:pPr>
              <a:buClrTx/>
              <a:buFontTx/>
              <a:buNone/>
            </a:pPr>
            <a:r>
              <a:rPr lang="de-DE" dirty="0"/>
              <a:t>    }</a:t>
            </a:r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b="1" dirty="0" err="1" smtClean="0"/>
              <a:t>startConsumer</a:t>
            </a:r>
            <a:r>
              <a:rPr lang="de-DE" dirty="0" smtClean="0"/>
              <a:t>() </a:t>
            </a:r>
            <a:r>
              <a:rPr lang="de-DE" dirty="0"/>
              <a:t>{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smtClean="0"/>
              <a:t>Thread t </a:t>
            </a:r>
            <a:r>
              <a:rPr lang="de-DE" dirty="0"/>
              <a:t>= </a:t>
            </a:r>
            <a:r>
              <a:rPr lang="de-DE" dirty="0" err="1"/>
              <a:t>new</a:t>
            </a:r>
            <a:r>
              <a:rPr lang="de-DE" dirty="0"/>
              <a:t> Thread(</a:t>
            </a:r>
            <a:r>
              <a:rPr lang="de-DE" dirty="0" err="1"/>
              <a:t>this</a:t>
            </a:r>
            <a:r>
              <a:rPr lang="de-DE" dirty="0"/>
              <a:t>);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t.start</a:t>
            </a:r>
            <a:r>
              <a:rPr lang="de-DE" dirty="0"/>
              <a:t>();</a:t>
            </a:r>
          </a:p>
          <a:p>
            <a:pPr>
              <a:buClrTx/>
              <a:buFontTx/>
              <a:buNone/>
            </a:pPr>
            <a:r>
              <a:rPr lang="de-DE" dirty="0"/>
              <a:t>     }</a:t>
            </a:r>
          </a:p>
          <a:p>
            <a:pPr>
              <a:buClrTx/>
              <a:buFontTx/>
              <a:buNone/>
            </a:pPr>
            <a:r>
              <a:rPr lang="de-DE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Ein Hauptprogramm </a:t>
            </a:r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460375" y="1274763"/>
            <a:ext cx="8497888" cy="40036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b="1" dirty="0" err="1"/>
              <a:t>ConsumerProducer</a:t>
            </a:r>
            <a:r>
              <a:rPr lang="de-DE" dirty="0"/>
              <a:t> {</a:t>
            </a:r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static</a:t>
            </a:r>
            <a:r>
              <a:rPr lang="de-DE" dirty="0"/>
              <a:t> private final </a:t>
            </a:r>
            <a:r>
              <a:rPr lang="de-DE" dirty="0" err="1"/>
              <a:t>int</a:t>
            </a:r>
            <a:r>
              <a:rPr lang="de-DE" dirty="0"/>
              <a:t> M = 4, N = 3;</a:t>
            </a:r>
          </a:p>
          <a:p>
            <a:pPr>
              <a:buClrTx/>
              <a:buFontTx/>
              <a:buNone/>
            </a:pPr>
            <a:r>
              <a:rPr lang="de-DE" dirty="0"/>
              <a:t>      </a:t>
            </a:r>
          </a:p>
          <a:p>
            <a:pPr>
              <a:buClrTx/>
              <a:buFontTx/>
              <a:buNone/>
            </a:pPr>
            <a:r>
              <a:rPr lang="de-DE" dirty="0"/>
              <a:t>   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void</a:t>
            </a:r>
            <a:r>
              <a:rPr lang="de-DE" dirty="0"/>
              <a:t> </a:t>
            </a:r>
            <a:r>
              <a:rPr lang="de-DE" b="1" dirty="0" err="1"/>
              <a:t>main</a:t>
            </a:r>
            <a:r>
              <a:rPr lang="de-DE" dirty="0"/>
              <a:t> (String </a:t>
            </a:r>
            <a:r>
              <a:rPr lang="de-DE" dirty="0" err="1"/>
              <a:t>args</a:t>
            </a:r>
            <a:r>
              <a:rPr lang="de-DE" dirty="0"/>
              <a:t>[]) {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b="1" dirty="0" err="1"/>
              <a:t>Buffer</a:t>
            </a:r>
            <a:r>
              <a:rPr lang="de-DE" b="1" dirty="0"/>
              <a:t> b = </a:t>
            </a:r>
            <a:r>
              <a:rPr lang="de-DE" b="1" dirty="0" err="1"/>
              <a:t>new</a:t>
            </a:r>
            <a:r>
              <a:rPr lang="de-DE" b="1" dirty="0"/>
              <a:t> </a:t>
            </a:r>
            <a:r>
              <a:rPr lang="de-DE" b="1" dirty="0" err="1"/>
              <a:t>Buffer</a:t>
            </a:r>
            <a:r>
              <a:rPr lang="de-DE" b="1" dirty="0"/>
              <a:t> ()</a:t>
            </a:r>
            <a:r>
              <a:rPr lang="de-DE" dirty="0"/>
              <a:t>;</a:t>
            </a:r>
          </a:p>
          <a:p>
            <a:pPr>
              <a:buClrTx/>
              <a:buFontTx/>
              <a:buNone/>
            </a:pPr>
            <a:endParaRPr lang="de-DE" dirty="0"/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for</a:t>
            </a:r>
            <a:r>
              <a:rPr lang="de-DE" dirty="0"/>
              <a:t> (</a:t>
            </a:r>
            <a:r>
              <a:rPr lang="de-DE" dirty="0" err="1"/>
              <a:t>int</a:t>
            </a:r>
            <a:r>
              <a:rPr lang="de-DE" dirty="0"/>
              <a:t> i = 0; i &lt; M; i++)  {</a:t>
            </a:r>
          </a:p>
          <a:p>
            <a:pPr>
              <a:buClrTx/>
              <a:buFontTx/>
              <a:buNone/>
            </a:pPr>
            <a:r>
              <a:rPr lang="de-DE" dirty="0"/>
              <a:t>             </a:t>
            </a:r>
            <a:r>
              <a:rPr lang="de-DE" b="1" dirty="0"/>
              <a:t>Consumer c = </a:t>
            </a:r>
            <a:r>
              <a:rPr lang="de-DE" b="1" dirty="0" err="1"/>
              <a:t>new</a:t>
            </a:r>
            <a:r>
              <a:rPr lang="de-DE" b="1" dirty="0"/>
              <a:t> Consumer (b, i)</a:t>
            </a:r>
            <a:r>
              <a:rPr lang="de-DE" dirty="0"/>
              <a:t>;</a:t>
            </a:r>
          </a:p>
          <a:p>
            <a:pPr>
              <a:buClrTx/>
              <a:buFontTx/>
              <a:buNone/>
            </a:pPr>
            <a:r>
              <a:rPr lang="de-DE" dirty="0"/>
              <a:t>             </a:t>
            </a:r>
            <a:r>
              <a:rPr lang="de-DE" dirty="0" err="1" smtClean="0"/>
              <a:t>c.startConsumer</a:t>
            </a:r>
            <a:r>
              <a:rPr lang="de-DE" dirty="0" smtClean="0"/>
              <a:t>();</a:t>
            </a:r>
            <a:endParaRPr lang="de-DE" dirty="0"/>
          </a:p>
          <a:p>
            <a:pPr>
              <a:buClrTx/>
              <a:buFontTx/>
              <a:buNone/>
            </a:pPr>
            <a:r>
              <a:rPr lang="de-DE" dirty="0"/>
              <a:t>        }</a:t>
            </a:r>
          </a:p>
          <a:p>
            <a:pPr>
              <a:buClrTx/>
              <a:buFontTx/>
              <a:buNone/>
            </a:pPr>
            <a:r>
              <a:rPr lang="de-DE" dirty="0"/>
              <a:t>        </a:t>
            </a:r>
            <a:r>
              <a:rPr lang="de-DE" dirty="0" err="1"/>
              <a:t>for</a:t>
            </a:r>
            <a:r>
              <a:rPr lang="de-DE" dirty="0"/>
              <a:t> (i = 0; i &lt; N; i++) {</a:t>
            </a:r>
          </a:p>
          <a:p>
            <a:pPr>
              <a:buClrTx/>
              <a:buFontTx/>
              <a:buNone/>
            </a:pPr>
            <a:r>
              <a:rPr lang="de-DE" dirty="0"/>
              <a:t>             </a:t>
            </a:r>
            <a:r>
              <a:rPr lang="de-DE" b="1" dirty="0"/>
              <a:t>Producer p = </a:t>
            </a:r>
            <a:r>
              <a:rPr lang="de-DE" b="1" dirty="0" err="1"/>
              <a:t>new</a:t>
            </a:r>
            <a:r>
              <a:rPr lang="de-DE" b="1" dirty="0"/>
              <a:t> Producer (b, i)</a:t>
            </a:r>
            <a:r>
              <a:rPr lang="de-DE" dirty="0"/>
              <a:t>;</a:t>
            </a:r>
          </a:p>
          <a:p>
            <a:pPr>
              <a:buClrTx/>
              <a:buFontTx/>
              <a:buNone/>
            </a:pPr>
            <a:r>
              <a:rPr lang="de-DE" dirty="0"/>
              <a:t>             </a:t>
            </a:r>
            <a:r>
              <a:rPr lang="de-DE" dirty="0" err="1" smtClean="0"/>
              <a:t>p.startProduer</a:t>
            </a:r>
            <a:r>
              <a:rPr lang="de-DE" dirty="0" smtClean="0"/>
              <a:t>();</a:t>
            </a:r>
            <a:endParaRPr lang="de-DE" dirty="0"/>
          </a:p>
          <a:p>
            <a:pPr>
              <a:buClrTx/>
              <a:buFontTx/>
              <a:buNone/>
            </a:pPr>
            <a:r>
              <a:rPr lang="de-DE" dirty="0"/>
              <a:t>        }</a:t>
            </a:r>
          </a:p>
          <a:p>
            <a:pPr>
              <a:buClrTx/>
              <a:buFontTx/>
              <a:buNone/>
            </a:pPr>
            <a:r>
              <a:rPr lang="de-DE" dirty="0"/>
              <a:t>    }</a:t>
            </a:r>
          </a:p>
          <a:p>
            <a:pPr>
              <a:buClrTx/>
              <a:buFontTx/>
              <a:buNone/>
            </a:pPr>
            <a:r>
              <a:rPr lang="de-DE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714375" y="202455"/>
            <a:ext cx="8585200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385763" algn="l"/>
              </a:tabLst>
            </a:pPr>
            <a:r>
              <a:rPr lang="de-DE" sz="2200" b="1" dirty="0">
                <a:latin typeface="Arial" pitchFamily="34" charset="0"/>
              </a:rPr>
              <a:t>Thread-Verwaltung      (1)	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title"/>
          </p:nvPr>
        </p:nvSpPr>
        <p:spPr>
          <a:xfrm>
            <a:off x="739775" y="739543"/>
            <a:ext cx="5713413" cy="427037"/>
          </a:xfrm>
        </p:spPr>
        <p:txBody>
          <a:bodyPr anchor="ctr" anchorCtr="0">
            <a:noAutofit/>
          </a:bodyPr>
          <a:lstStyle/>
          <a:p>
            <a:r>
              <a:rPr lang="de-DE" dirty="0" smtClean="0"/>
              <a:t>	</a:t>
            </a:r>
          </a:p>
        </p:txBody>
      </p:sp>
      <p:sp>
        <p:nvSpPr>
          <p:cNvPr id="3277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5600" y="1193800"/>
            <a:ext cx="8382000" cy="4572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de-DE" dirty="0" smtClean="0"/>
              <a:t>Der Thread endet mit der Beendigung der </a:t>
            </a:r>
            <a:r>
              <a:rPr lang="de-DE" dirty="0" err="1" smtClean="0">
                <a:latin typeface="Courier New" pitchFamily="49" charset="0"/>
              </a:rPr>
              <a:t>run</a:t>
            </a:r>
            <a:r>
              <a:rPr lang="de-DE" dirty="0" smtClean="0"/>
              <a:t>-Methode</a:t>
            </a:r>
          </a:p>
          <a:p>
            <a:pPr>
              <a:lnSpc>
                <a:spcPct val="120000"/>
              </a:lnSpc>
            </a:pPr>
            <a:r>
              <a:rPr lang="de-DE" dirty="0" smtClean="0"/>
              <a:t>Ob ein Thread bereits gestartet und noch nicht beendet wurde, prüft man mit</a:t>
            </a:r>
          </a:p>
          <a:p>
            <a:pPr lvl="1">
              <a:lnSpc>
                <a:spcPct val="120000"/>
              </a:lnSpc>
            </a:pPr>
            <a:r>
              <a:rPr lang="de-DE" dirty="0" err="1" smtClean="0">
                <a:latin typeface="Courier New" pitchFamily="49" charset="0"/>
              </a:rPr>
              <a:t>public</a:t>
            </a:r>
            <a:r>
              <a:rPr lang="de-DE" dirty="0" smtClean="0">
                <a:latin typeface="Courier New" pitchFamily="49" charset="0"/>
              </a:rPr>
              <a:t> final </a:t>
            </a:r>
            <a:r>
              <a:rPr lang="de-DE" dirty="0" err="1" smtClean="0">
                <a:latin typeface="Courier New" pitchFamily="49" charset="0"/>
              </a:rPr>
              <a:t>boolean</a:t>
            </a:r>
            <a:r>
              <a:rPr lang="de-DE" dirty="0" smtClean="0">
                <a:latin typeface="Courier New" pitchFamily="49" charset="0"/>
              </a:rPr>
              <a:t> </a:t>
            </a:r>
            <a:r>
              <a:rPr lang="de-DE" dirty="0" err="1" smtClean="0">
                <a:latin typeface="Courier New" pitchFamily="49" charset="0"/>
              </a:rPr>
              <a:t>isAlive</a:t>
            </a:r>
            <a:r>
              <a:rPr lang="de-DE" dirty="0" smtClean="0">
                <a:latin typeface="Courier New" pitchFamily="49" charset="0"/>
              </a:rPr>
              <a:t>();</a:t>
            </a:r>
            <a:endParaRPr lang="de-DE" dirty="0" smtClean="0"/>
          </a:p>
          <a:p>
            <a:pPr>
              <a:lnSpc>
                <a:spcPct val="120000"/>
              </a:lnSpc>
            </a:pPr>
            <a:r>
              <a:rPr lang="de-DE" dirty="0" smtClean="0"/>
              <a:t>Den momentan aktiven Thread erhält man mit der Klassenmethode</a:t>
            </a:r>
          </a:p>
          <a:p>
            <a:pPr lvl="1">
              <a:lnSpc>
                <a:spcPct val="120000"/>
              </a:lnSpc>
            </a:pPr>
            <a:r>
              <a:rPr lang="de-DE" dirty="0" err="1" smtClean="0">
                <a:latin typeface="Courier New" pitchFamily="49" charset="0"/>
              </a:rPr>
              <a:t>public</a:t>
            </a:r>
            <a:r>
              <a:rPr lang="de-DE" dirty="0" smtClean="0">
                <a:latin typeface="Courier New" pitchFamily="49" charset="0"/>
              </a:rPr>
              <a:t> </a:t>
            </a:r>
            <a:r>
              <a:rPr lang="de-DE" dirty="0" err="1" smtClean="0">
                <a:latin typeface="Courier New" pitchFamily="49" charset="0"/>
              </a:rPr>
              <a:t>static</a:t>
            </a:r>
            <a:r>
              <a:rPr lang="de-DE" dirty="0" smtClean="0">
                <a:latin typeface="Courier New" pitchFamily="49" charset="0"/>
              </a:rPr>
              <a:t> Thread </a:t>
            </a:r>
            <a:r>
              <a:rPr lang="de-DE" dirty="0" err="1" smtClean="0">
                <a:latin typeface="Courier New" pitchFamily="49" charset="0"/>
              </a:rPr>
              <a:t>currentThread</a:t>
            </a:r>
            <a:r>
              <a:rPr lang="de-DE" dirty="0" smtClean="0">
                <a:latin typeface="Courier New" pitchFamily="49" charset="0"/>
              </a:rPr>
              <a:t>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739411" y="198438"/>
            <a:ext cx="8585200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385763" algn="l"/>
              </a:tabLst>
            </a:pPr>
            <a:r>
              <a:rPr lang="de-DE" sz="2200" b="1" dirty="0">
                <a:latin typeface="Arial" pitchFamily="34" charset="0"/>
              </a:rPr>
              <a:t>Thread-Verwaltung    (2)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>
                <a:latin typeface="Courier New" pitchFamily="49" charset="0"/>
              </a:rPr>
              <a:t>sleep(milli), sleep(milli, nano)</a:t>
            </a:r>
            <a:r>
              <a:rPr lang="de-DE" smtClean="0"/>
              <a:t> : Der rufende Thread wartet maximal die angegeben Zahl von Milli/Nanosekunden. </a:t>
            </a:r>
            <a:endParaRPr lang="de-DE" smtClean="0">
              <a:latin typeface="Courier New" pitchFamily="49" charset="0"/>
            </a:endParaRPr>
          </a:p>
          <a:p>
            <a:r>
              <a:rPr lang="de-DE" smtClean="0">
                <a:latin typeface="Courier New" pitchFamily="49" charset="0"/>
              </a:rPr>
              <a:t>join(), join(milli), join(milli, nano)</a:t>
            </a:r>
            <a:r>
              <a:rPr lang="de-DE" smtClean="0"/>
              <a:t> : Der rufende Thread wartet, bis der angesprochene Thread endet, aber maximal die angegeben Zahl von Milli/Nanosekunden. </a:t>
            </a:r>
            <a:endParaRPr lang="de-DE" smtClean="0">
              <a:latin typeface="Courier New" pitchFamily="49" charset="0"/>
            </a:endParaRPr>
          </a:p>
          <a:p>
            <a:r>
              <a:rPr lang="de-DE" smtClean="0">
                <a:latin typeface="Courier New" pitchFamily="49" charset="0"/>
              </a:rPr>
              <a:t>sleep</a:t>
            </a:r>
            <a:r>
              <a:rPr lang="de-DE" smtClean="0"/>
              <a:t> und</a:t>
            </a:r>
            <a:r>
              <a:rPr lang="de-DE" smtClean="0">
                <a:latin typeface="Courier New" pitchFamily="49" charset="0"/>
              </a:rPr>
              <a:t> join</a:t>
            </a:r>
            <a:r>
              <a:rPr lang="de-DE" smtClean="0"/>
              <a:t> werfen die </a:t>
            </a:r>
            <a:r>
              <a:rPr lang="de-DE" smtClean="0">
                <a:latin typeface="Courier New" pitchFamily="49" charset="0"/>
              </a:rPr>
              <a:t>InterruptedException</a:t>
            </a:r>
            <a:r>
              <a:rPr lang="de-DE" smtClean="0"/>
              <a:t>. Diese wird durch die Methode </a:t>
            </a:r>
            <a:r>
              <a:rPr lang="de-DE" smtClean="0">
                <a:latin typeface="Courier New" pitchFamily="49" charset="0"/>
              </a:rPr>
              <a:t>interrupt</a:t>
            </a:r>
            <a:r>
              <a:rPr lang="de-DE" smtClean="0"/>
              <a:t> ausgelöst.</a:t>
            </a:r>
          </a:p>
          <a:p>
            <a:r>
              <a:rPr lang="de-DE" smtClean="0">
                <a:latin typeface="Courier New" pitchFamily="49" charset="0"/>
              </a:rPr>
              <a:t>yield</a:t>
            </a:r>
            <a:r>
              <a:rPr lang="de-DE" smtClean="0"/>
              <a:t> gibt potentiell die Kontrolle an einen anderen Thread ab.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65113"/>
            <a:ext cx="7567613" cy="427037"/>
          </a:xfrm>
        </p:spPr>
        <p:txBody>
          <a:bodyPr/>
          <a:lstStyle/>
          <a:p>
            <a:r>
              <a:rPr lang="de-DE" b="1" dirty="0" smtClean="0"/>
              <a:t>Übergangsdiagramm von </a:t>
            </a:r>
            <a:r>
              <a:rPr lang="de-DE" b="1" dirty="0" smtClean="0">
                <a:latin typeface="Courier New" pitchFamily="49" charset="0"/>
              </a:rPr>
              <a:t>Thread</a:t>
            </a:r>
            <a:r>
              <a:rPr lang="de-DE" b="1" dirty="0" smtClean="0"/>
              <a:t>-Zuständen</a:t>
            </a:r>
          </a:p>
        </p:txBody>
      </p:sp>
      <p:sp>
        <p:nvSpPr>
          <p:cNvPr id="34820" name="Rectangle 3"/>
          <p:cNvSpPr>
            <a:spLocks noChangeArrowheads="1"/>
          </p:cNvSpPr>
          <p:nvPr/>
        </p:nvSpPr>
        <p:spPr bwMode="auto">
          <a:xfrm>
            <a:off x="776288" y="1828800"/>
            <a:ext cx="1655762" cy="627063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 dirty="0" err="1">
                <a:latin typeface="Arial" pitchFamily="34" charset="0"/>
              </a:rPr>
              <a:t>running</a:t>
            </a:r>
            <a:endParaRPr lang="de-DE" sz="1800" b="1" dirty="0">
              <a:latin typeface="Arial" pitchFamily="34" charset="0"/>
            </a:endParaRP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3657600" y="2786063"/>
            <a:ext cx="2016125" cy="627062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>
                <a:latin typeface="Arial" pitchFamily="34" charset="0"/>
              </a:rPr>
              <a:t>ready to run</a:t>
            </a:r>
          </a:p>
        </p:txBody>
      </p:sp>
      <p:cxnSp>
        <p:nvCxnSpPr>
          <p:cNvPr id="34822" name="AutoShape 5"/>
          <p:cNvCxnSpPr>
            <a:cxnSpLocks noChangeShapeType="1"/>
            <a:stCxn id="34821" idx="0"/>
            <a:endCxn id="34820" idx="0"/>
          </p:cNvCxnSpPr>
          <p:nvPr/>
        </p:nvCxnSpPr>
        <p:spPr bwMode="auto">
          <a:xfrm rot="5400000" flipH="1">
            <a:off x="2656681" y="777082"/>
            <a:ext cx="957263" cy="3060700"/>
          </a:xfrm>
          <a:prstGeom prst="curvedConnector3">
            <a:avLst>
              <a:gd name="adj1" fmla="val 12388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4823" name="AutoShape 6"/>
          <p:cNvSpPr>
            <a:spLocks noChangeArrowheads="1"/>
          </p:cNvSpPr>
          <p:nvPr/>
        </p:nvSpPr>
        <p:spPr bwMode="auto">
          <a:xfrm>
            <a:off x="7472363" y="1755775"/>
            <a:ext cx="1225550" cy="1152525"/>
          </a:xfrm>
          <a:prstGeom prst="octagon">
            <a:avLst>
              <a:gd name="adj" fmla="val 2928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>
                <a:latin typeface="Arial" pitchFamily="34" charset="0"/>
              </a:rPr>
              <a:t>new thread</a:t>
            </a:r>
          </a:p>
        </p:txBody>
      </p:sp>
      <p:sp>
        <p:nvSpPr>
          <p:cNvPr id="34824" name="Line 7"/>
          <p:cNvSpPr>
            <a:spLocks noChangeShapeType="1"/>
          </p:cNvSpPr>
          <p:nvPr/>
        </p:nvSpPr>
        <p:spPr bwMode="auto">
          <a:xfrm flipH="1">
            <a:off x="4881563" y="2260600"/>
            <a:ext cx="2592387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de-DE"/>
          </a:p>
        </p:txBody>
      </p:sp>
      <p:sp>
        <p:nvSpPr>
          <p:cNvPr id="34825" name="Line 8"/>
          <p:cNvSpPr>
            <a:spLocks noChangeShapeType="1"/>
          </p:cNvSpPr>
          <p:nvPr/>
        </p:nvSpPr>
        <p:spPr bwMode="auto">
          <a:xfrm>
            <a:off x="2432050" y="2187575"/>
            <a:ext cx="122555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de-DE"/>
          </a:p>
        </p:txBody>
      </p:sp>
      <p:sp>
        <p:nvSpPr>
          <p:cNvPr id="34826" name="Line 9"/>
          <p:cNvSpPr>
            <a:spLocks noChangeShapeType="1"/>
          </p:cNvSpPr>
          <p:nvPr/>
        </p:nvSpPr>
        <p:spPr bwMode="auto">
          <a:xfrm>
            <a:off x="2000250" y="2465388"/>
            <a:ext cx="165735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de-DE"/>
          </a:p>
        </p:txBody>
      </p:sp>
      <p:sp>
        <p:nvSpPr>
          <p:cNvPr id="34836" name="Rectangle 11"/>
          <p:cNvSpPr>
            <a:spLocks noChangeArrowheads="1"/>
          </p:cNvSpPr>
          <p:nvPr/>
        </p:nvSpPr>
        <p:spPr bwMode="auto">
          <a:xfrm>
            <a:off x="3657600" y="4433831"/>
            <a:ext cx="2016125" cy="1871662"/>
          </a:xfrm>
          <a:prstGeom prst="rect">
            <a:avLst/>
          </a:prstGeom>
          <a:solidFill>
            <a:srgbClr val="FF7C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34837" name="Rectangle 12"/>
          <p:cNvSpPr>
            <a:spLocks noChangeArrowheads="1"/>
          </p:cNvSpPr>
          <p:nvPr/>
        </p:nvSpPr>
        <p:spPr bwMode="auto">
          <a:xfrm>
            <a:off x="4017963" y="4398260"/>
            <a:ext cx="12954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 dirty="0" err="1">
                <a:latin typeface="Arial" pitchFamily="34" charset="0"/>
              </a:rPr>
              <a:t>sleeping</a:t>
            </a:r>
            <a:endParaRPr lang="de-DE" sz="1800" b="1" dirty="0">
              <a:latin typeface="Arial" pitchFamily="34" charset="0"/>
            </a:endParaRPr>
          </a:p>
        </p:txBody>
      </p:sp>
      <p:sp>
        <p:nvSpPr>
          <p:cNvPr id="34838" name="Rectangle 13"/>
          <p:cNvSpPr>
            <a:spLocks noChangeArrowheads="1"/>
          </p:cNvSpPr>
          <p:nvPr/>
        </p:nvSpPr>
        <p:spPr bwMode="auto">
          <a:xfrm>
            <a:off x="4017963" y="4800876"/>
            <a:ext cx="12954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 dirty="0" err="1">
                <a:latin typeface="Arial" pitchFamily="34" charset="0"/>
              </a:rPr>
              <a:t>waiting</a:t>
            </a:r>
            <a:endParaRPr lang="de-DE" sz="1800" b="1" dirty="0">
              <a:latin typeface="Arial" pitchFamily="34" charset="0"/>
            </a:endParaRPr>
          </a:p>
        </p:txBody>
      </p:sp>
      <p:sp>
        <p:nvSpPr>
          <p:cNvPr id="34839" name="Rectangle 14"/>
          <p:cNvSpPr>
            <a:spLocks noChangeArrowheads="1"/>
          </p:cNvSpPr>
          <p:nvPr/>
        </p:nvSpPr>
        <p:spPr bwMode="auto">
          <a:xfrm>
            <a:off x="4017963" y="5282904"/>
            <a:ext cx="12954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 dirty="0" err="1">
                <a:latin typeface="Arial" pitchFamily="34" charset="0"/>
              </a:rPr>
              <a:t>blocked</a:t>
            </a:r>
            <a:r>
              <a:rPr lang="de-DE" sz="1800" b="1" dirty="0">
                <a:latin typeface="Arial" pitchFamily="34" charset="0"/>
              </a:rPr>
              <a:t> on I/O</a:t>
            </a:r>
          </a:p>
        </p:txBody>
      </p:sp>
      <p:sp>
        <p:nvSpPr>
          <p:cNvPr id="34840" name="Rectangle 15"/>
          <p:cNvSpPr>
            <a:spLocks noChangeArrowheads="1"/>
          </p:cNvSpPr>
          <p:nvPr/>
        </p:nvSpPr>
        <p:spPr bwMode="auto">
          <a:xfrm>
            <a:off x="4017963" y="5850896"/>
            <a:ext cx="12954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 dirty="0" err="1">
                <a:latin typeface="Arial" pitchFamily="34" charset="0"/>
              </a:rPr>
              <a:t>blocked</a:t>
            </a:r>
            <a:r>
              <a:rPr lang="de-DE" sz="1800" b="1" dirty="0">
                <a:latin typeface="Arial" pitchFamily="34" charset="0"/>
              </a:rPr>
              <a:t> on </a:t>
            </a:r>
            <a:r>
              <a:rPr lang="de-DE" sz="1800" b="1" dirty="0" err="1">
                <a:latin typeface="Arial" pitchFamily="34" charset="0"/>
              </a:rPr>
              <a:t>sync</a:t>
            </a:r>
            <a:endParaRPr lang="de-DE" sz="1800" b="1" dirty="0">
              <a:latin typeface="Arial" pitchFamily="34" charset="0"/>
            </a:endParaRPr>
          </a:p>
        </p:txBody>
      </p:sp>
      <p:sp>
        <p:nvSpPr>
          <p:cNvPr id="34841" name="Line 16"/>
          <p:cNvSpPr>
            <a:spLocks noChangeShapeType="1"/>
          </p:cNvSpPr>
          <p:nvPr/>
        </p:nvSpPr>
        <p:spPr bwMode="auto">
          <a:xfrm>
            <a:off x="3657600" y="4783006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de-DE"/>
          </a:p>
        </p:txBody>
      </p:sp>
      <p:sp>
        <p:nvSpPr>
          <p:cNvPr id="34842" name="Line 17"/>
          <p:cNvSpPr>
            <a:spLocks noChangeShapeType="1"/>
          </p:cNvSpPr>
          <p:nvPr/>
        </p:nvSpPr>
        <p:spPr bwMode="auto">
          <a:xfrm>
            <a:off x="3657600" y="5195352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de-DE"/>
          </a:p>
        </p:txBody>
      </p:sp>
      <p:sp>
        <p:nvSpPr>
          <p:cNvPr id="34843" name="Line 18"/>
          <p:cNvSpPr>
            <a:spLocks noChangeShapeType="1"/>
          </p:cNvSpPr>
          <p:nvPr/>
        </p:nvSpPr>
        <p:spPr bwMode="auto">
          <a:xfrm>
            <a:off x="3657600" y="5821712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de-DE"/>
          </a:p>
        </p:txBody>
      </p:sp>
      <p:cxnSp>
        <p:nvCxnSpPr>
          <p:cNvPr id="34828" name="AutoShape 19"/>
          <p:cNvCxnSpPr>
            <a:cxnSpLocks noChangeShapeType="1"/>
            <a:stCxn id="34820" idx="2"/>
            <a:endCxn id="34836" idx="1"/>
          </p:cNvCxnSpPr>
          <p:nvPr/>
        </p:nvCxnSpPr>
        <p:spPr bwMode="auto">
          <a:xfrm rot="16200000" flipH="1">
            <a:off x="1173985" y="2886046"/>
            <a:ext cx="2913799" cy="2053431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4829" name="AutoShape 20"/>
          <p:cNvCxnSpPr>
            <a:cxnSpLocks noChangeShapeType="1"/>
            <a:stCxn id="34836" idx="0"/>
            <a:endCxn id="34821" idx="2"/>
          </p:cNvCxnSpPr>
          <p:nvPr/>
        </p:nvCxnSpPr>
        <p:spPr bwMode="auto">
          <a:xfrm rot="5400000" flipH="1" flipV="1">
            <a:off x="4155310" y="3923478"/>
            <a:ext cx="1020706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4830" name="Rectangle 21"/>
          <p:cNvSpPr>
            <a:spLocks noChangeArrowheads="1"/>
          </p:cNvSpPr>
          <p:nvPr/>
        </p:nvSpPr>
        <p:spPr bwMode="auto">
          <a:xfrm>
            <a:off x="1307678" y="4924425"/>
            <a:ext cx="15128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 dirty="0" err="1">
                <a:latin typeface="Arial" pitchFamily="34" charset="0"/>
              </a:rPr>
              <a:t>thread</a:t>
            </a:r>
            <a:r>
              <a:rPr lang="de-DE" sz="1800" b="1" dirty="0">
                <a:latin typeface="Arial" pitchFamily="34" charset="0"/>
              </a:rPr>
              <a:t> </a:t>
            </a:r>
            <a:r>
              <a:rPr lang="de-DE" sz="1800" b="1" dirty="0" err="1">
                <a:latin typeface="Arial" pitchFamily="34" charset="0"/>
              </a:rPr>
              <a:t>blocks</a:t>
            </a:r>
            <a:endParaRPr lang="de-DE" sz="1800" b="1" dirty="0">
              <a:latin typeface="Arial" pitchFamily="34" charset="0"/>
            </a:endParaRPr>
          </a:p>
        </p:txBody>
      </p:sp>
      <p:sp>
        <p:nvSpPr>
          <p:cNvPr id="34831" name="Rectangle 22"/>
          <p:cNvSpPr>
            <a:spLocks noChangeArrowheads="1"/>
          </p:cNvSpPr>
          <p:nvPr/>
        </p:nvSpPr>
        <p:spPr bwMode="auto">
          <a:xfrm>
            <a:off x="4808538" y="3556000"/>
            <a:ext cx="151288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buClrTx/>
              <a:buFontTx/>
              <a:buNone/>
            </a:pPr>
            <a:r>
              <a:rPr lang="de-DE" sz="1800" b="1">
                <a:latin typeface="Arial" pitchFamily="34" charset="0"/>
              </a:rPr>
              <a:t>unblocks</a:t>
            </a:r>
          </a:p>
        </p:txBody>
      </p:sp>
      <p:sp>
        <p:nvSpPr>
          <p:cNvPr id="34832" name="Rectangle 23"/>
          <p:cNvSpPr>
            <a:spLocks noChangeArrowheads="1"/>
          </p:cNvSpPr>
          <p:nvPr/>
        </p:nvSpPr>
        <p:spPr bwMode="auto">
          <a:xfrm>
            <a:off x="6248400" y="2332038"/>
            <a:ext cx="151288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 dirty="0" err="1">
                <a:solidFill>
                  <a:srgbClr val="0070C0"/>
                </a:solidFill>
                <a:latin typeface="Arial" pitchFamily="34" charset="0"/>
              </a:rPr>
              <a:t>start</a:t>
            </a:r>
            <a:r>
              <a:rPr lang="de-DE" sz="1800" b="1" dirty="0">
                <a:solidFill>
                  <a:srgbClr val="0070C0"/>
                </a:solidFill>
                <a:latin typeface="Arial" pitchFamily="34" charset="0"/>
              </a:rPr>
              <a:t>( )</a:t>
            </a:r>
          </a:p>
        </p:txBody>
      </p:sp>
      <p:sp>
        <p:nvSpPr>
          <p:cNvPr id="34833" name="Rectangle 24"/>
          <p:cNvSpPr>
            <a:spLocks noChangeArrowheads="1"/>
          </p:cNvSpPr>
          <p:nvPr/>
        </p:nvSpPr>
        <p:spPr bwMode="auto">
          <a:xfrm>
            <a:off x="1639888" y="1179513"/>
            <a:ext cx="33845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buClrTx/>
              <a:buFontTx/>
              <a:buNone/>
            </a:pPr>
            <a:r>
              <a:rPr lang="de-DE" sz="1800" b="1">
                <a:latin typeface="Arial" pitchFamily="34" charset="0"/>
              </a:rPr>
              <a:t>choosen by scheduler to run</a:t>
            </a:r>
          </a:p>
        </p:txBody>
      </p:sp>
      <p:sp>
        <p:nvSpPr>
          <p:cNvPr id="34834" name="Rectangle 25"/>
          <p:cNvSpPr>
            <a:spLocks noChangeArrowheads="1"/>
          </p:cNvSpPr>
          <p:nvPr/>
        </p:nvSpPr>
        <p:spPr bwMode="auto">
          <a:xfrm>
            <a:off x="2216150" y="3195638"/>
            <a:ext cx="136842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buClrTx/>
              <a:buFontTx/>
              <a:buNone/>
            </a:pPr>
            <a:r>
              <a:rPr lang="de-DE" sz="1800" b="1">
                <a:latin typeface="Arial" pitchFamily="34" charset="0"/>
              </a:rPr>
              <a:t>scheduler</a:t>
            </a:r>
          </a:p>
          <a:p>
            <a:pPr>
              <a:buClrTx/>
              <a:buFontTx/>
              <a:buNone/>
            </a:pPr>
            <a:r>
              <a:rPr lang="de-DE" sz="1800" b="1">
                <a:latin typeface="Arial" pitchFamily="34" charset="0"/>
              </a:rPr>
              <a:t>swaps it out</a:t>
            </a:r>
          </a:p>
        </p:txBody>
      </p:sp>
      <p:sp>
        <p:nvSpPr>
          <p:cNvPr id="34835" name="Rectangle 26"/>
          <p:cNvSpPr>
            <a:spLocks noChangeArrowheads="1"/>
          </p:cNvSpPr>
          <p:nvPr/>
        </p:nvSpPr>
        <p:spPr bwMode="auto">
          <a:xfrm>
            <a:off x="2792413" y="2044700"/>
            <a:ext cx="93662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buClrTx/>
              <a:buFontTx/>
              <a:buNone/>
            </a:pPr>
            <a:r>
              <a:rPr lang="de-DE" sz="1800" b="1" dirty="0" err="1">
                <a:solidFill>
                  <a:srgbClr val="0070C0"/>
                </a:solidFill>
                <a:latin typeface="Arial" pitchFamily="34" charset="0"/>
              </a:rPr>
              <a:t>yield</a:t>
            </a:r>
            <a:r>
              <a:rPr lang="de-DE" sz="1800" b="1" dirty="0">
                <a:solidFill>
                  <a:srgbClr val="0070C0"/>
                </a:solidFill>
                <a:latin typeface="Arial" pitchFamily="34" charset="0"/>
              </a:rPr>
              <a:t> ( )</a:t>
            </a:r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515576" y="3272377"/>
            <a:ext cx="1498058" cy="764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 dirty="0" err="1" smtClean="0">
                <a:solidFill>
                  <a:srgbClr val="0070C0"/>
                </a:solidFill>
                <a:latin typeface="Arial" pitchFamily="34" charset="0"/>
              </a:rPr>
              <a:t>sleep</a:t>
            </a:r>
            <a:r>
              <a:rPr lang="de-DE" sz="1800" b="1" dirty="0" smtClean="0">
                <a:solidFill>
                  <a:srgbClr val="0070C0"/>
                </a:solidFill>
                <a:latin typeface="Arial" pitchFamily="34" charset="0"/>
              </a:rPr>
              <a:t>( )</a:t>
            </a:r>
          </a:p>
          <a:p>
            <a:pPr algn="ctr">
              <a:buClrTx/>
              <a:buFontTx/>
              <a:buNone/>
            </a:pPr>
            <a:r>
              <a:rPr lang="de-DE" sz="1800" b="1" dirty="0" err="1" smtClean="0">
                <a:solidFill>
                  <a:srgbClr val="0070C0"/>
                </a:solidFill>
                <a:latin typeface="Arial" pitchFamily="34" charset="0"/>
              </a:rPr>
              <a:t>wait</a:t>
            </a:r>
            <a:r>
              <a:rPr lang="de-DE" sz="1800" b="1" dirty="0" smtClean="0">
                <a:solidFill>
                  <a:srgbClr val="0070C0"/>
                </a:solidFill>
                <a:latin typeface="Arial" pitchFamily="34" charset="0"/>
              </a:rPr>
              <a:t>()</a:t>
            </a:r>
          </a:p>
          <a:p>
            <a:pPr algn="ctr">
              <a:buClrTx/>
              <a:buFontTx/>
              <a:buNone/>
            </a:pPr>
            <a:r>
              <a:rPr lang="de-DE" sz="1800" b="1" dirty="0" err="1" smtClean="0">
                <a:solidFill>
                  <a:srgbClr val="0070C0"/>
                </a:solidFill>
                <a:latin typeface="Arial" pitchFamily="34" charset="0"/>
              </a:rPr>
              <a:t>join</a:t>
            </a:r>
            <a:r>
              <a:rPr lang="de-DE" sz="1800" b="1" dirty="0" smtClean="0">
                <a:solidFill>
                  <a:srgbClr val="0070C0"/>
                </a:solidFill>
                <a:latin typeface="Arial" pitchFamily="34" charset="0"/>
              </a:rPr>
              <a:t>()</a:t>
            </a:r>
          </a:p>
        </p:txBody>
      </p:sp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3294439" y="3580419"/>
            <a:ext cx="1498058" cy="764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Tx/>
              <a:buFontTx/>
              <a:buNone/>
            </a:pPr>
            <a:r>
              <a:rPr lang="de-DE" sz="1800" b="1" dirty="0" err="1" smtClean="0">
                <a:solidFill>
                  <a:srgbClr val="0070C0"/>
                </a:solidFill>
                <a:latin typeface="Arial" pitchFamily="34" charset="0"/>
              </a:rPr>
              <a:t>notify</a:t>
            </a:r>
            <a:r>
              <a:rPr lang="de-DE" sz="1800" b="1" dirty="0" smtClean="0">
                <a:solidFill>
                  <a:srgbClr val="0070C0"/>
                </a:solidFill>
                <a:latin typeface="Arial" pitchFamily="34" charset="0"/>
              </a:rPr>
              <a:t>( )</a:t>
            </a:r>
          </a:p>
          <a:p>
            <a:pPr algn="ctr">
              <a:buClrTx/>
              <a:buFontTx/>
              <a:buNone/>
            </a:pPr>
            <a:r>
              <a:rPr lang="de-DE" sz="1800" b="1" dirty="0" err="1" smtClean="0">
                <a:solidFill>
                  <a:srgbClr val="0070C0"/>
                </a:solidFill>
                <a:latin typeface="Arial" pitchFamily="34" charset="0"/>
              </a:rPr>
              <a:t>interrupt</a:t>
            </a:r>
            <a:r>
              <a:rPr lang="de-DE" sz="1800" b="1" dirty="0" smtClean="0">
                <a:solidFill>
                  <a:srgbClr val="0070C0"/>
                </a:solidFill>
                <a:latin typeface="Arial" pitchFamily="34" charset="0"/>
              </a:rPr>
              <a:t>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Thread-Beispiel (</a:t>
            </a:r>
            <a:r>
              <a:rPr lang="de-DE" b="1" smtClean="0">
                <a:latin typeface="Courier New" pitchFamily="49" charset="0"/>
              </a:rPr>
              <a:t>sleep</a:t>
            </a:r>
            <a:r>
              <a:rPr lang="de-DE" b="1" smtClean="0"/>
              <a:t> und </a:t>
            </a:r>
            <a:r>
              <a:rPr lang="de-DE" b="1" smtClean="0">
                <a:latin typeface="Courier New" pitchFamily="49" charset="0"/>
              </a:rPr>
              <a:t>interrupt</a:t>
            </a:r>
            <a:r>
              <a:rPr lang="de-DE" b="1" smtClean="0"/>
              <a:t>)	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985838"/>
            <a:ext cx="7473950" cy="3476625"/>
          </a:xfrm>
          <a:solidFill>
            <a:srgbClr val="FFFF99">
              <a:alpha val="50195"/>
            </a:srgbClr>
          </a:solidFill>
        </p:spPr>
        <p:txBody>
          <a:bodyPr lIns="0" tIns="0" rIns="0" bIns="0"/>
          <a:lstStyle/>
          <a:p>
            <a:pPr>
              <a:buFont typeface="Wingdings" pitchFamily="2" charset="2"/>
              <a:buNone/>
            </a:pPr>
            <a:r>
              <a:rPr lang="de-DE" sz="1600" dirty="0" err="1" smtClean="0">
                <a:latin typeface="Courier New" pitchFamily="49" charset="0"/>
              </a:rPr>
              <a:t>class</a:t>
            </a:r>
            <a:r>
              <a:rPr lang="de-DE" sz="1600" dirty="0" smtClean="0">
                <a:latin typeface="Courier New" pitchFamily="49" charset="0"/>
              </a:rPr>
              <a:t> </a:t>
            </a:r>
            <a:r>
              <a:rPr lang="de-DE" sz="1600" b="1" dirty="0" err="1" smtClean="0">
                <a:latin typeface="Courier New" pitchFamily="49" charset="0"/>
              </a:rPr>
              <a:t>SweetDreams</a:t>
            </a:r>
            <a:r>
              <a:rPr lang="de-DE" sz="1600" b="1" dirty="0" smtClean="0">
                <a:latin typeface="Courier New" pitchFamily="49" charset="0"/>
              </a:rPr>
              <a:t> </a:t>
            </a:r>
            <a:r>
              <a:rPr lang="de-DE" sz="1600" b="1" dirty="0" err="1" smtClean="0">
                <a:latin typeface="Courier New" pitchFamily="49" charset="0"/>
              </a:rPr>
              <a:t>extends</a:t>
            </a:r>
            <a:r>
              <a:rPr lang="de-DE" sz="1600" b="1" dirty="0" smtClean="0">
                <a:latin typeface="Courier New" pitchFamily="49" charset="0"/>
              </a:rPr>
              <a:t> Thread</a:t>
            </a:r>
            <a:r>
              <a:rPr lang="de-DE" sz="1600" dirty="0" smtClean="0">
                <a:latin typeface="Courier New" pitchFamily="49" charset="0"/>
              </a:rPr>
              <a:t> {</a:t>
            </a:r>
          </a:p>
          <a:p>
            <a:pPr>
              <a:buFont typeface="Wingdings" pitchFamily="2" charset="2"/>
              <a:buNone/>
            </a:pPr>
            <a:r>
              <a:rPr lang="de-DE" sz="1600" dirty="0" smtClean="0">
                <a:latin typeface="Courier New" pitchFamily="49" charset="0"/>
              </a:rPr>
              <a:t>  </a:t>
            </a:r>
            <a:r>
              <a:rPr lang="de-DE" sz="1600" dirty="0" err="1" smtClean="0">
                <a:latin typeface="Courier New" pitchFamily="49" charset="0"/>
              </a:rPr>
              <a:t>public</a:t>
            </a:r>
            <a:r>
              <a:rPr lang="de-DE" sz="1600" dirty="0" smtClean="0">
                <a:latin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</a:rPr>
              <a:t>void</a:t>
            </a:r>
            <a:r>
              <a:rPr lang="de-DE" sz="1600" dirty="0" smtClean="0">
                <a:latin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</a:rPr>
              <a:t>run</a:t>
            </a:r>
            <a:r>
              <a:rPr lang="de-DE" sz="1600" dirty="0" smtClean="0">
                <a:latin typeface="Courier New" pitchFamily="49" charset="0"/>
              </a:rPr>
              <a:t>() {</a:t>
            </a:r>
          </a:p>
          <a:p>
            <a:pPr>
              <a:buFont typeface="Wingdings" pitchFamily="2" charset="2"/>
              <a:buNone/>
            </a:pPr>
            <a:r>
              <a:rPr lang="de-DE" sz="1600" dirty="0" smtClean="0">
                <a:latin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</a:rPr>
              <a:t>try</a:t>
            </a:r>
            <a:r>
              <a:rPr lang="de-DE" sz="1600" dirty="0" smtClean="0">
                <a:latin typeface="Courier New" pitchFamily="49" charset="0"/>
              </a:rPr>
              <a:t> {</a:t>
            </a:r>
            <a:br>
              <a:rPr lang="de-DE" sz="1600" dirty="0" smtClean="0">
                <a:latin typeface="Courier New" pitchFamily="49" charset="0"/>
              </a:rPr>
            </a:br>
            <a:r>
              <a:rPr lang="de-DE" sz="1600" dirty="0" smtClean="0">
                <a:latin typeface="Courier New" pitchFamily="49" charset="0"/>
              </a:rPr>
              <a:t>      </a:t>
            </a:r>
            <a:r>
              <a:rPr lang="de-DE" sz="1600" b="1" dirty="0" err="1" smtClean="0">
                <a:latin typeface="Courier New" pitchFamily="49" charset="0"/>
              </a:rPr>
              <a:t>sleep</a:t>
            </a:r>
            <a:r>
              <a:rPr lang="de-DE" sz="1600" b="1" dirty="0" smtClean="0">
                <a:latin typeface="Courier New" pitchFamily="49" charset="0"/>
              </a:rPr>
              <a:t>(10000000);</a:t>
            </a:r>
            <a:br>
              <a:rPr lang="de-DE" sz="1600" b="1" dirty="0" smtClean="0">
                <a:latin typeface="Courier New" pitchFamily="49" charset="0"/>
              </a:rPr>
            </a:br>
            <a:r>
              <a:rPr lang="de-DE" sz="1600" dirty="0" smtClean="0">
                <a:latin typeface="Courier New" pitchFamily="49" charset="0"/>
              </a:rPr>
              <a:t>      </a:t>
            </a:r>
            <a:r>
              <a:rPr lang="de-DE" sz="1600" dirty="0" err="1" smtClean="0">
                <a:latin typeface="Courier New" pitchFamily="49" charset="0"/>
              </a:rPr>
              <a:t>System.out.println</a:t>
            </a:r>
            <a:r>
              <a:rPr lang="de-DE" sz="1600" dirty="0" smtClean="0">
                <a:latin typeface="Courier New" pitchFamily="49" charset="0"/>
              </a:rPr>
              <a:t>(</a:t>
            </a:r>
            <a:r>
              <a:rPr lang="de-DE" sz="1600" b="1" dirty="0" smtClean="0">
                <a:latin typeface="Courier New" pitchFamily="49" charset="0"/>
              </a:rPr>
              <a:t>"sanft aufgewacht :-)</a:t>
            </a:r>
            <a:r>
              <a:rPr lang="de-DE" sz="1600" dirty="0" smtClean="0">
                <a:latin typeface="Courier New" pitchFamily="49" charset="0"/>
              </a:rPr>
              <a:t>");</a:t>
            </a:r>
            <a:br>
              <a:rPr lang="de-DE" sz="1600" dirty="0" smtClean="0">
                <a:latin typeface="Courier New" pitchFamily="49" charset="0"/>
              </a:rPr>
            </a:br>
            <a:r>
              <a:rPr lang="de-DE" sz="1600" dirty="0" smtClean="0">
                <a:latin typeface="Courier New" pitchFamily="49" charset="0"/>
              </a:rPr>
              <a:t> } </a:t>
            </a:r>
            <a:r>
              <a:rPr lang="de-DE" sz="1600" b="1" dirty="0" smtClean="0">
                <a:latin typeface="Courier New" pitchFamily="49" charset="0"/>
              </a:rPr>
              <a:t>catch (</a:t>
            </a:r>
            <a:r>
              <a:rPr lang="de-DE" sz="1600" b="1" dirty="0" err="1" smtClean="0">
                <a:latin typeface="Courier New" pitchFamily="49" charset="0"/>
              </a:rPr>
              <a:t>InterruptedException</a:t>
            </a:r>
            <a:r>
              <a:rPr lang="de-DE" sz="1600" b="1" dirty="0" smtClean="0">
                <a:latin typeface="Courier New" pitchFamily="49" charset="0"/>
              </a:rPr>
              <a:t> e)</a:t>
            </a:r>
            <a:r>
              <a:rPr lang="de-DE" sz="1600" dirty="0" smtClean="0">
                <a:latin typeface="Courier New" pitchFamily="49" charset="0"/>
              </a:rPr>
              <a:t> {</a:t>
            </a:r>
            <a:br>
              <a:rPr lang="de-DE" sz="1600" dirty="0" smtClean="0">
                <a:latin typeface="Courier New" pitchFamily="49" charset="0"/>
              </a:rPr>
            </a:br>
            <a:r>
              <a:rPr lang="de-DE" sz="1600" dirty="0" smtClean="0">
                <a:latin typeface="Courier New" pitchFamily="49" charset="0"/>
              </a:rPr>
              <a:t>      </a:t>
            </a:r>
            <a:r>
              <a:rPr lang="de-DE" sz="1600" dirty="0" err="1" smtClean="0">
                <a:latin typeface="Courier New" pitchFamily="49" charset="0"/>
              </a:rPr>
              <a:t>System.out.println</a:t>
            </a:r>
            <a:r>
              <a:rPr lang="de-DE" sz="1600" dirty="0" smtClean="0">
                <a:latin typeface="Courier New" pitchFamily="49" charset="0"/>
              </a:rPr>
              <a:t>(</a:t>
            </a:r>
            <a:r>
              <a:rPr lang="de-DE" sz="1600" b="1" dirty="0" smtClean="0">
                <a:latin typeface="Courier New" pitchFamily="49" charset="0"/>
              </a:rPr>
              <a:t>"unsanft aufgewacht :-("</a:t>
            </a:r>
            <a:r>
              <a:rPr lang="de-DE" sz="1600" dirty="0" smtClean="0">
                <a:latin typeface="Courier New" pitchFamily="49" charset="0"/>
              </a:rPr>
              <a:t>);</a:t>
            </a:r>
            <a:br>
              <a:rPr lang="de-DE" sz="1600" dirty="0" smtClean="0">
                <a:latin typeface="Courier New" pitchFamily="49" charset="0"/>
              </a:rPr>
            </a:br>
            <a:r>
              <a:rPr lang="de-DE" sz="1600" dirty="0" smtClean="0">
                <a:latin typeface="Courier New" pitchFamily="49" charset="0"/>
              </a:rPr>
              <a:t> }</a:t>
            </a:r>
            <a:br>
              <a:rPr lang="de-DE" sz="1600" dirty="0" smtClean="0">
                <a:latin typeface="Courier New" pitchFamily="49" charset="0"/>
              </a:rPr>
            </a:br>
            <a:r>
              <a:rPr lang="de-DE" sz="1600" dirty="0" smtClean="0">
                <a:latin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de-DE" sz="16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1014788" name="Rectangle 4"/>
          <p:cNvSpPr>
            <a:spLocks noChangeArrowheads="1"/>
          </p:cNvSpPr>
          <p:nvPr/>
        </p:nvSpPr>
        <p:spPr bwMode="auto">
          <a:xfrm>
            <a:off x="3422650" y="4724400"/>
            <a:ext cx="6324600" cy="15303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dirty="0">
                <a:solidFill>
                  <a:srgbClr val="000000"/>
                </a:solidFill>
              </a:rPr>
              <a:t>        ...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</a:t>
            </a:r>
            <a:r>
              <a:rPr lang="de-DE" dirty="0" err="1">
                <a:solidFill>
                  <a:srgbClr val="000000"/>
                </a:solidFill>
              </a:rPr>
              <a:t>SweetDreams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dreams</a:t>
            </a:r>
            <a:r>
              <a:rPr lang="de-DE" b="1" dirty="0">
                <a:solidFill>
                  <a:srgbClr val="000000"/>
                </a:solidFill>
              </a:rPr>
              <a:t> = </a:t>
            </a:r>
            <a:r>
              <a:rPr lang="de-DE" b="1" dirty="0" err="1">
                <a:solidFill>
                  <a:srgbClr val="000000"/>
                </a:solidFill>
              </a:rPr>
              <a:t>new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SweetDreams</a:t>
            </a:r>
            <a:r>
              <a:rPr lang="de-DE" b="1" dirty="0">
                <a:solidFill>
                  <a:srgbClr val="000000"/>
                </a:solidFill>
              </a:rPr>
              <a:t>()</a:t>
            </a:r>
            <a:r>
              <a:rPr lang="de-DE" dirty="0">
                <a:solidFill>
                  <a:srgbClr val="000000"/>
                </a:solidFill>
              </a:rPr>
              <a:t>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</a:t>
            </a:r>
            <a:r>
              <a:rPr lang="de-DE" dirty="0" err="1">
                <a:solidFill>
                  <a:srgbClr val="000000"/>
                </a:solidFill>
              </a:rPr>
              <a:t>dreams.start</a:t>
            </a:r>
            <a:r>
              <a:rPr lang="de-DE" dirty="0">
                <a:solidFill>
                  <a:srgbClr val="000000"/>
                </a:solidFill>
              </a:rPr>
              <a:t>();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</a:t>
            </a:r>
            <a:r>
              <a:rPr lang="de-DE" dirty="0" err="1">
                <a:solidFill>
                  <a:srgbClr val="000000"/>
                </a:solidFill>
              </a:rPr>
              <a:t>sleep</a:t>
            </a:r>
            <a:r>
              <a:rPr lang="de-DE" dirty="0">
                <a:solidFill>
                  <a:srgbClr val="000000"/>
                </a:solidFill>
              </a:rPr>
              <a:t>(</a:t>
            </a:r>
            <a:r>
              <a:rPr lang="de-DE" b="1" dirty="0">
                <a:solidFill>
                  <a:srgbClr val="C00000"/>
                </a:solidFill>
              </a:rPr>
              <a:t>N?</a:t>
            </a:r>
            <a:r>
              <a:rPr lang="de-DE" dirty="0">
                <a:solidFill>
                  <a:srgbClr val="000000"/>
                </a:solidFill>
              </a:rPr>
              <a:t>);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</a:t>
            </a:r>
            <a:r>
              <a:rPr lang="de-DE" b="1" dirty="0" err="1">
                <a:solidFill>
                  <a:srgbClr val="000000"/>
                </a:solidFill>
              </a:rPr>
              <a:t>dreams.interrupt</a:t>
            </a:r>
            <a:r>
              <a:rPr lang="de-DE" dirty="0">
                <a:solidFill>
                  <a:srgbClr val="000000"/>
                </a:solidFill>
              </a:rPr>
              <a:t>();        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1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788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Das Stoppen von Threads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Das taktvolle Stoppen</a:t>
            </a:r>
          </a:p>
          <a:p>
            <a:pPr lvl="1"/>
            <a:r>
              <a:rPr lang="de-DE" dirty="0" smtClean="0"/>
              <a:t>Unterbrechen eines Threads: </a:t>
            </a:r>
            <a:r>
              <a:rPr lang="de-DE" dirty="0" err="1" smtClean="0">
                <a:latin typeface="Courier New" pitchFamily="49" charset="0"/>
              </a:rPr>
              <a:t>interrupt</a:t>
            </a:r>
            <a:r>
              <a:rPr lang="de-DE" dirty="0" smtClean="0">
                <a:latin typeface="Courier New" pitchFamily="49" charset="0"/>
              </a:rPr>
              <a:t>(),</a:t>
            </a:r>
            <a:r>
              <a:rPr lang="de-DE" dirty="0" smtClean="0"/>
              <a:t> </a:t>
            </a:r>
            <a:r>
              <a:rPr lang="de-DE" dirty="0" err="1" smtClean="0">
                <a:latin typeface="Courier New" pitchFamily="49" charset="0"/>
              </a:rPr>
              <a:t>isInterrupted</a:t>
            </a:r>
            <a:r>
              <a:rPr lang="de-DE" dirty="0" smtClean="0">
                <a:latin typeface="Courier New" pitchFamily="49" charset="0"/>
              </a:rPr>
              <a:t>()</a:t>
            </a:r>
          </a:p>
          <a:p>
            <a:pPr lvl="1"/>
            <a:r>
              <a:rPr lang="de-DE" dirty="0" smtClean="0"/>
              <a:t>Unterbrechung des aktuellen Threads: </a:t>
            </a:r>
            <a:r>
              <a:rPr lang="de-DE" dirty="0" err="1" smtClean="0">
                <a:latin typeface="Courier New" pitchFamily="49" charset="0"/>
              </a:rPr>
              <a:t>Thread.interrupted</a:t>
            </a:r>
            <a:r>
              <a:rPr lang="de-DE" dirty="0" smtClean="0">
                <a:latin typeface="Courier New" pitchFamily="49" charset="0"/>
              </a:rPr>
              <a:t>()</a:t>
            </a:r>
          </a:p>
          <a:p>
            <a:pPr lvl="1"/>
            <a:r>
              <a:rPr lang="de-DE" dirty="0" smtClean="0"/>
              <a:t>Ausnahme bei Unterbrechung: </a:t>
            </a:r>
            <a:r>
              <a:rPr lang="de-DE" dirty="0" err="1" smtClean="0">
                <a:latin typeface="Courier New" pitchFamily="49" charset="0"/>
              </a:rPr>
              <a:t>InterruptedException</a:t>
            </a:r>
            <a:endParaRPr lang="de-DE" dirty="0" smtClean="0">
              <a:latin typeface="Courier New" pitchFamily="49" charset="0"/>
            </a:endParaRPr>
          </a:p>
          <a:p>
            <a:pPr lvl="1"/>
            <a:r>
              <a:rPr lang="de-DE" dirty="0" smtClean="0"/>
              <a:t>Freiwillige Aufgabe der Verarbeitung: </a:t>
            </a:r>
            <a:r>
              <a:rPr lang="de-DE" dirty="0" err="1" smtClean="0">
                <a:latin typeface="Courier New" pitchFamily="49" charset="0"/>
              </a:rPr>
              <a:t>Thread.yield</a:t>
            </a:r>
            <a:r>
              <a:rPr lang="de-DE" dirty="0" smtClean="0">
                <a:latin typeface="Courier New" pitchFamily="49" charset="0"/>
              </a:rPr>
              <a:t>()</a:t>
            </a:r>
          </a:p>
          <a:p>
            <a:endParaRPr lang="de-DE" dirty="0" smtClean="0">
              <a:latin typeface="Courier New" pitchFamily="49" charset="0"/>
            </a:endParaRPr>
          </a:p>
          <a:p>
            <a:r>
              <a:rPr lang="de-DE" dirty="0" smtClean="0"/>
              <a:t>Das abrupte Stoppen</a:t>
            </a:r>
          </a:p>
          <a:p>
            <a:pPr lvl="1"/>
            <a:r>
              <a:rPr lang="de-DE" dirty="0" smtClean="0"/>
              <a:t>Die </a:t>
            </a:r>
            <a:r>
              <a:rPr lang="de-DE" i="1" dirty="0" err="1" smtClean="0"/>
              <a:t>deprecated</a:t>
            </a:r>
            <a:r>
              <a:rPr lang="de-DE" dirty="0" smtClean="0"/>
              <a:t> Methoden </a:t>
            </a:r>
            <a:r>
              <a:rPr lang="de-DE" dirty="0" err="1" smtClean="0">
                <a:latin typeface="Courier New" pitchFamily="49" charset="0"/>
              </a:rPr>
              <a:t>suspend</a:t>
            </a:r>
            <a:r>
              <a:rPr lang="de-DE" dirty="0" smtClean="0">
                <a:latin typeface="Courier New" pitchFamily="49" charset="0"/>
              </a:rPr>
              <a:t>()</a:t>
            </a:r>
            <a:r>
              <a:rPr lang="de-DE" dirty="0" smtClean="0"/>
              <a:t>, </a:t>
            </a:r>
            <a:r>
              <a:rPr lang="de-DE" dirty="0" err="1" smtClean="0">
                <a:latin typeface="Courier New" pitchFamily="49" charset="0"/>
              </a:rPr>
              <a:t>resume</a:t>
            </a:r>
            <a:r>
              <a:rPr lang="de-DE" dirty="0" smtClean="0">
                <a:latin typeface="Courier New" pitchFamily="49" charset="0"/>
              </a:rPr>
              <a:t>()</a:t>
            </a:r>
            <a:r>
              <a:rPr lang="de-DE" dirty="0" smtClean="0"/>
              <a:t> und </a:t>
            </a:r>
            <a:r>
              <a:rPr lang="de-DE" dirty="0" err="1" smtClean="0">
                <a:latin typeface="Courier New" pitchFamily="49" charset="0"/>
              </a:rPr>
              <a:t>stop</a:t>
            </a:r>
            <a:r>
              <a:rPr lang="de-DE" dirty="0" smtClean="0">
                <a:latin typeface="Courier New" pitchFamily="49" charset="0"/>
              </a:rPr>
              <a:t>() </a:t>
            </a:r>
            <a:br>
              <a:rPr lang="de-DE" dirty="0" smtClean="0">
                <a:latin typeface="Courier New" pitchFamily="49" charset="0"/>
              </a:rPr>
            </a:br>
            <a:r>
              <a:rPr lang="de-DE" dirty="0" smtClean="0">
                <a:sym typeface="Wingdings" pitchFamily="2" charset="2"/>
              </a:rPr>
              <a:t> nicht mehr verwenden!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341313" y="1087438"/>
            <a:ext cx="6400800" cy="4541837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lnSpc>
                <a:spcPct val="8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dirty="0" err="1">
                <a:solidFill>
                  <a:srgbClr val="000000"/>
                </a:solidFill>
              </a:rPr>
              <a:t>class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WaitAndPrint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extends</a:t>
            </a:r>
            <a:r>
              <a:rPr lang="de-DE" b="1" dirty="0">
                <a:solidFill>
                  <a:srgbClr val="000000"/>
                </a:solidFill>
              </a:rPr>
              <a:t> Thread </a:t>
            </a:r>
            <a:r>
              <a:rPr lang="de-DE" dirty="0">
                <a:solidFill>
                  <a:srgbClr val="000000"/>
                </a:solidFill>
              </a:rPr>
              <a:t>{</a:t>
            </a:r>
          </a:p>
          <a:p>
            <a:pPr marL="285750" indent="-285750" defTabSz="630238">
              <a:lnSpc>
                <a:spcPct val="8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dirty="0">
                <a:solidFill>
                  <a:srgbClr val="000000"/>
                </a:solidFill>
              </a:rPr>
              <a:t>  private </a:t>
            </a:r>
            <a:r>
              <a:rPr lang="de-DE" dirty="0" err="1">
                <a:solidFill>
                  <a:srgbClr val="000000"/>
                </a:solidFill>
              </a:rPr>
              <a:t>char</a:t>
            </a:r>
            <a:r>
              <a:rPr lang="de-DE" dirty="0">
                <a:solidFill>
                  <a:srgbClr val="000000"/>
                </a:solidFill>
              </a:rPr>
              <a:t> c;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private Thread </a:t>
            </a:r>
            <a:r>
              <a:rPr lang="de-DE" dirty="0" err="1">
                <a:solidFill>
                  <a:srgbClr val="000000"/>
                </a:solidFill>
              </a:rPr>
              <a:t>otherThread</a:t>
            </a:r>
            <a:r>
              <a:rPr lang="de-DE" dirty="0">
                <a:solidFill>
                  <a:srgbClr val="000000"/>
                </a:solidFill>
              </a:rPr>
              <a:t>;</a:t>
            </a:r>
          </a:p>
          <a:p>
            <a:pPr marL="285750" indent="-285750" defTabSz="630238">
              <a:lnSpc>
                <a:spcPct val="8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dirty="0">
                <a:solidFill>
                  <a:srgbClr val="000000"/>
                </a:solidFill>
              </a:rPr>
              <a:t>  </a:t>
            </a:r>
            <a:r>
              <a:rPr lang="de-DE" dirty="0" err="1">
                <a:solidFill>
                  <a:srgbClr val="000000"/>
                </a:solidFill>
              </a:rPr>
              <a:t>public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WaitAndPrint</a:t>
            </a:r>
            <a:r>
              <a:rPr lang="de-DE" b="1" dirty="0">
                <a:solidFill>
                  <a:srgbClr val="000000"/>
                </a:solidFill>
              </a:rPr>
              <a:t>(</a:t>
            </a:r>
            <a:r>
              <a:rPr lang="de-DE" b="1" dirty="0" err="1">
                <a:solidFill>
                  <a:srgbClr val="000000"/>
                </a:solidFill>
              </a:rPr>
              <a:t>char</a:t>
            </a:r>
            <a:r>
              <a:rPr lang="de-DE" b="1" dirty="0">
                <a:solidFill>
                  <a:srgbClr val="000000"/>
                </a:solidFill>
              </a:rPr>
              <a:t> c, Thread </a:t>
            </a:r>
            <a:r>
              <a:rPr lang="de-DE" b="1" dirty="0" err="1">
                <a:solidFill>
                  <a:srgbClr val="000000"/>
                </a:solidFill>
              </a:rPr>
              <a:t>otherThread</a:t>
            </a:r>
            <a:r>
              <a:rPr lang="de-DE" b="1" dirty="0">
                <a:solidFill>
                  <a:srgbClr val="000000"/>
                </a:solidFill>
              </a:rPr>
              <a:t>)</a:t>
            </a:r>
            <a:r>
              <a:rPr lang="de-DE" dirty="0">
                <a:solidFill>
                  <a:srgbClr val="000000"/>
                </a:solidFill>
              </a:rPr>
              <a:t> {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</a:t>
            </a:r>
            <a:r>
              <a:rPr lang="de-DE" dirty="0" err="1">
                <a:solidFill>
                  <a:srgbClr val="000000"/>
                </a:solidFill>
              </a:rPr>
              <a:t>this.c</a:t>
            </a:r>
            <a:r>
              <a:rPr lang="de-DE" dirty="0">
                <a:solidFill>
                  <a:srgbClr val="000000"/>
                </a:solidFill>
              </a:rPr>
              <a:t> = c;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</a:t>
            </a:r>
            <a:r>
              <a:rPr lang="de-DE" dirty="0" err="1">
                <a:solidFill>
                  <a:srgbClr val="000000"/>
                </a:solidFill>
              </a:rPr>
              <a:t>this.otherThread</a:t>
            </a:r>
            <a:r>
              <a:rPr lang="de-DE" dirty="0">
                <a:solidFill>
                  <a:srgbClr val="000000"/>
                </a:solidFill>
              </a:rPr>
              <a:t> = </a:t>
            </a:r>
            <a:r>
              <a:rPr lang="de-DE" dirty="0" err="1">
                <a:solidFill>
                  <a:srgbClr val="000000"/>
                </a:solidFill>
              </a:rPr>
              <a:t>otherThread</a:t>
            </a:r>
            <a:r>
              <a:rPr lang="de-DE" dirty="0">
                <a:solidFill>
                  <a:srgbClr val="000000"/>
                </a:solidFill>
              </a:rPr>
              <a:t>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}</a:t>
            </a:r>
          </a:p>
          <a:p>
            <a:pPr marL="285750" indent="-285750" defTabSz="630238">
              <a:lnSpc>
                <a:spcPct val="8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dirty="0">
                <a:solidFill>
                  <a:srgbClr val="000000"/>
                </a:solidFill>
              </a:rPr>
              <a:t>  </a:t>
            </a:r>
            <a:r>
              <a:rPr lang="de-DE" dirty="0" err="1">
                <a:solidFill>
                  <a:srgbClr val="000000"/>
                </a:solidFill>
              </a:rPr>
              <a:t>public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void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run</a:t>
            </a:r>
            <a:r>
              <a:rPr lang="de-DE" dirty="0">
                <a:solidFill>
                  <a:srgbClr val="000000"/>
                </a:solidFill>
              </a:rPr>
              <a:t>() {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</a:t>
            </a:r>
            <a:r>
              <a:rPr lang="de-DE" dirty="0" err="1">
                <a:solidFill>
                  <a:srgbClr val="000000"/>
                </a:solidFill>
              </a:rPr>
              <a:t>if</a:t>
            </a:r>
            <a:r>
              <a:rPr lang="de-DE" dirty="0">
                <a:solidFill>
                  <a:srgbClr val="000000"/>
                </a:solidFill>
              </a:rPr>
              <a:t> (null != </a:t>
            </a:r>
            <a:r>
              <a:rPr lang="de-DE" dirty="0" err="1">
                <a:solidFill>
                  <a:srgbClr val="000000"/>
                </a:solidFill>
              </a:rPr>
              <a:t>otherThread</a:t>
            </a:r>
            <a:r>
              <a:rPr lang="de-DE" dirty="0">
                <a:solidFill>
                  <a:srgbClr val="000000"/>
                </a:solidFill>
              </a:rPr>
              <a:t>)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</a:t>
            </a:r>
            <a:r>
              <a:rPr lang="de-DE" dirty="0" err="1">
                <a:solidFill>
                  <a:srgbClr val="000000"/>
                </a:solidFill>
              </a:rPr>
              <a:t>try</a:t>
            </a:r>
            <a:r>
              <a:rPr lang="de-DE" dirty="0">
                <a:solidFill>
                  <a:srgbClr val="000000"/>
                </a:solidFill>
              </a:rPr>
              <a:t> {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  </a:t>
            </a:r>
            <a:r>
              <a:rPr lang="de-DE" b="1" dirty="0" err="1">
                <a:solidFill>
                  <a:srgbClr val="000000"/>
                </a:solidFill>
              </a:rPr>
              <a:t>otherThread.join</a:t>
            </a:r>
            <a:r>
              <a:rPr lang="de-DE" b="1" dirty="0">
                <a:solidFill>
                  <a:srgbClr val="000000"/>
                </a:solidFill>
              </a:rPr>
              <a:t>()</a:t>
            </a:r>
            <a:r>
              <a:rPr lang="de-DE" dirty="0">
                <a:solidFill>
                  <a:srgbClr val="000000"/>
                </a:solidFill>
              </a:rPr>
              <a:t>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} catch (</a:t>
            </a:r>
            <a:r>
              <a:rPr lang="de-DE" dirty="0" err="1">
                <a:solidFill>
                  <a:srgbClr val="000000"/>
                </a:solidFill>
              </a:rPr>
              <a:t>InterruptedException</a:t>
            </a:r>
            <a:r>
              <a:rPr lang="de-DE" dirty="0">
                <a:solidFill>
                  <a:srgbClr val="000000"/>
                </a:solidFill>
              </a:rPr>
              <a:t> e) { }</a:t>
            </a:r>
          </a:p>
          <a:p>
            <a:pPr marL="285750" indent="-285750" defTabSz="630238">
              <a:lnSpc>
                <a:spcPct val="8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dirty="0">
                <a:solidFill>
                  <a:srgbClr val="000000"/>
                </a:solidFill>
              </a:rPr>
              <a:t>    </a:t>
            </a:r>
            <a:r>
              <a:rPr lang="de-DE" dirty="0" err="1">
                <a:solidFill>
                  <a:srgbClr val="000000"/>
                </a:solidFill>
              </a:rPr>
              <a:t>for</a:t>
            </a:r>
            <a:r>
              <a:rPr lang="de-DE" dirty="0">
                <a:solidFill>
                  <a:srgbClr val="000000"/>
                </a:solidFill>
              </a:rPr>
              <a:t> (</a:t>
            </a:r>
            <a:r>
              <a:rPr lang="de-DE" dirty="0" err="1">
                <a:solidFill>
                  <a:srgbClr val="000000"/>
                </a:solidFill>
              </a:rPr>
              <a:t>int</a:t>
            </a:r>
            <a:r>
              <a:rPr lang="de-DE" dirty="0">
                <a:solidFill>
                  <a:srgbClr val="000000"/>
                </a:solidFill>
              </a:rPr>
              <a:t> i = 0; i &lt; 1000; i++)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      </a:t>
            </a:r>
            <a:r>
              <a:rPr lang="de-DE" dirty="0" err="1" smtClean="0">
                <a:solidFill>
                  <a:srgbClr val="000000"/>
                </a:solidFill>
              </a:rPr>
              <a:t>System.out.print</a:t>
            </a:r>
            <a:r>
              <a:rPr lang="de-DE" dirty="0" smtClean="0">
                <a:solidFill>
                  <a:srgbClr val="000000"/>
                </a:solidFill>
              </a:rPr>
              <a:t>(c</a:t>
            </a:r>
            <a:r>
              <a:rPr lang="de-DE" dirty="0">
                <a:solidFill>
                  <a:srgbClr val="000000"/>
                </a:solidFill>
              </a:rPr>
              <a:t>);</a:t>
            </a:r>
            <a:br>
              <a:rPr lang="de-DE" dirty="0">
                <a:solidFill>
                  <a:srgbClr val="000000"/>
                </a:solidFill>
              </a:rPr>
            </a:br>
            <a:r>
              <a:rPr lang="de-DE" dirty="0">
                <a:solidFill>
                  <a:srgbClr val="000000"/>
                </a:solidFill>
              </a:rPr>
              <a:t>}</a:t>
            </a:r>
          </a:p>
          <a:p>
            <a:pPr marL="285750" indent="-285750" defTabSz="630238">
              <a:lnSpc>
                <a:spcPct val="8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018883" name="Rectangle 3"/>
          <p:cNvSpPr>
            <a:spLocks noChangeArrowheads="1"/>
          </p:cNvSpPr>
          <p:nvPr/>
        </p:nvSpPr>
        <p:spPr bwMode="auto">
          <a:xfrm>
            <a:off x="4356100" y="5065713"/>
            <a:ext cx="5384800" cy="1118519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WaitAndPrint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px</a:t>
            </a:r>
            <a:r>
              <a:rPr lang="de-DE" sz="1400" dirty="0">
                <a:solidFill>
                  <a:srgbClr val="000000"/>
                </a:solidFill>
              </a:rPr>
              <a:t> = </a:t>
            </a:r>
            <a:r>
              <a:rPr lang="de-DE" sz="1400" dirty="0" err="1">
                <a:solidFill>
                  <a:srgbClr val="000000"/>
                </a:solidFill>
              </a:rPr>
              <a:t>new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WaitAndPrint</a:t>
            </a:r>
            <a:r>
              <a:rPr lang="de-DE" sz="1400" dirty="0">
                <a:solidFill>
                  <a:srgbClr val="000000"/>
                </a:solidFill>
              </a:rPr>
              <a:t>('-', null);</a:t>
            </a:r>
            <a:br>
              <a:rPr lang="de-DE" sz="1400" dirty="0">
                <a:solidFill>
                  <a:srgbClr val="000000"/>
                </a:solidFill>
              </a:rPr>
            </a:br>
            <a:r>
              <a:rPr lang="de-DE" sz="1400" dirty="0" err="1">
                <a:solidFill>
                  <a:srgbClr val="000000"/>
                </a:solidFill>
              </a:rPr>
              <a:t>WaitAndPrint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py</a:t>
            </a:r>
            <a:r>
              <a:rPr lang="de-DE" sz="1400" dirty="0">
                <a:solidFill>
                  <a:srgbClr val="000000"/>
                </a:solidFill>
              </a:rPr>
              <a:t> = </a:t>
            </a:r>
            <a:r>
              <a:rPr lang="de-DE" sz="1400" dirty="0" err="1">
                <a:solidFill>
                  <a:srgbClr val="000000"/>
                </a:solidFill>
              </a:rPr>
              <a:t>new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WaitAndPrint</a:t>
            </a:r>
            <a:r>
              <a:rPr lang="de-DE" sz="1400" dirty="0">
                <a:solidFill>
                  <a:srgbClr val="000000"/>
                </a:solidFill>
              </a:rPr>
              <a:t>('|', </a:t>
            </a:r>
            <a:r>
              <a:rPr lang="de-DE" sz="1400" b="1" dirty="0">
                <a:solidFill>
                  <a:schemeClr val="accent2"/>
                </a:solidFill>
              </a:rPr>
              <a:t>null</a:t>
            </a:r>
            <a:r>
              <a:rPr lang="de-DE" sz="1400" dirty="0">
                <a:solidFill>
                  <a:srgbClr val="000000"/>
                </a:solidFill>
              </a:rPr>
              <a:t>);</a:t>
            </a:r>
            <a:br>
              <a:rPr lang="de-DE" sz="1400" dirty="0">
                <a:solidFill>
                  <a:srgbClr val="000000"/>
                </a:solidFill>
              </a:rPr>
            </a:br>
            <a:r>
              <a:rPr lang="de-DE" sz="1400" dirty="0" err="1">
                <a:solidFill>
                  <a:srgbClr val="000000"/>
                </a:solidFill>
              </a:rPr>
              <a:t>px.start</a:t>
            </a:r>
            <a:r>
              <a:rPr lang="de-DE" sz="1400" dirty="0">
                <a:solidFill>
                  <a:srgbClr val="000000"/>
                </a:solidFill>
              </a:rPr>
              <a:t>();</a:t>
            </a:r>
            <a:br>
              <a:rPr lang="de-DE" sz="1400" dirty="0">
                <a:solidFill>
                  <a:srgbClr val="000000"/>
                </a:solidFill>
              </a:rPr>
            </a:br>
            <a:r>
              <a:rPr lang="de-DE" sz="1400" dirty="0" err="1">
                <a:solidFill>
                  <a:srgbClr val="000000"/>
                </a:solidFill>
              </a:rPr>
              <a:t>py.start</a:t>
            </a:r>
            <a:r>
              <a:rPr lang="de-DE" sz="1400" dirty="0">
                <a:solidFill>
                  <a:srgbClr val="000000"/>
                </a:solidFill>
              </a:rPr>
              <a:t>();</a:t>
            </a:r>
          </a:p>
        </p:txBody>
      </p:sp>
      <p:sp>
        <p:nvSpPr>
          <p:cNvPr id="378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Thread-Beispiel (</a:t>
            </a:r>
            <a:r>
              <a:rPr lang="de-DE" b="1" smtClean="0">
                <a:latin typeface="Courier New" pitchFamily="49" charset="0"/>
              </a:rPr>
              <a:t>join</a:t>
            </a:r>
            <a:r>
              <a:rPr lang="de-DE" b="1" smtClean="0"/>
              <a:t>)	</a:t>
            </a:r>
          </a:p>
        </p:txBody>
      </p:sp>
      <p:sp>
        <p:nvSpPr>
          <p:cNvPr id="1018885" name="Rectangle 5"/>
          <p:cNvSpPr>
            <a:spLocks noChangeArrowheads="1"/>
          </p:cNvSpPr>
          <p:nvPr/>
        </p:nvSpPr>
        <p:spPr bwMode="auto">
          <a:xfrm>
            <a:off x="4681538" y="292100"/>
            <a:ext cx="5105400" cy="1127626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WaitAndPrint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px</a:t>
            </a:r>
            <a:r>
              <a:rPr lang="de-DE" sz="1400" dirty="0">
                <a:solidFill>
                  <a:srgbClr val="000000"/>
                </a:solidFill>
              </a:rPr>
              <a:t> = </a:t>
            </a:r>
            <a:r>
              <a:rPr lang="de-DE" sz="1400" dirty="0" err="1">
                <a:solidFill>
                  <a:srgbClr val="000000"/>
                </a:solidFill>
              </a:rPr>
              <a:t>new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WaitAndPrint</a:t>
            </a:r>
            <a:r>
              <a:rPr lang="de-DE" sz="1400" dirty="0">
                <a:solidFill>
                  <a:srgbClr val="000000"/>
                </a:solidFill>
              </a:rPr>
              <a:t>('-', null);</a:t>
            </a:r>
            <a:br>
              <a:rPr lang="de-DE" sz="1400" dirty="0">
                <a:solidFill>
                  <a:srgbClr val="000000"/>
                </a:solidFill>
              </a:rPr>
            </a:br>
            <a:r>
              <a:rPr lang="de-DE" sz="1400" dirty="0" err="1">
                <a:solidFill>
                  <a:srgbClr val="000000"/>
                </a:solidFill>
              </a:rPr>
              <a:t>WaitAndPrint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py</a:t>
            </a:r>
            <a:r>
              <a:rPr lang="de-DE" sz="1400" dirty="0">
                <a:solidFill>
                  <a:srgbClr val="000000"/>
                </a:solidFill>
              </a:rPr>
              <a:t> = </a:t>
            </a:r>
            <a:r>
              <a:rPr lang="de-DE" sz="1400" dirty="0" err="1">
                <a:solidFill>
                  <a:srgbClr val="000000"/>
                </a:solidFill>
              </a:rPr>
              <a:t>new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WaitAndPrint</a:t>
            </a:r>
            <a:r>
              <a:rPr lang="de-DE" sz="1400" dirty="0">
                <a:solidFill>
                  <a:srgbClr val="000000"/>
                </a:solidFill>
              </a:rPr>
              <a:t>('|', </a:t>
            </a:r>
            <a:r>
              <a:rPr lang="de-DE" sz="1400" b="1" dirty="0" err="1">
                <a:solidFill>
                  <a:schemeClr val="accent2"/>
                </a:solidFill>
              </a:rPr>
              <a:t>px</a:t>
            </a:r>
            <a:r>
              <a:rPr lang="de-DE" sz="1400" dirty="0">
                <a:solidFill>
                  <a:srgbClr val="000000"/>
                </a:solidFill>
              </a:rPr>
              <a:t>);</a:t>
            </a:r>
            <a:br>
              <a:rPr lang="de-DE" sz="1400" dirty="0">
                <a:solidFill>
                  <a:srgbClr val="000000"/>
                </a:solidFill>
              </a:rPr>
            </a:br>
            <a:r>
              <a:rPr lang="de-DE" sz="1400" dirty="0" err="1">
                <a:solidFill>
                  <a:srgbClr val="000000"/>
                </a:solidFill>
              </a:rPr>
              <a:t>px.start</a:t>
            </a:r>
            <a:r>
              <a:rPr lang="de-DE" sz="1400" dirty="0">
                <a:solidFill>
                  <a:srgbClr val="000000"/>
                </a:solidFill>
              </a:rPr>
              <a:t>();</a:t>
            </a:r>
            <a:br>
              <a:rPr lang="de-DE" sz="1400" dirty="0">
                <a:solidFill>
                  <a:srgbClr val="000000"/>
                </a:solidFill>
              </a:rPr>
            </a:br>
            <a:r>
              <a:rPr lang="de-DE" sz="1400" dirty="0" err="1">
                <a:solidFill>
                  <a:srgbClr val="000000"/>
                </a:solidFill>
              </a:rPr>
              <a:t>py.start</a:t>
            </a:r>
            <a:r>
              <a:rPr lang="de-DE" sz="1400" dirty="0">
                <a:solidFill>
                  <a:srgbClr val="000000"/>
                </a:solidFill>
              </a:rPr>
              <a:t>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1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1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8883" grpId="0" animBg="1" autoUpdateAnimBg="0"/>
      <p:bldP spid="1018885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739775" y="265113"/>
            <a:ext cx="8520957" cy="430887"/>
          </a:xfrm>
        </p:spPr>
        <p:txBody>
          <a:bodyPr/>
          <a:lstStyle/>
          <a:p>
            <a:r>
              <a:rPr lang="de-DE" b="1" dirty="0" smtClean="0"/>
              <a:t>Bugpattern für Threads: Double </a:t>
            </a:r>
            <a:r>
              <a:rPr lang="de-DE" b="1" dirty="0" err="1" smtClean="0"/>
              <a:t>Checked</a:t>
            </a:r>
            <a:r>
              <a:rPr lang="de-DE" b="1" dirty="0" smtClean="0"/>
              <a:t> </a:t>
            </a:r>
            <a:r>
              <a:rPr lang="de-DE" b="1" dirty="0" err="1" smtClean="0"/>
              <a:t>Locking</a:t>
            </a:r>
            <a:endParaRPr lang="de-DE" b="1" dirty="0"/>
          </a:p>
        </p:txBody>
      </p:sp>
      <p:sp>
        <p:nvSpPr>
          <p:cNvPr id="10" name="Inhaltsplatzhalter 9"/>
          <p:cNvSpPr>
            <a:spLocks noGrp="1"/>
          </p:cNvSpPr>
          <p:nvPr>
            <p:ph idx="1"/>
          </p:nvPr>
        </p:nvSpPr>
        <p:spPr>
          <a:xfrm>
            <a:off x="280988" y="965866"/>
            <a:ext cx="9421812" cy="4733925"/>
          </a:xfrm>
        </p:spPr>
        <p:txBody>
          <a:bodyPr/>
          <a:lstStyle/>
          <a:p>
            <a:pPr lvl="0">
              <a:defRPr/>
            </a:pPr>
            <a:r>
              <a:rPr lang="de-DE" b="1" dirty="0" smtClean="0"/>
              <a:t>Problem:</a:t>
            </a:r>
            <a:r>
              <a:rPr lang="de-DE" dirty="0" smtClean="0"/>
              <a:t> in einer Multithread-Umgebung soll ein Singleton instanziiert werden.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r>
              <a:rPr lang="de-DE" dirty="0" smtClean="0"/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017987" y="4056434"/>
            <a:ext cx="4583213" cy="174124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smtClean="0">
                <a:solidFill>
                  <a:srgbClr val="000000"/>
                </a:solidFill>
              </a:rPr>
              <a:t> </a:t>
            </a:r>
            <a:r>
              <a:rPr lang="de-DE" sz="1400" dirty="0" err="1" smtClean="0"/>
              <a:t>public</a:t>
            </a:r>
            <a:r>
              <a:rPr lang="de-DE" sz="1400" dirty="0" smtClean="0"/>
              <a:t> </a:t>
            </a:r>
            <a:r>
              <a:rPr lang="de-DE" sz="1400" dirty="0" err="1" smtClean="0"/>
              <a:t>static</a:t>
            </a:r>
            <a:r>
              <a:rPr lang="de-DE" sz="1400" dirty="0" smtClean="0"/>
              <a:t> Singleton </a:t>
            </a:r>
            <a:r>
              <a:rPr lang="de-DE" sz="1400" dirty="0" err="1" smtClean="0"/>
              <a:t>getInstance</a:t>
            </a:r>
            <a:r>
              <a:rPr lang="de-DE" sz="1400" dirty="0" smtClean="0"/>
              <a:t>() { </a:t>
            </a:r>
            <a:br>
              <a:rPr lang="de-DE" sz="1400" dirty="0" smtClean="0"/>
            </a:br>
            <a:r>
              <a:rPr lang="de-DE" sz="1400" dirty="0" smtClean="0"/>
              <a:t>  </a:t>
            </a:r>
            <a:r>
              <a:rPr lang="de-DE" sz="1400" b="1" dirty="0" err="1" smtClean="0">
                <a:solidFill>
                  <a:srgbClr val="0070C0"/>
                </a:solidFill>
              </a:rPr>
              <a:t>if</a:t>
            </a:r>
            <a:r>
              <a:rPr lang="de-DE" sz="1400" b="1" dirty="0" smtClean="0">
                <a:solidFill>
                  <a:srgbClr val="0070C0"/>
                </a:solidFill>
              </a:rPr>
              <a:t> (</a:t>
            </a:r>
            <a:r>
              <a:rPr lang="de-DE" sz="1400" b="1" dirty="0" err="1" smtClean="0">
                <a:solidFill>
                  <a:srgbClr val="0070C0"/>
                </a:solidFill>
              </a:rPr>
              <a:t>instance</a:t>
            </a:r>
            <a:r>
              <a:rPr lang="de-DE" sz="1400" b="1" dirty="0" smtClean="0">
                <a:solidFill>
                  <a:srgbClr val="0070C0"/>
                </a:solidFill>
              </a:rPr>
              <a:t> == null) </a:t>
            </a:r>
            <a:r>
              <a:rPr lang="de-DE" sz="1400" dirty="0" smtClean="0"/>
              <a:t>{ </a:t>
            </a:r>
            <a:br>
              <a:rPr lang="de-DE" sz="1400" dirty="0" smtClean="0"/>
            </a:br>
            <a:r>
              <a:rPr lang="de-DE" sz="1400" b="1" dirty="0" smtClean="0">
                <a:solidFill>
                  <a:srgbClr val="0070C0"/>
                </a:solidFill>
              </a:rPr>
              <a:t>     </a:t>
            </a:r>
            <a:r>
              <a:rPr lang="de-DE" sz="1400" b="1" dirty="0" err="1" smtClean="0">
                <a:solidFill>
                  <a:srgbClr val="0070C0"/>
                </a:solidFill>
              </a:rPr>
              <a:t>synchronized</a:t>
            </a:r>
            <a:r>
              <a:rPr lang="de-DE" sz="1400" b="1" dirty="0" smtClean="0">
                <a:solidFill>
                  <a:srgbClr val="0070C0"/>
                </a:solidFill>
              </a:rPr>
              <a:t>(</a:t>
            </a:r>
            <a:r>
              <a:rPr lang="de-DE" sz="1400" b="1" dirty="0" err="1" smtClean="0">
                <a:solidFill>
                  <a:srgbClr val="0070C0"/>
                </a:solidFill>
              </a:rPr>
              <a:t>Singleton.class</a:t>
            </a:r>
            <a:r>
              <a:rPr lang="de-DE" sz="1400" b="1" dirty="0" smtClean="0">
                <a:solidFill>
                  <a:srgbClr val="0070C0"/>
                </a:solidFill>
              </a:rPr>
              <a:t>)</a:t>
            </a:r>
            <a:r>
              <a:rPr lang="de-DE" sz="1400" dirty="0" smtClean="0"/>
              <a:t> {  </a:t>
            </a:r>
            <a:br>
              <a:rPr lang="de-DE" sz="1400" dirty="0" smtClean="0"/>
            </a:br>
            <a:r>
              <a:rPr lang="de-DE" sz="1400" dirty="0" smtClean="0"/>
              <a:t>        </a:t>
            </a:r>
            <a:r>
              <a:rPr lang="de-DE" sz="1400" b="1" dirty="0" err="1" smtClean="0">
                <a:solidFill>
                  <a:srgbClr val="0070C0"/>
                </a:solidFill>
              </a:rPr>
              <a:t>if</a:t>
            </a:r>
            <a:r>
              <a:rPr lang="de-DE" sz="1400" b="1" dirty="0" smtClean="0">
                <a:solidFill>
                  <a:srgbClr val="0070C0"/>
                </a:solidFill>
              </a:rPr>
              <a:t> (</a:t>
            </a:r>
            <a:r>
              <a:rPr lang="de-DE" sz="1400" b="1" dirty="0" err="1" smtClean="0">
                <a:solidFill>
                  <a:srgbClr val="0070C0"/>
                </a:solidFill>
              </a:rPr>
              <a:t>instance</a:t>
            </a:r>
            <a:r>
              <a:rPr lang="de-DE" sz="1400" b="1" dirty="0" smtClean="0">
                <a:solidFill>
                  <a:srgbClr val="0070C0"/>
                </a:solidFill>
              </a:rPr>
              <a:t> == null)  </a:t>
            </a:r>
            <a:r>
              <a:rPr lang="de-DE" sz="1400" dirty="0" smtClean="0"/>
              <a:t/>
            </a:r>
            <a:br>
              <a:rPr lang="de-DE" sz="1400" dirty="0" smtClean="0"/>
            </a:br>
            <a:r>
              <a:rPr lang="de-DE" sz="1400" dirty="0" smtClean="0"/>
              <a:t>           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 = </a:t>
            </a:r>
            <a:r>
              <a:rPr lang="de-DE" sz="1400" dirty="0" err="1" smtClean="0"/>
              <a:t>new</a:t>
            </a:r>
            <a:r>
              <a:rPr lang="de-DE" sz="1400" dirty="0" smtClean="0"/>
              <a:t> Singleton();  </a:t>
            </a:r>
            <a:br>
              <a:rPr lang="de-DE" sz="1400" dirty="0" smtClean="0"/>
            </a:br>
            <a:r>
              <a:rPr lang="de-DE" sz="1400" dirty="0" smtClean="0"/>
              <a:t>     }</a:t>
            </a:r>
            <a:br>
              <a:rPr lang="de-DE" sz="1400" dirty="0" smtClean="0"/>
            </a:br>
            <a:r>
              <a:rPr lang="de-DE" sz="1400" dirty="0" smtClean="0"/>
              <a:t>  } </a:t>
            </a:r>
            <a:br>
              <a:rPr lang="de-DE" sz="1400" dirty="0" smtClean="0"/>
            </a:br>
            <a:r>
              <a:rPr lang="de-DE" sz="1400" dirty="0" smtClean="0"/>
              <a:t>  </a:t>
            </a:r>
            <a:r>
              <a:rPr lang="de-DE" sz="1400" dirty="0" err="1" smtClean="0"/>
              <a:t>return</a:t>
            </a:r>
            <a:r>
              <a:rPr lang="de-DE" sz="1400" dirty="0" smtClean="0"/>
              <a:t> 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; </a:t>
            </a:r>
            <a:br>
              <a:rPr lang="de-DE" sz="1400" dirty="0" smtClean="0"/>
            </a:br>
            <a:r>
              <a:rPr lang="de-DE" sz="1400" dirty="0" smtClean="0"/>
              <a:t>} </a:t>
            </a:r>
            <a:endParaRPr lang="de-DE" sz="1400" dirty="0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80988" y="1238250"/>
            <a:ext cx="9421812" cy="4733925"/>
          </a:xfrm>
          <a:prstGeom prst="rect">
            <a:avLst/>
          </a:prstGeom>
        </p:spPr>
        <p:txBody>
          <a:bodyPr/>
          <a:lstStyle/>
          <a:p>
            <a:pPr marL="285750" marR="0" lvl="0" indent="-285750" algn="l" defTabSz="630238" rtl="0" eaLnBrk="0" fontAlgn="base" latinLnBrk="0" hangingPunct="0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>
                <a:srgbClr val="00337F"/>
              </a:buClr>
              <a:buSzPct val="150000"/>
              <a:buFont typeface="Wingdings" pitchFamily="2" charset="2"/>
              <a:buBlip>
                <a:blip r:embed="rId3"/>
              </a:buBlip>
              <a:tabLst>
                <a:tab pos="285750" algn="l"/>
              </a:tabLst>
              <a:defRPr/>
            </a:pPr>
            <a:endParaRPr kumimoji="0" lang="de-DE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55197" y="4539574"/>
            <a:ext cx="4528088" cy="1559669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smtClean="0">
                <a:solidFill>
                  <a:srgbClr val="000000"/>
                </a:solidFill>
              </a:rPr>
              <a:t> </a:t>
            </a:r>
            <a:r>
              <a:rPr lang="de-DE" sz="1400" dirty="0" err="1" smtClean="0"/>
              <a:t>public</a:t>
            </a:r>
            <a:r>
              <a:rPr lang="de-DE" sz="1400" dirty="0" smtClean="0"/>
              <a:t> </a:t>
            </a:r>
            <a:r>
              <a:rPr lang="de-DE" sz="1400" dirty="0" err="1" smtClean="0"/>
              <a:t>static</a:t>
            </a:r>
            <a:r>
              <a:rPr lang="de-DE" sz="1400" dirty="0" smtClean="0"/>
              <a:t> Singleton </a:t>
            </a:r>
            <a:r>
              <a:rPr lang="de-DE" sz="1400" dirty="0" err="1" smtClean="0"/>
              <a:t>getInstance</a:t>
            </a:r>
            <a:r>
              <a:rPr lang="de-DE" sz="1400" dirty="0" smtClean="0"/>
              <a:t>() { </a:t>
            </a:r>
            <a:br>
              <a:rPr lang="de-DE" sz="1400" dirty="0" smtClean="0"/>
            </a:br>
            <a:r>
              <a:rPr lang="de-DE" sz="1400" dirty="0" smtClean="0"/>
              <a:t>  </a:t>
            </a:r>
            <a:r>
              <a:rPr lang="de-DE" sz="1400" b="1" dirty="0" err="1" smtClean="0">
                <a:solidFill>
                  <a:srgbClr val="0070C0"/>
                </a:solidFill>
              </a:rPr>
              <a:t>if</a:t>
            </a:r>
            <a:r>
              <a:rPr lang="de-DE" sz="1400" b="1" dirty="0" smtClean="0">
                <a:solidFill>
                  <a:srgbClr val="0070C0"/>
                </a:solidFill>
              </a:rPr>
              <a:t> (</a:t>
            </a:r>
            <a:r>
              <a:rPr lang="de-DE" sz="1400" b="1" dirty="0" err="1" smtClean="0">
                <a:solidFill>
                  <a:srgbClr val="0070C0"/>
                </a:solidFill>
              </a:rPr>
              <a:t>instance</a:t>
            </a:r>
            <a:r>
              <a:rPr lang="de-DE" sz="1400" b="1" dirty="0" smtClean="0">
                <a:solidFill>
                  <a:srgbClr val="0070C0"/>
                </a:solidFill>
              </a:rPr>
              <a:t> == null) </a:t>
            </a:r>
            <a:r>
              <a:rPr lang="de-DE" sz="1400" dirty="0" smtClean="0"/>
              <a:t>{ </a:t>
            </a:r>
            <a:br>
              <a:rPr lang="de-DE" sz="1400" dirty="0" smtClean="0"/>
            </a:br>
            <a:r>
              <a:rPr lang="de-DE" sz="1400" dirty="0" smtClean="0"/>
              <a:t>     </a:t>
            </a:r>
            <a:r>
              <a:rPr lang="de-DE" sz="1400" b="1" dirty="0" err="1" smtClean="0">
                <a:solidFill>
                  <a:srgbClr val="0070C0"/>
                </a:solidFill>
              </a:rPr>
              <a:t>synchronized</a:t>
            </a:r>
            <a:r>
              <a:rPr lang="de-DE" sz="1400" b="1" dirty="0" smtClean="0">
                <a:solidFill>
                  <a:srgbClr val="0070C0"/>
                </a:solidFill>
              </a:rPr>
              <a:t>(</a:t>
            </a:r>
            <a:r>
              <a:rPr lang="de-DE" sz="1400" b="1" dirty="0" err="1" smtClean="0">
                <a:solidFill>
                  <a:srgbClr val="0070C0"/>
                </a:solidFill>
              </a:rPr>
              <a:t>Singleton.class</a:t>
            </a:r>
            <a:r>
              <a:rPr lang="de-DE" sz="1400" b="1" dirty="0" smtClean="0">
                <a:solidFill>
                  <a:srgbClr val="0070C0"/>
                </a:solidFill>
              </a:rPr>
              <a:t>) </a:t>
            </a:r>
            <a:r>
              <a:rPr lang="de-DE" sz="1400" dirty="0" smtClean="0"/>
              <a:t>{   </a:t>
            </a:r>
            <a:br>
              <a:rPr lang="de-DE" sz="1400" dirty="0" smtClean="0"/>
            </a:br>
            <a:r>
              <a:rPr lang="de-DE" sz="1400" dirty="0" smtClean="0"/>
              <a:t>        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 = </a:t>
            </a:r>
            <a:r>
              <a:rPr lang="de-DE" sz="1400" dirty="0" err="1" smtClean="0"/>
              <a:t>new</a:t>
            </a:r>
            <a:r>
              <a:rPr lang="de-DE" sz="1400" dirty="0" smtClean="0"/>
              <a:t> Singleton();  </a:t>
            </a:r>
            <a:br>
              <a:rPr lang="de-DE" sz="1400" dirty="0" smtClean="0"/>
            </a:br>
            <a:r>
              <a:rPr lang="de-DE" sz="1400" dirty="0" smtClean="0"/>
              <a:t>     }</a:t>
            </a:r>
            <a:br>
              <a:rPr lang="de-DE" sz="1400" dirty="0" smtClean="0"/>
            </a:br>
            <a:r>
              <a:rPr lang="de-DE" sz="1400" dirty="0" smtClean="0"/>
              <a:t>  } </a:t>
            </a:r>
            <a:br>
              <a:rPr lang="de-DE" sz="1400" dirty="0" smtClean="0"/>
            </a:br>
            <a:r>
              <a:rPr lang="de-DE" sz="1400" dirty="0" smtClean="0"/>
              <a:t>  </a:t>
            </a:r>
            <a:r>
              <a:rPr lang="de-DE" sz="1400" dirty="0" err="1" smtClean="0"/>
              <a:t>return</a:t>
            </a:r>
            <a:r>
              <a:rPr lang="de-DE" sz="1400" dirty="0" smtClean="0"/>
              <a:t> 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; </a:t>
            </a:r>
            <a:br>
              <a:rPr lang="de-DE" sz="1400" dirty="0" smtClean="0"/>
            </a:br>
            <a:r>
              <a:rPr lang="de-DE" sz="1400" dirty="0" smtClean="0"/>
              <a:t>} </a:t>
            </a:r>
            <a:endParaRPr lang="de-DE" sz="1400" dirty="0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61682" y="1511031"/>
            <a:ext cx="4528088" cy="118353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smtClean="0">
                <a:solidFill>
                  <a:srgbClr val="000000"/>
                </a:solidFill>
              </a:rPr>
              <a:t> </a:t>
            </a:r>
            <a:r>
              <a:rPr lang="de-DE" sz="1400" dirty="0" err="1" smtClean="0"/>
              <a:t>public</a:t>
            </a:r>
            <a:r>
              <a:rPr lang="de-DE" sz="1400" dirty="0" smtClean="0"/>
              <a:t> </a:t>
            </a:r>
            <a:r>
              <a:rPr lang="de-DE" sz="1400" dirty="0" err="1" smtClean="0"/>
              <a:t>static</a:t>
            </a:r>
            <a:r>
              <a:rPr lang="de-DE" sz="1400" dirty="0" smtClean="0"/>
              <a:t> Singleton </a:t>
            </a:r>
            <a:r>
              <a:rPr lang="de-DE" sz="1400" dirty="0" err="1" smtClean="0"/>
              <a:t>getInstance</a:t>
            </a:r>
            <a:r>
              <a:rPr lang="de-DE" sz="1400" dirty="0" smtClean="0"/>
              <a:t>() { </a:t>
            </a:r>
            <a:br>
              <a:rPr lang="de-DE" sz="1400" dirty="0" smtClean="0"/>
            </a:br>
            <a:r>
              <a:rPr lang="de-DE" sz="1400" dirty="0" smtClean="0"/>
              <a:t>  </a:t>
            </a:r>
            <a:r>
              <a:rPr lang="de-DE" sz="1400" dirty="0" err="1" smtClean="0"/>
              <a:t>if</a:t>
            </a:r>
            <a:r>
              <a:rPr lang="de-DE" sz="1400" dirty="0" smtClean="0"/>
              <a:t> (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 == null) {  </a:t>
            </a:r>
            <a:br>
              <a:rPr lang="de-DE" sz="1400" dirty="0" smtClean="0"/>
            </a:br>
            <a:r>
              <a:rPr lang="de-DE" sz="1400" dirty="0" smtClean="0"/>
              <a:t>        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 = </a:t>
            </a:r>
            <a:r>
              <a:rPr lang="de-DE" sz="1400" dirty="0" err="1" smtClean="0"/>
              <a:t>new</a:t>
            </a:r>
            <a:r>
              <a:rPr lang="de-DE" sz="1400" dirty="0" smtClean="0"/>
              <a:t> Singleton();  </a:t>
            </a:r>
            <a:br>
              <a:rPr lang="de-DE" sz="1400" dirty="0" smtClean="0"/>
            </a:br>
            <a:r>
              <a:rPr lang="de-DE" sz="1400" dirty="0" smtClean="0"/>
              <a:t>  } </a:t>
            </a:r>
            <a:br>
              <a:rPr lang="de-DE" sz="1400" dirty="0" smtClean="0"/>
            </a:br>
            <a:r>
              <a:rPr lang="de-DE" sz="1400" dirty="0" smtClean="0"/>
              <a:t>  </a:t>
            </a:r>
            <a:r>
              <a:rPr lang="de-DE" sz="1400" dirty="0" err="1" smtClean="0"/>
              <a:t>return</a:t>
            </a:r>
            <a:r>
              <a:rPr lang="de-DE" sz="1400" dirty="0" smtClean="0"/>
              <a:t> 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; </a:t>
            </a:r>
            <a:br>
              <a:rPr lang="de-DE" sz="1400" dirty="0" smtClean="0"/>
            </a:br>
            <a:r>
              <a:rPr lang="de-DE" sz="1400" dirty="0" smtClean="0"/>
              <a:t>} </a:t>
            </a:r>
            <a:endParaRPr lang="de-DE" sz="1400" dirty="0">
              <a:solidFill>
                <a:srgbClr val="000000"/>
              </a:solidFill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58438" y="2782110"/>
            <a:ext cx="5750532" cy="11965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Clr>
                <a:srgbClr val="00337F"/>
              </a:buClr>
              <a:buSzPct val="150000"/>
              <a:tabLst>
                <a:tab pos="285750" algn="l"/>
              </a:tabLst>
            </a:pP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smtClean="0">
                <a:solidFill>
                  <a:srgbClr val="000000"/>
                </a:solidFill>
              </a:rPr>
              <a:t> </a:t>
            </a:r>
            <a:r>
              <a:rPr lang="de-DE" sz="1400" dirty="0" err="1" smtClean="0"/>
              <a:t>public</a:t>
            </a:r>
            <a:r>
              <a:rPr lang="de-DE" sz="1400" dirty="0" smtClean="0"/>
              <a:t> </a:t>
            </a:r>
            <a:r>
              <a:rPr lang="de-DE" sz="1400" dirty="0" err="1" smtClean="0"/>
              <a:t>static</a:t>
            </a:r>
            <a:r>
              <a:rPr lang="de-DE" sz="1400" dirty="0" smtClean="0"/>
              <a:t> </a:t>
            </a:r>
            <a:r>
              <a:rPr lang="de-DE" sz="1400" b="1" dirty="0" err="1" smtClean="0">
                <a:solidFill>
                  <a:srgbClr val="0070C0"/>
                </a:solidFill>
              </a:rPr>
              <a:t>synchronized</a:t>
            </a:r>
            <a:r>
              <a:rPr lang="de-DE" sz="1400" dirty="0" smtClean="0"/>
              <a:t> Singleton </a:t>
            </a:r>
            <a:r>
              <a:rPr lang="de-DE" sz="1400" dirty="0" err="1" smtClean="0"/>
              <a:t>getInstance</a:t>
            </a:r>
            <a:r>
              <a:rPr lang="de-DE" sz="1400" dirty="0" smtClean="0"/>
              <a:t>() { </a:t>
            </a:r>
            <a:br>
              <a:rPr lang="de-DE" sz="1400" dirty="0" smtClean="0"/>
            </a:br>
            <a:r>
              <a:rPr lang="de-DE" sz="1400" dirty="0" smtClean="0"/>
              <a:t>  </a:t>
            </a:r>
            <a:r>
              <a:rPr lang="de-DE" sz="1400" dirty="0" err="1" smtClean="0"/>
              <a:t>if</a:t>
            </a:r>
            <a:r>
              <a:rPr lang="de-DE" sz="1400" dirty="0" smtClean="0"/>
              <a:t> (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 == null) {  </a:t>
            </a:r>
            <a:br>
              <a:rPr lang="de-DE" sz="1400" dirty="0" smtClean="0"/>
            </a:br>
            <a:r>
              <a:rPr lang="de-DE" sz="1400" dirty="0" smtClean="0"/>
              <a:t>        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 = </a:t>
            </a:r>
            <a:r>
              <a:rPr lang="de-DE" sz="1400" dirty="0" err="1" smtClean="0"/>
              <a:t>new</a:t>
            </a:r>
            <a:r>
              <a:rPr lang="de-DE" sz="1400" dirty="0" smtClean="0"/>
              <a:t> Singleton();  </a:t>
            </a:r>
            <a:br>
              <a:rPr lang="de-DE" sz="1400" dirty="0" smtClean="0"/>
            </a:br>
            <a:r>
              <a:rPr lang="de-DE" sz="1400" dirty="0" smtClean="0"/>
              <a:t>  } </a:t>
            </a:r>
            <a:br>
              <a:rPr lang="de-DE" sz="1400" dirty="0" smtClean="0"/>
            </a:br>
            <a:r>
              <a:rPr lang="de-DE" sz="1400" dirty="0" smtClean="0"/>
              <a:t>  </a:t>
            </a:r>
            <a:r>
              <a:rPr lang="de-DE" sz="1400" dirty="0" err="1" smtClean="0"/>
              <a:t>return</a:t>
            </a:r>
            <a:r>
              <a:rPr lang="de-DE" sz="1400" dirty="0" smtClean="0"/>
              <a:t> </a:t>
            </a:r>
            <a:r>
              <a:rPr lang="de-DE" sz="1400" dirty="0" err="1" smtClean="0"/>
              <a:t>instance</a:t>
            </a:r>
            <a:r>
              <a:rPr lang="de-DE" sz="1400" dirty="0" smtClean="0"/>
              <a:t>; </a:t>
            </a:r>
            <a:br>
              <a:rPr lang="de-DE" sz="1400" dirty="0" smtClean="0"/>
            </a:br>
            <a:r>
              <a:rPr lang="de-DE" sz="1400" dirty="0" smtClean="0"/>
              <a:t>} </a:t>
            </a:r>
            <a:endParaRPr lang="de-DE" sz="1400" dirty="0">
              <a:solidFill>
                <a:srgbClr val="000000"/>
              </a:solidFill>
            </a:endParaRPr>
          </a:p>
        </p:txBody>
      </p:sp>
      <p:sp>
        <p:nvSpPr>
          <p:cNvPr id="15" name="Abgerundete rechteckige Legende 14"/>
          <p:cNvSpPr/>
          <p:nvPr/>
        </p:nvSpPr>
        <p:spPr bwMode="auto">
          <a:xfrm>
            <a:off x="5466945" y="1663429"/>
            <a:ext cx="1031132" cy="330741"/>
          </a:xfrm>
          <a:prstGeom prst="wedgeRoundRectCallout">
            <a:avLst>
              <a:gd name="adj1" fmla="val -104617"/>
              <a:gd name="adj2" fmla="val 44853"/>
              <a:gd name="adj3" fmla="val 16667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r>
              <a:rPr lang="de-DE" sz="1400" b="1" dirty="0" smtClean="0">
                <a:latin typeface="+mn-lt"/>
              </a:rPr>
              <a:t>Versuch 1</a:t>
            </a:r>
            <a:endParaRPr lang="de-DE" sz="1400" b="1" dirty="0">
              <a:latin typeface="+mn-lt"/>
            </a:endParaRPr>
          </a:p>
        </p:txBody>
      </p:sp>
      <p:sp>
        <p:nvSpPr>
          <p:cNvPr id="16" name="Abgerundete rechteckige Legende 15"/>
          <p:cNvSpPr/>
          <p:nvPr/>
        </p:nvSpPr>
        <p:spPr bwMode="auto">
          <a:xfrm>
            <a:off x="6679660" y="2769140"/>
            <a:ext cx="1031132" cy="330741"/>
          </a:xfrm>
          <a:prstGeom prst="wedgeRoundRectCallout">
            <a:avLst>
              <a:gd name="adj1" fmla="val -104617"/>
              <a:gd name="adj2" fmla="val 44853"/>
              <a:gd name="adj3" fmla="val 16667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r>
              <a:rPr lang="de-DE" sz="1400" b="1" dirty="0" smtClean="0">
                <a:latin typeface="+mn-lt"/>
              </a:rPr>
              <a:t>Versuch 2</a:t>
            </a:r>
            <a:endParaRPr lang="de-DE" sz="1400" b="1" dirty="0">
              <a:latin typeface="+mn-lt"/>
            </a:endParaRPr>
          </a:p>
        </p:txBody>
      </p:sp>
      <p:sp>
        <p:nvSpPr>
          <p:cNvPr id="17" name="Abgerundete rechteckige Legende 16"/>
          <p:cNvSpPr/>
          <p:nvPr/>
        </p:nvSpPr>
        <p:spPr bwMode="auto">
          <a:xfrm>
            <a:off x="8576554" y="3313880"/>
            <a:ext cx="1031132" cy="330741"/>
          </a:xfrm>
          <a:prstGeom prst="wedgeRoundRectCallout">
            <a:avLst>
              <a:gd name="adj1" fmla="val -84806"/>
              <a:gd name="adj2" fmla="val 177206"/>
              <a:gd name="adj3" fmla="val 16667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r>
              <a:rPr lang="de-DE" sz="1400" b="1" dirty="0" smtClean="0">
                <a:latin typeface="+mn-lt"/>
              </a:rPr>
              <a:t>Versuch 4</a:t>
            </a:r>
            <a:endParaRPr lang="de-DE" sz="1400" b="1" dirty="0">
              <a:latin typeface="+mn-lt"/>
            </a:endParaRPr>
          </a:p>
        </p:txBody>
      </p:sp>
      <p:sp>
        <p:nvSpPr>
          <p:cNvPr id="18" name="Abgerundete rechteckige Legende 17"/>
          <p:cNvSpPr/>
          <p:nvPr/>
        </p:nvSpPr>
        <p:spPr bwMode="auto">
          <a:xfrm>
            <a:off x="3096639" y="4079131"/>
            <a:ext cx="1031132" cy="330741"/>
          </a:xfrm>
          <a:prstGeom prst="wedgeRoundRectCallout">
            <a:avLst>
              <a:gd name="adj1" fmla="val -100844"/>
              <a:gd name="adj2" fmla="val 88971"/>
              <a:gd name="adj3" fmla="val 16667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r>
              <a:rPr lang="de-DE" sz="1400" b="1" dirty="0" smtClean="0">
                <a:latin typeface="+mn-lt"/>
              </a:rPr>
              <a:t>Versuch 3</a:t>
            </a:r>
            <a:endParaRPr lang="de-DE" sz="1400" b="1" dirty="0">
              <a:latin typeface="+mn-lt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6254886" y="5826868"/>
            <a:ext cx="2436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Funktioniert das???</a:t>
            </a:r>
            <a:endParaRPr lang="de-DE" sz="20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1" grpId="0" animBg="1" autoUpdateAnimBg="0"/>
      <p:bldP spid="12" grpId="0" animBg="1" autoUpdateAnimBg="0"/>
      <p:bldP spid="13" grpId="0" animBg="1" autoUpdateAnimBg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/>
          <a:p>
            <a:pPr defTabSz="1397000">
              <a:tabLst>
                <a:tab pos="8115300" algn="l"/>
              </a:tabLst>
              <a:defRPr/>
            </a:pPr>
            <a:r>
              <a:rPr lang="de-DE" dirty="0" smtClean="0">
                <a:latin typeface="+mn-lt"/>
              </a:rPr>
              <a:t>FH Rosenheim                     Programmieren 3                              Wintersemester 2015                                   © 2015  • Stand 01.12.14 •   Kapitel 7        </a:t>
            </a:r>
            <a:endParaRPr lang="en-GB" sz="1000" dirty="0">
              <a:latin typeface="+mn-lt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Zusammenfassung Threads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Threads sind ein wichtiges und häufig verwendetes Konzept in der fortgeschrittenen Programmierung</a:t>
            </a:r>
          </a:p>
          <a:p>
            <a:r>
              <a:rPr lang="de-DE" smtClean="0"/>
              <a:t>Threads müssen sauber programmiert werden sonst kann es zu schwer auffindbaren Programmfehlern führen</a:t>
            </a:r>
          </a:p>
          <a:p>
            <a:r>
              <a:rPr lang="de-DE" smtClean="0"/>
              <a:t>In Java werden Threads durch die Sprache sehr gut unterstützt</a:t>
            </a:r>
          </a:p>
          <a:p>
            <a:r>
              <a:rPr lang="de-DE" smtClean="0"/>
              <a:t>Zum wechselseitigen Ausschluss beim konkurrierenden Zugriff auf Objekte gibt es Sprachkonstrukte (synchronized, wait, notify)</a:t>
            </a:r>
          </a:p>
          <a:p>
            <a:r>
              <a:rPr lang="de-DE" smtClean="0"/>
              <a:t>Das Erzeuger/Verbraucher-Problem kann durch Threads gelöst werden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rvice_demo">
  <a:themeElements>
    <a:clrScheme name="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C5C1B9"/>
      </a:accent1>
      <a:accent2>
        <a:srgbClr val="0052BA"/>
      </a:accent2>
      <a:accent3>
        <a:srgbClr val="FFFFFF"/>
      </a:accent3>
      <a:accent4>
        <a:srgbClr val="000000"/>
      </a:accent4>
      <a:accent5>
        <a:srgbClr val="DFDDD9"/>
      </a:accent5>
      <a:accent6>
        <a:srgbClr val="0049A8"/>
      </a:accent6>
      <a:hlink>
        <a:srgbClr val="FF0000"/>
      </a:hlink>
      <a:folHlink>
        <a:srgbClr val="FFCC00"/>
      </a:folHlink>
    </a:clrScheme>
    <a:fontScheme name="service_dem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DECFF"/>
        </a:solidFill>
        <a:ln w="9525">
          <a:solidFill>
            <a:schemeClr val="tx1"/>
          </a:solidFill>
          <a:miter lim="800000"/>
          <a:headEnd/>
          <a:tailEnd/>
        </a:ln>
      </a:spPr>
      <a:bodyPr wrap="none" anchor="ctr"/>
      <a:lstStyle>
        <a:defPPr algn="ctr">
          <a:buClrTx/>
          <a:buFontTx/>
          <a:buNone/>
          <a:defRPr sz="1400" b="1"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>
            <a:alpha val="50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lnDef>
  </a:objectDefaults>
  <a:extraClrSchemeLst>
    <a:extraClrScheme>
      <a:clrScheme name="service_demo 1">
        <a:dk1>
          <a:srgbClr val="5F5F5F"/>
        </a:dk1>
        <a:lt1>
          <a:srgbClr val="FFFFFF"/>
        </a:lt1>
        <a:dk2>
          <a:srgbClr val="000000"/>
        </a:dk2>
        <a:lt2>
          <a:srgbClr val="333333"/>
        </a:lt2>
        <a:accent1>
          <a:srgbClr val="009999"/>
        </a:accent1>
        <a:accent2>
          <a:srgbClr val="0033CC"/>
        </a:accent2>
        <a:accent3>
          <a:srgbClr val="FFFFFF"/>
        </a:accent3>
        <a:accent4>
          <a:srgbClr val="505050"/>
        </a:accent4>
        <a:accent5>
          <a:srgbClr val="AACACA"/>
        </a:accent5>
        <a:accent6>
          <a:srgbClr val="002DB9"/>
        </a:accent6>
        <a:hlink>
          <a:srgbClr val="CC0066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D:\memIQ\Application\Demos\service_demo.pot</Template>
  <TotalTime>0</TotalTime>
  <Words>2887</Words>
  <Application>Microsoft Office PowerPoint</Application>
  <PresentationFormat>A4-Papier (210x297 mm)</PresentationFormat>
  <Paragraphs>541</Paragraphs>
  <Slides>33</Slides>
  <Notes>29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42" baseType="lpstr">
      <vt:lpstr>Arial Unicode MS</vt:lpstr>
      <vt:lpstr>Arial</vt:lpstr>
      <vt:lpstr>Courier New</vt:lpstr>
      <vt:lpstr>Tahoma</vt:lpstr>
      <vt:lpstr>Times</vt:lpstr>
      <vt:lpstr>Times New Roman</vt:lpstr>
      <vt:lpstr>Wingdings</vt:lpstr>
      <vt:lpstr>Zapf Dingbats</vt:lpstr>
      <vt:lpstr>service_demo</vt:lpstr>
      <vt:lpstr>Programmieren 3</vt:lpstr>
      <vt:lpstr>Was ist eigentlich ein Thread? </vt:lpstr>
      <vt:lpstr>Warum eigentlich Threads verwenden?</vt:lpstr>
      <vt:lpstr>Ausnutzen von Parallelität</vt:lpstr>
      <vt:lpstr>Haben Threads auch Nachteile?</vt:lpstr>
      <vt:lpstr>Die Klasse Thread </vt:lpstr>
      <vt:lpstr>Implementieren von Threads </vt:lpstr>
      <vt:lpstr>Beispiel TwoThread</vt:lpstr>
      <vt:lpstr>Zwei Threads, eine Ressource (1) </vt:lpstr>
      <vt:lpstr>Zwei Threads, eine Ressource (2)  </vt:lpstr>
      <vt:lpstr>Zwei Threads, eine Ressource (3)  </vt:lpstr>
      <vt:lpstr>Synchronisation (1)</vt:lpstr>
      <vt:lpstr>Synchronisation (2)</vt:lpstr>
      <vt:lpstr>Synchronisation über Block</vt:lpstr>
      <vt:lpstr>Synchronisation über Methode</vt:lpstr>
      <vt:lpstr>Zwei Threads, eine synchronisierte Ressource</vt:lpstr>
      <vt:lpstr>Wann synchronized nicht gut genug ist</vt:lpstr>
      <vt:lpstr>Kommunikation zwischen Threads</vt:lpstr>
      <vt:lpstr>wait, notify, notifyAll</vt:lpstr>
      <vt:lpstr>Erzeuger/Verbraucher-Problem</vt:lpstr>
      <vt:lpstr>Das Einfügen von Objekten in den Puffer</vt:lpstr>
      <vt:lpstr>Das Auslesen von Objekten in den Puffer</vt:lpstr>
      <vt:lpstr>Der Erzeuger</vt:lpstr>
      <vt:lpstr>Der Verbraucher</vt:lpstr>
      <vt:lpstr>Ein Hauptprogramm </vt:lpstr>
      <vt:lpstr> </vt:lpstr>
      <vt:lpstr>PowerPoint-Präsentation</vt:lpstr>
      <vt:lpstr>Übergangsdiagramm von Thread-Zuständen</vt:lpstr>
      <vt:lpstr>Thread-Beispiel (sleep und interrupt) </vt:lpstr>
      <vt:lpstr>Das Stoppen von Threads</vt:lpstr>
      <vt:lpstr>Thread-Beispiel (join) </vt:lpstr>
      <vt:lpstr>Bugpattern für Threads: Double Checked Locking</vt:lpstr>
      <vt:lpstr>Zusammenfassung Threads</vt:lpstr>
    </vt:vector>
  </TitlesOfParts>
  <Manager/>
  <Company>FH Rosenheim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Programmieren 2</dc:title>
  <dc:creator>Reiner Hüttl</dc:creator>
  <cp:lastModifiedBy>Martin Binder</cp:lastModifiedBy>
  <cp:revision>621</cp:revision>
  <cp:lastPrinted>1999-09-29T11:43:23Z</cp:lastPrinted>
  <dcterms:created xsi:type="dcterms:W3CDTF">1999-09-08T07:38:49Z</dcterms:created>
  <dcterms:modified xsi:type="dcterms:W3CDTF">2015-12-21T10:16:36Z</dcterms:modified>
</cp:coreProperties>
</file>