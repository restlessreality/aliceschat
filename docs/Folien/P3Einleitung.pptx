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14"/>
  </p:notesMasterIdLst>
  <p:handoutMasterIdLst>
    <p:handoutMasterId r:id="rId15"/>
  </p:handoutMasterIdLst>
  <p:sldIdLst>
    <p:sldId id="331" r:id="rId2"/>
    <p:sldId id="350" r:id="rId3"/>
    <p:sldId id="572" r:id="rId4"/>
    <p:sldId id="573" r:id="rId5"/>
    <p:sldId id="576" r:id="rId6"/>
    <p:sldId id="574" r:id="rId7"/>
    <p:sldId id="575" r:id="rId8"/>
    <p:sldId id="405" r:id="rId9"/>
    <p:sldId id="361" r:id="rId10"/>
    <p:sldId id="515" r:id="rId11"/>
    <p:sldId id="506" r:id="rId12"/>
    <p:sldId id="577" r:id="rId13"/>
  </p:sldIdLst>
  <p:sldSz cx="9906000" cy="6858000" type="A4"/>
  <p:notesSz cx="7099300" cy="10234613"/>
  <p:defaultTextStyle>
    <a:defPPr>
      <a:defRPr lang="en-US"/>
    </a:defPPr>
    <a:lvl1pPr algn="l" rtl="0" eaLnBrk="0" fontAlgn="base" hangingPunct="0">
      <a:lnSpc>
        <a:spcPct val="110000"/>
      </a:lnSpc>
      <a:spcBef>
        <a:spcPct val="30000"/>
      </a:spcBef>
      <a:spcAft>
        <a:spcPct val="0"/>
      </a:spcAft>
      <a:buClr>
        <a:srgbClr val="00337F"/>
      </a:buClr>
      <a:buSzPct val="150000"/>
      <a:buFont typeface="Wingdings" pitchFamily="2" charset="2"/>
      <a:defRPr sz="1400" kern="1200">
        <a:solidFill>
          <a:srgbClr val="000000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lnSpc>
        <a:spcPct val="110000"/>
      </a:lnSpc>
      <a:spcBef>
        <a:spcPct val="30000"/>
      </a:spcBef>
      <a:spcAft>
        <a:spcPct val="0"/>
      </a:spcAft>
      <a:buClr>
        <a:srgbClr val="00337F"/>
      </a:buClr>
      <a:buSzPct val="150000"/>
      <a:buFont typeface="Wingdings" pitchFamily="2" charset="2"/>
      <a:defRPr sz="1400" kern="1200">
        <a:solidFill>
          <a:srgbClr val="000000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lnSpc>
        <a:spcPct val="110000"/>
      </a:lnSpc>
      <a:spcBef>
        <a:spcPct val="30000"/>
      </a:spcBef>
      <a:spcAft>
        <a:spcPct val="0"/>
      </a:spcAft>
      <a:buClr>
        <a:srgbClr val="00337F"/>
      </a:buClr>
      <a:buSzPct val="150000"/>
      <a:buFont typeface="Wingdings" pitchFamily="2" charset="2"/>
      <a:defRPr sz="1400" kern="1200">
        <a:solidFill>
          <a:srgbClr val="000000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lnSpc>
        <a:spcPct val="110000"/>
      </a:lnSpc>
      <a:spcBef>
        <a:spcPct val="30000"/>
      </a:spcBef>
      <a:spcAft>
        <a:spcPct val="0"/>
      </a:spcAft>
      <a:buClr>
        <a:srgbClr val="00337F"/>
      </a:buClr>
      <a:buSzPct val="150000"/>
      <a:buFont typeface="Wingdings" pitchFamily="2" charset="2"/>
      <a:defRPr sz="1400" kern="1200">
        <a:solidFill>
          <a:srgbClr val="000000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lnSpc>
        <a:spcPct val="110000"/>
      </a:lnSpc>
      <a:spcBef>
        <a:spcPct val="30000"/>
      </a:spcBef>
      <a:spcAft>
        <a:spcPct val="0"/>
      </a:spcAft>
      <a:buClr>
        <a:srgbClr val="00337F"/>
      </a:buClr>
      <a:buSzPct val="150000"/>
      <a:buFont typeface="Wingdings" pitchFamily="2" charset="2"/>
      <a:defRPr sz="1400" kern="1200">
        <a:solidFill>
          <a:srgbClr val="000000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18">
          <p15:clr>
            <a:srgbClr val="A4A3A4"/>
          </p15:clr>
        </p15:guide>
        <p15:guide id="2" pos="1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  <a:srgbClr val="FFFF99"/>
    <a:srgbClr val="C0C0C0"/>
    <a:srgbClr val="9C9C9C"/>
    <a:srgbClr val="AFAFAF"/>
    <a:srgbClr val="D1D1D1"/>
    <a:srgbClr val="CC0000"/>
    <a:srgbClr val="DDDDDD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2" autoAdjust="0"/>
    <p:restoredTop sz="80570" autoAdjust="0"/>
  </p:normalViewPr>
  <p:slideViewPr>
    <p:cSldViewPr snapToGrid="0">
      <p:cViewPr varScale="1">
        <p:scale>
          <a:sx n="91" d="100"/>
          <a:sy n="91" d="100"/>
        </p:scale>
        <p:origin x="2160" y="84"/>
      </p:cViewPr>
      <p:guideLst>
        <p:guide orient="horz" pos="1318"/>
        <p:guide pos="1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66" d="100"/>
          <a:sy n="66" d="100"/>
        </p:scale>
        <p:origin x="4164" y="462"/>
      </p:cViewPr>
      <p:guideLst>
        <p:guide orient="horz" pos="3224"/>
        <p:guide pos="22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t" anchorCtr="0" compatLnSpc="1">
            <a:prstTxWarp prst="textNoShape">
              <a:avLst/>
            </a:prstTxWarp>
          </a:bodyPr>
          <a:lstStyle>
            <a:lvl1pPr defTabSz="96202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t" anchorCtr="0" compatLnSpc="1">
            <a:prstTxWarp prst="textNoShape">
              <a:avLst/>
            </a:prstTxWarp>
          </a:bodyPr>
          <a:lstStyle>
            <a:lvl1pPr algn="r" defTabSz="96202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b" anchorCtr="0" compatLnSpc="1">
            <a:prstTxWarp prst="textNoShape">
              <a:avLst/>
            </a:prstTxWarp>
          </a:bodyPr>
          <a:lstStyle>
            <a:lvl1pPr defTabSz="96202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b" anchorCtr="0" compatLnSpc="1">
            <a:prstTxWarp prst="textNoShape">
              <a:avLst/>
            </a:prstTxWarp>
          </a:bodyPr>
          <a:lstStyle>
            <a:lvl1pPr algn="r" defTabSz="96202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300">
                <a:solidFill>
                  <a:schemeClr val="tx1"/>
                </a:solidFill>
                <a:latin typeface="Times" pitchFamily="18" charset="0"/>
              </a:defRPr>
            </a:lvl1pPr>
          </a:lstStyle>
          <a:p>
            <a:fld id="{89BFC5B0-EC22-4334-AED4-F7EFBBA3AB67}" type="slidenum">
              <a:rPr lang="en-US" altLang="en-US"/>
              <a:pPr/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85006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ctr" anchorCtr="0" compatLnSpc="1">
            <a:prstTxWarp prst="textNoShape">
              <a:avLst/>
            </a:prstTxWarp>
          </a:bodyPr>
          <a:lstStyle>
            <a:lvl1pPr defTabSz="962025">
              <a:lnSpc>
                <a:spcPct val="100000"/>
              </a:lnSpc>
              <a:spcBef>
                <a:spcPct val="50000"/>
              </a:spcBef>
              <a:buClr>
                <a:srgbClr val="6699FF"/>
              </a:buClr>
              <a:buSzTx/>
              <a:buFont typeface="Zapf Dingbats" charset="2"/>
              <a:buChar char="n"/>
              <a:defRPr sz="1300" b="1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ctr" anchorCtr="0" compatLnSpc="1">
            <a:prstTxWarp prst="textNoShape">
              <a:avLst/>
            </a:prstTxWarp>
          </a:bodyPr>
          <a:lstStyle>
            <a:lvl1pPr algn="r" defTabSz="962025">
              <a:lnSpc>
                <a:spcPct val="100000"/>
              </a:lnSpc>
              <a:spcBef>
                <a:spcPct val="50000"/>
              </a:spcBef>
              <a:buClr>
                <a:srgbClr val="6699FF"/>
              </a:buClr>
              <a:buSzTx/>
              <a:buFont typeface="Zapf Dingbats" charset="2"/>
              <a:buChar char="n"/>
              <a:defRPr sz="1300" b="1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58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9463" y="768350"/>
            <a:ext cx="554196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104900" y="5116513"/>
            <a:ext cx="5203825" cy="43497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b" anchorCtr="0" compatLnSpc="1">
            <a:prstTxWarp prst="textNoShape">
              <a:avLst/>
            </a:prstTxWarp>
          </a:bodyPr>
          <a:lstStyle>
            <a:lvl1pPr defTabSz="962025">
              <a:lnSpc>
                <a:spcPct val="100000"/>
              </a:lnSpc>
              <a:spcBef>
                <a:spcPct val="50000"/>
              </a:spcBef>
              <a:buClr>
                <a:srgbClr val="6699FF"/>
              </a:buClr>
              <a:buSzTx/>
              <a:buFont typeface="Zapf Dingbats" charset="2"/>
              <a:buChar char="n"/>
              <a:defRPr sz="1300" b="1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b" anchorCtr="0" compatLnSpc="1">
            <a:prstTxWarp prst="textNoShape">
              <a:avLst/>
            </a:prstTxWarp>
          </a:bodyPr>
          <a:lstStyle>
            <a:lvl1pPr algn="r" defTabSz="962025">
              <a:lnSpc>
                <a:spcPct val="100000"/>
              </a:lnSpc>
              <a:spcBef>
                <a:spcPct val="50000"/>
              </a:spcBef>
              <a:buClr>
                <a:srgbClr val="6699FF"/>
              </a:buClr>
              <a:buSzTx/>
              <a:buFont typeface="Zapf Dingbats" charset="2"/>
              <a:buChar char="n"/>
              <a:defRPr sz="1300" b="1">
                <a:solidFill>
                  <a:schemeClr val="tx1"/>
                </a:solidFill>
                <a:latin typeface="Arial" charset="0"/>
              </a:defRPr>
            </a:lvl1pPr>
          </a:lstStyle>
          <a:p>
            <a:fld id="{AA3A5269-EA20-4050-B9D0-5EBEFF2C3A20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2932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BE15C0-99A3-4307-9659-2D33913A9C94}" type="slidenum">
              <a:rPr lang="en-US"/>
              <a:pPr/>
              <a:t>1</a:t>
            </a:fld>
            <a:endParaRPr lang="en-US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8967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33C77A-7880-4870-A174-4F48FCF492B5}" type="slidenum">
              <a:rPr lang="en-US"/>
              <a:pPr/>
              <a:t>2</a:t>
            </a:fld>
            <a:endParaRPr lang="en-US"/>
          </a:p>
        </p:txBody>
      </p:sp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5882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3A83FC-50A3-46BE-AD81-7B35EDFC870A}" type="slidenum">
              <a:rPr lang="en-US"/>
              <a:pPr/>
              <a:t>4</a:t>
            </a:fld>
            <a:endParaRPr lang="en-US"/>
          </a:p>
        </p:txBody>
      </p:sp>
      <p:sp>
        <p:nvSpPr>
          <p:cNvPr id="86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 Redundanz: -&gt; DRY </a:t>
            </a:r>
            <a:r>
              <a:rPr lang="de-DE" dirty="0" err="1" smtClean="0"/>
              <a:t>Don‘t</a:t>
            </a:r>
            <a:r>
              <a:rPr lang="de-DE" dirty="0" smtClean="0"/>
              <a:t> </a:t>
            </a:r>
            <a:r>
              <a:rPr lang="de-DE" dirty="0" err="1" smtClean="0"/>
              <a:t>repeat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yourself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2308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1CD25B-F39C-41C7-A788-199791DC51C3}" type="slidenum">
              <a:rPr lang="en-US"/>
              <a:pPr/>
              <a:t>5</a:t>
            </a:fld>
            <a:endParaRPr lang="en-US"/>
          </a:p>
        </p:txBody>
      </p:sp>
      <p:sp>
        <p:nvSpPr>
          <p:cNvPr id="87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082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978973-8E3C-4B77-9954-E35B2F8AF5A7}" type="slidenum">
              <a:rPr lang="en-US"/>
              <a:pPr/>
              <a:t>6</a:t>
            </a:fld>
            <a:endParaRPr lang="en-US"/>
          </a:p>
        </p:txBody>
      </p:sp>
      <p:sp>
        <p:nvSpPr>
          <p:cNvPr id="86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7875" y="768350"/>
            <a:ext cx="5543550" cy="3838575"/>
          </a:xfrm>
          <a:ln/>
        </p:spPr>
      </p:sp>
      <p:sp>
        <p:nvSpPr>
          <p:cNvPr id="86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1428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590CC6-A31E-4CFF-8558-490D3757B48E}" type="slidenum">
              <a:rPr lang="en-US"/>
              <a:pPr/>
              <a:t>7</a:t>
            </a:fld>
            <a:endParaRPr lang="en-US"/>
          </a:p>
        </p:txBody>
      </p:sp>
      <p:sp>
        <p:nvSpPr>
          <p:cNvPr id="87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 smtClean="0"/>
              <a:t>Wartbarer</a:t>
            </a:r>
            <a:r>
              <a:rPr lang="de-DE" b="1" baseline="0" dirty="0" smtClean="0"/>
              <a:t> Code:</a:t>
            </a:r>
          </a:p>
          <a:p>
            <a:pPr marL="171450" indent="-171450">
              <a:buFontTx/>
              <a:buChar char="-"/>
            </a:pPr>
            <a:r>
              <a:rPr lang="de-DE" baseline="0" dirty="0" smtClean="0"/>
              <a:t>Nach einigen Jahren kann ich immer noch gleich schnell Code entwickeln</a:t>
            </a:r>
          </a:p>
          <a:p>
            <a:pPr marL="171450" indent="-171450">
              <a:buFontTx/>
              <a:buChar char="-"/>
            </a:pPr>
            <a:r>
              <a:rPr lang="de-DE" baseline="0" dirty="0" smtClean="0"/>
              <a:t>Ein beliebiger Entwickler auf der Straße versteht den Code</a:t>
            </a:r>
          </a:p>
          <a:p>
            <a:pPr marL="171450" indent="-171450">
              <a:buFontTx/>
              <a:buChar char="-"/>
            </a:pPr>
            <a:endParaRPr lang="de-DE" baseline="0" dirty="0"/>
          </a:p>
          <a:p>
            <a:pPr marL="0" indent="0">
              <a:buFontTx/>
              <a:buNone/>
            </a:pPr>
            <a:r>
              <a:rPr lang="de-DE" baseline="0" dirty="0" smtClean="0"/>
              <a:t>(Adam Bien, Juni 2015, Vortrag an der FH Rosenheim)</a:t>
            </a:r>
          </a:p>
        </p:txBody>
      </p:sp>
    </p:spTree>
    <p:extLst>
      <p:ext uri="{BB962C8B-B14F-4D97-AF65-F5344CB8AC3E}">
        <p14:creationId xmlns:p14="http://schemas.microsoft.com/office/powerpoint/2010/main" val="38276602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96C8E1-D5EA-4D4A-8069-9B9D7C3EA531}" type="slidenum">
              <a:rPr lang="en-US"/>
              <a:pPr/>
              <a:t>8</a:t>
            </a:fld>
            <a:endParaRPr lang="en-US"/>
          </a:p>
        </p:txBody>
      </p:sp>
      <p:sp>
        <p:nvSpPr>
          <p:cNvPr id="642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8713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96F381-6DAC-45E1-9557-274D28495E5D}" type="slidenum">
              <a:rPr lang="en-US"/>
              <a:pPr/>
              <a:t>9</a:t>
            </a:fld>
            <a:endParaRPr lang="en-US"/>
          </a:p>
        </p:txBody>
      </p:sp>
      <p:sp>
        <p:nvSpPr>
          <p:cNvPr id="360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8835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47C47E-4E48-483B-8CC6-5CCB4601C44E}" type="slidenum">
              <a:rPr lang="en-US"/>
              <a:pPr/>
              <a:t>10</a:t>
            </a:fld>
            <a:endParaRPr lang="en-US"/>
          </a:p>
        </p:txBody>
      </p:sp>
      <p:sp>
        <p:nvSpPr>
          <p:cNvPr id="633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0424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59EC0F-2F88-4885-8D12-7EE68D50A929}" type="slidenum">
              <a:rPr lang="en-US"/>
              <a:pPr/>
              <a:t>11</a:t>
            </a:fld>
            <a:endParaRPr lang="en-US"/>
          </a:p>
        </p:txBody>
      </p:sp>
      <p:sp>
        <p:nvSpPr>
          <p:cNvPr id="611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1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7555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57250" y="1381125"/>
            <a:ext cx="8780463" cy="366713"/>
          </a:xfrm>
          <a:ln w="12700">
            <a:headEnd type="none" w="sm" len="sm"/>
            <a:tailEnd type="none" w="sm" len="sm"/>
          </a:ln>
          <a:effectLst/>
        </p:spPr>
        <p:txBody>
          <a:bodyPr lIns="91440" tIns="45720" rIns="91440" bIns="45720">
            <a:spAutoFit/>
          </a:bodyPr>
          <a:lstStyle>
            <a:lvl1pPr marL="0" indent="0" defTabSz="914400">
              <a:spcBef>
                <a:spcPct val="50000"/>
              </a:spcBef>
              <a:buClr>
                <a:srgbClr val="6699FF"/>
              </a:buClr>
              <a:buSzTx/>
              <a:buFont typeface="Zapf Dingbats" charset="2"/>
              <a:buNone/>
              <a:tabLst/>
              <a:defRPr sz="1800">
                <a:solidFill>
                  <a:schemeClr val="tx1"/>
                </a:solidFill>
              </a:defRPr>
            </a:lvl1pPr>
          </a:lstStyle>
          <a:p>
            <a:r>
              <a:rPr lang="de-DE"/>
              <a:t>Click to edit Master subtitle style</a:t>
            </a:r>
          </a:p>
        </p:txBody>
      </p:sp>
      <p:grpSp>
        <p:nvGrpSpPr>
          <p:cNvPr id="273419" name="Group 11"/>
          <p:cNvGrpSpPr>
            <a:grpSpLocks/>
          </p:cNvGrpSpPr>
          <p:nvPr userDrawn="1"/>
        </p:nvGrpSpPr>
        <p:grpSpPr bwMode="auto">
          <a:xfrm>
            <a:off x="1003300" y="6149975"/>
            <a:ext cx="363538" cy="334963"/>
            <a:chOff x="1306" y="3863"/>
            <a:chExt cx="229" cy="211"/>
          </a:xfrm>
        </p:grpSpPr>
        <p:sp>
          <p:nvSpPr>
            <p:cNvPr id="273414" name="Freeform 6"/>
            <p:cNvSpPr>
              <a:spLocks/>
            </p:cNvSpPr>
            <p:nvPr/>
          </p:nvSpPr>
          <p:spPr bwMode="auto">
            <a:xfrm>
              <a:off x="1306" y="3863"/>
              <a:ext cx="229" cy="211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779" y="0"/>
                </a:cxn>
                <a:cxn ang="0">
                  <a:pos x="794" y="0"/>
                </a:cxn>
                <a:cxn ang="0">
                  <a:pos x="809" y="5"/>
                </a:cxn>
                <a:cxn ang="0">
                  <a:pos x="821" y="9"/>
                </a:cxn>
                <a:cxn ang="0">
                  <a:pos x="833" y="17"/>
                </a:cxn>
                <a:cxn ang="0">
                  <a:pos x="840" y="26"/>
                </a:cxn>
                <a:cxn ang="0">
                  <a:pos x="845" y="38"/>
                </a:cxn>
                <a:cxn ang="0">
                  <a:pos x="850" y="52"/>
                </a:cxn>
                <a:cxn ang="0">
                  <a:pos x="851" y="71"/>
                </a:cxn>
                <a:cxn ang="0">
                  <a:pos x="851" y="776"/>
                </a:cxn>
                <a:cxn ang="0">
                  <a:pos x="850" y="779"/>
                </a:cxn>
                <a:cxn ang="0">
                  <a:pos x="850" y="783"/>
                </a:cxn>
                <a:cxn ang="0">
                  <a:pos x="850" y="791"/>
                </a:cxn>
                <a:cxn ang="0">
                  <a:pos x="845" y="805"/>
                </a:cxn>
                <a:cxn ang="0">
                  <a:pos x="840" y="818"/>
                </a:cxn>
                <a:cxn ang="0">
                  <a:pos x="833" y="829"/>
                </a:cxn>
                <a:cxn ang="0">
                  <a:pos x="821" y="836"/>
                </a:cxn>
                <a:cxn ang="0">
                  <a:pos x="809" y="842"/>
                </a:cxn>
                <a:cxn ang="0">
                  <a:pos x="794" y="846"/>
                </a:cxn>
                <a:cxn ang="0">
                  <a:pos x="786" y="846"/>
                </a:cxn>
                <a:cxn ang="0">
                  <a:pos x="782" y="846"/>
                </a:cxn>
                <a:cxn ang="0">
                  <a:pos x="779" y="848"/>
                </a:cxn>
                <a:cxn ang="0">
                  <a:pos x="72" y="848"/>
                </a:cxn>
                <a:cxn ang="0">
                  <a:pos x="53" y="846"/>
                </a:cxn>
                <a:cxn ang="0">
                  <a:pos x="39" y="842"/>
                </a:cxn>
                <a:cxn ang="0">
                  <a:pos x="26" y="836"/>
                </a:cxn>
                <a:cxn ang="0">
                  <a:pos x="17" y="829"/>
                </a:cxn>
                <a:cxn ang="0">
                  <a:pos x="8" y="818"/>
                </a:cxn>
                <a:cxn ang="0">
                  <a:pos x="4" y="805"/>
                </a:cxn>
                <a:cxn ang="0">
                  <a:pos x="0" y="791"/>
                </a:cxn>
                <a:cxn ang="0">
                  <a:pos x="0" y="776"/>
                </a:cxn>
                <a:cxn ang="0">
                  <a:pos x="0" y="71"/>
                </a:cxn>
                <a:cxn ang="0">
                  <a:pos x="0" y="52"/>
                </a:cxn>
                <a:cxn ang="0">
                  <a:pos x="4" y="38"/>
                </a:cxn>
                <a:cxn ang="0">
                  <a:pos x="8" y="26"/>
                </a:cxn>
                <a:cxn ang="0">
                  <a:pos x="17" y="17"/>
                </a:cxn>
                <a:cxn ang="0">
                  <a:pos x="26" y="9"/>
                </a:cxn>
                <a:cxn ang="0">
                  <a:pos x="39" y="5"/>
                </a:cxn>
                <a:cxn ang="0">
                  <a:pos x="53" y="0"/>
                </a:cxn>
                <a:cxn ang="0">
                  <a:pos x="72" y="0"/>
                </a:cxn>
              </a:cxnLst>
              <a:rect l="0" t="0" r="r" b="b"/>
              <a:pathLst>
                <a:path w="851" h="848">
                  <a:moveTo>
                    <a:pt x="72" y="0"/>
                  </a:moveTo>
                  <a:lnTo>
                    <a:pt x="779" y="0"/>
                  </a:lnTo>
                  <a:lnTo>
                    <a:pt x="794" y="0"/>
                  </a:lnTo>
                  <a:lnTo>
                    <a:pt x="809" y="5"/>
                  </a:lnTo>
                  <a:lnTo>
                    <a:pt x="821" y="9"/>
                  </a:lnTo>
                  <a:lnTo>
                    <a:pt x="833" y="17"/>
                  </a:lnTo>
                  <a:lnTo>
                    <a:pt x="840" y="26"/>
                  </a:lnTo>
                  <a:lnTo>
                    <a:pt x="845" y="38"/>
                  </a:lnTo>
                  <a:lnTo>
                    <a:pt x="850" y="52"/>
                  </a:lnTo>
                  <a:lnTo>
                    <a:pt x="851" y="71"/>
                  </a:lnTo>
                  <a:lnTo>
                    <a:pt x="851" y="776"/>
                  </a:lnTo>
                  <a:lnTo>
                    <a:pt x="850" y="779"/>
                  </a:lnTo>
                  <a:lnTo>
                    <a:pt x="850" y="783"/>
                  </a:lnTo>
                  <a:lnTo>
                    <a:pt x="850" y="791"/>
                  </a:lnTo>
                  <a:lnTo>
                    <a:pt x="845" y="805"/>
                  </a:lnTo>
                  <a:lnTo>
                    <a:pt x="840" y="818"/>
                  </a:lnTo>
                  <a:lnTo>
                    <a:pt x="833" y="829"/>
                  </a:lnTo>
                  <a:lnTo>
                    <a:pt x="821" y="836"/>
                  </a:lnTo>
                  <a:lnTo>
                    <a:pt x="809" y="842"/>
                  </a:lnTo>
                  <a:lnTo>
                    <a:pt x="794" y="846"/>
                  </a:lnTo>
                  <a:lnTo>
                    <a:pt x="786" y="846"/>
                  </a:lnTo>
                  <a:lnTo>
                    <a:pt x="782" y="846"/>
                  </a:lnTo>
                  <a:lnTo>
                    <a:pt x="779" y="848"/>
                  </a:lnTo>
                  <a:lnTo>
                    <a:pt x="72" y="848"/>
                  </a:lnTo>
                  <a:lnTo>
                    <a:pt x="53" y="846"/>
                  </a:lnTo>
                  <a:lnTo>
                    <a:pt x="39" y="842"/>
                  </a:lnTo>
                  <a:lnTo>
                    <a:pt x="26" y="836"/>
                  </a:lnTo>
                  <a:lnTo>
                    <a:pt x="17" y="829"/>
                  </a:lnTo>
                  <a:lnTo>
                    <a:pt x="8" y="818"/>
                  </a:lnTo>
                  <a:lnTo>
                    <a:pt x="4" y="805"/>
                  </a:lnTo>
                  <a:lnTo>
                    <a:pt x="0" y="791"/>
                  </a:lnTo>
                  <a:lnTo>
                    <a:pt x="0" y="776"/>
                  </a:lnTo>
                  <a:lnTo>
                    <a:pt x="0" y="71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26"/>
                  </a:lnTo>
                  <a:lnTo>
                    <a:pt x="17" y="17"/>
                  </a:lnTo>
                  <a:lnTo>
                    <a:pt x="26" y="9"/>
                  </a:lnTo>
                  <a:lnTo>
                    <a:pt x="39" y="5"/>
                  </a:lnTo>
                  <a:lnTo>
                    <a:pt x="53" y="0"/>
                  </a:lnTo>
                  <a:lnTo>
                    <a:pt x="72" y="0"/>
                  </a:lnTo>
                </a:path>
              </a:pathLst>
            </a:custGeom>
            <a:solidFill>
              <a:srgbClr val="CC0000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de-DE"/>
            </a:p>
          </p:txBody>
        </p:sp>
        <p:sp>
          <p:nvSpPr>
            <p:cNvPr id="273415" name="Freeform 7"/>
            <p:cNvSpPr>
              <a:spLocks/>
            </p:cNvSpPr>
            <p:nvPr/>
          </p:nvSpPr>
          <p:spPr bwMode="auto">
            <a:xfrm>
              <a:off x="1387" y="3906"/>
              <a:ext cx="68" cy="125"/>
            </a:xfrm>
            <a:custGeom>
              <a:avLst/>
              <a:gdLst/>
              <a:ahLst/>
              <a:cxnLst>
                <a:cxn ang="0">
                  <a:pos x="252" y="248"/>
                </a:cxn>
                <a:cxn ang="0">
                  <a:pos x="0" y="0"/>
                </a:cxn>
                <a:cxn ang="0">
                  <a:pos x="0" y="500"/>
                </a:cxn>
                <a:cxn ang="0">
                  <a:pos x="252" y="248"/>
                </a:cxn>
              </a:cxnLst>
              <a:rect l="0" t="0" r="r" b="b"/>
              <a:pathLst>
                <a:path w="252" h="500">
                  <a:moveTo>
                    <a:pt x="252" y="248"/>
                  </a:moveTo>
                  <a:lnTo>
                    <a:pt x="0" y="0"/>
                  </a:lnTo>
                  <a:lnTo>
                    <a:pt x="0" y="500"/>
                  </a:lnTo>
                  <a:lnTo>
                    <a:pt x="252" y="24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73416" name="Text Box 8"/>
          <p:cNvSpPr txBox="1">
            <a:spLocks noChangeArrowheads="1"/>
          </p:cNvSpPr>
          <p:nvPr/>
        </p:nvSpPr>
        <p:spPr bwMode="auto">
          <a:xfrm>
            <a:off x="1466850" y="6170613"/>
            <a:ext cx="7848600" cy="2905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>
                <a:srgbClr val="6699FF"/>
              </a:buClr>
              <a:buSzTx/>
              <a:buFont typeface="Zapf Dingbats" charset="2"/>
              <a:buNone/>
            </a:pPr>
            <a:r>
              <a:rPr lang="de-DE" sz="1300" b="1" dirty="0" smtClean="0">
                <a:solidFill>
                  <a:schemeClr val="tx1"/>
                </a:solidFill>
                <a:latin typeface="Arial" charset="0"/>
              </a:rPr>
              <a:t>Martin Binder, </a:t>
            </a:r>
            <a:r>
              <a:rPr lang="de-DE" sz="1300" b="1" dirty="0">
                <a:solidFill>
                  <a:schemeClr val="tx1"/>
                </a:solidFill>
                <a:latin typeface="Arial" charset="0"/>
              </a:rPr>
              <a:t>FH Rosenheim, </a:t>
            </a:r>
            <a:r>
              <a:rPr lang="en-GB" sz="1300" b="1" dirty="0">
                <a:solidFill>
                  <a:schemeClr val="tx1"/>
                </a:solidFill>
                <a:latin typeface="Arial" charset="0"/>
              </a:rPr>
              <a:t>© </a:t>
            </a:r>
            <a:r>
              <a:rPr lang="de-DE" sz="1300" b="1" dirty="0" smtClean="0">
                <a:solidFill>
                  <a:schemeClr val="tx1"/>
                </a:solidFill>
                <a:latin typeface="Arial" charset="0"/>
              </a:rPr>
              <a:t>2015</a:t>
            </a:r>
            <a:endParaRPr lang="de-DE" sz="13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73417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857250" y="923925"/>
            <a:ext cx="8780463" cy="565150"/>
          </a:xfrm>
          <a:effectLst/>
        </p:spPr>
        <p:txBody>
          <a:bodyPr/>
          <a:lstStyle>
            <a:lvl1pPr>
              <a:defRPr sz="3100" b="1"/>
            </a:lvl1pPr>
          </a:lstStyle>
          <a:p>
            <a:r>
              <a:rPr lang="en-GB"/>
              <a:t>Click to edit Master 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5" name="Foliennummernplatzhalter 27"/>
          <p:cNvSpPr>
            <a:spLocks noGrp="1"/>
          </p:cNvSpPr>
          <p:nvPr userDrawn="1"/>
        </p:nvSpPr>
        <p:spPr bwMode="auto">
          <a:xfrm>
            <a:off x="9074331" y="6279504"/>
            <a:ext cx="831669" cy="3762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00337F"/>
              </a:buClr>
              <a:buSzPct val="150000"/>
              <a:buFont typeface="Wingdings" pitchFamily="2" charset="2"/>
              <a:defRPr sz="1400" kern="1200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defRPr>
            </a:lvl1pPr>
            <a:lvl2pPr marL="4572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00337F"/>
              </a:buClr>
              <a:buSzPct val="150000"/>
              <a:buFont typeface="Wingdings" pitchFamily="2" charset="2"/>
              <a:defRPr sz="1400" kern="1200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defRPr>
            </a:lvl2pPr>
            <a:lvl3pPr marL="9144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00337F"/>
              </a:buClr>
              <a:buSzPct val="150000"/>
              <a:buFont typeface="Wingdings" pitchFamily="2" charset="2"/>
              <a:defRPr sz="1400" kern="1200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defRPr>
            </a:lvl3pPr>
            <a:lvl4pPr marL="1371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00337F"/>
              </a:buClr>
              <a:buSzPct val="150000"/>
              <a:buFont typeface="Wingdings" pitchFamily="2" charset="2"/>
              <a:defRPr sz="1400" kern="1200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defRPr>
            </a:lvl4pPr>
            <a:lvl5pPr marL="18288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rgbClr val="00337F"/>
              </a:buClr>
              <a:buSzPct val="150000"/>
              <a:buFont typeface="Wingdings" pitchFamily="2" charset="2"/>
              <a:defRPr sz="1400" kern="1200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kern="1200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kern="1200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kern="1200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kern="1200">
                <a:solidFill>
                  <a:srgbClr val="000000"/>
                </a:solidFill>
                <a:latin typeface="Courier New" pitchFamily="49" charset="0"/>
                <a:ea typeface="+mn-ea"/>
                <a:cs typeface="+mn-cs"/>
              </a:defRPr>
            </a:lvl9pPr>
          </a:lstStyle>
          <a:p>
            <a:fld id="{F0970F20-D3EB-47DD-9421-3892B2888F4A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80988" y="1238250"/>
            <a:ext cx="4633912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67300" y="1238250"/>
            <a:ext cx="4635500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Martin Binder      FH Rosenheim                           Programmieren 4                   Wintersemester 2015                                   © 2015  • Stand 01.10.13 •          Einleitung          </a:t>
            </a:r>
            <a:endParaRPr lang="en-GB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348538" y="265113"/>
            <a:ext cx="2354262" cy="5707062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80988" y="265113"/>
            <a:ext cx="6915150" cy="5707062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9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0988" y="1238250"/>
            <a:ext cx="9421812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Vorlagentextes zu bearbeiten</a:t>
            </a:r>
          </a:p>
          <a:p>
            <a:pPr lvl="1"/>
            <a:r>
              <a:rPr lang="en-GB" smtClean="0"/>
              <a:t>Zweite Ebene Klicken Sie, um die Formate des Vorlagentextes zu bearbeiten</a:t>
            </a:r>
          </a:p>
          <a:p>
            <a:pPr lvl="2"/>
            <a:r>
              <a:rPr lang="en-GB" smtClean="0"/>
              <a:t>Dritte Ebene Klicken Sie, um die Formate des Vorlagentextes zu bearbeiten</a:t>
            </a:r>
            <a:r>
              <a:rPr lang="de-DE" smtClean="0"/>
              <a:t> hsdgkhskksjkskj</a:t>
            </a:r>
            <a:endParaRPr lang="en-GB" smtClean="0"/>
          </a:p>
          <a:p>
            <a:pPr lvl="3"/>
            <a:r>
              <a:rPr lang="en-GB" smtClean="0"/>
              <a:t>Vierte Ebene Klicken Sie, um die Formate des Vorlagentextes zu bearbeiten</a:t>
            </a:r>
          </a:p>
        </p:txBody>
      </p:sp>
      <p:sp>
        <p:nvSpPr>
          <p:cNvPr id="272393" name="Rectangle 9"/>
          <p:cNvSpPr>
            <a:spLocks noChangeArrowheads="1"/>
          </p:cNvSpPr>
          <p:nvPr/>
        </p:nvSpPr>
        <p:spPr bwMode="auto">
          <a:xfrm>
            <a:off x="7874000" y="1246188"/>
            <a:ext cx="13176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de-DE"/>
          </a:p>
        </p:txBody>
      </p:sp>
      <p:sp>
        <p:nvSpPr>
          <p:cNvPr id="27239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5750" y="6292850"/>
            <a:ext cx="938688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5720" rIns="90000" bIns="45720" numCol="1" anchor="t" anchorCtr="0" compatLnSpc="1">
            <a:prstTxWarp prst="textNoShape">
              <a:avLst/>
            </a:prstTxWarp>
            <a:spAutoFit/>
          </a:bodyPr>
          <a:lstStyle>
            <a:lvl1pPr defTabSz="139700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tabLst>
                <a:tab pos="8115300" algn="l"/>
              </a:tabLst>
              <a:defRPr sz="800">
                <a:solidFill>
                  <a:srgbClr val="4D4D4D"/>
                </a:solidFill>
                <a:latin typeface="+mn-lt"/>
              </a:defRPr>
            </a:lvl1pPr>
          </a:lstStyle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272395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739775" y="265113"/>
            <a:ext cx="5713413" cy="4270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GB" smtClean="0"/>
          </a:p>
        </p:txBody>
      </p:sp>
      <p:sp>
        <p:nvSpPr>
          <p:cNvPr id="272396" name="Freeform 12"/>
          <p:cNvSpPr>
            <a:spLocks/>
          </p:cNvSpPr>
          <p:nvPr/>
        </p:nvSpPr>
        <p:spPr bwMode="auto">
          <a:xfrm>
            <a:off x="282575" y="314325"/>
            <a:ext cx="363538" cy="334963"/>
          </a:xfrm>
          <a:custGeom>
            <a:avLst/>
            <a:gdLst/>
            <a:ahLst/>
            <a:cxnLst>
              <a:cxn ang="0">
                <a:pos x="72" y="0"/>
              </a:cxn>
              <a:cxn ang="0">
                <a:pos x="779" y="0"/>
              </a:cxn>
              <a:cxn ang="0">
                <a:pos x="794" y="0"/>
              </a:cxn>
              <a:cxn ang="0">
                <a:pos x="809" y="5"/>
              </a:cxn>
              <a:cxn ang="0">
                <a:pos x="821" y="9"/>
              </a:cxn>
              <a:cxn ang="0">
                <a:pos x="833" y="17"/>
              </a:cxn>
              <a:cxn ang="0">
                <a:pos x="840" y="26"/>
              </a:cxn>
              <a:cxn ang="0">
                <a:pos x="845" y="38"/>
              </a:cxn>
              <a:cxn ang="0">
                <a:pos x="850" y="52"/>
              </a:cxn>
              <a:cxn ang="0">
                <a:pos x="851" y="71"/>
              </a:cxn>
              <a:cxn ang="0">
                <a:pos x="851" y="776"/>
              </a:cxn>
              <a:cxn ang="0">
                <a:pos x="850" y="779"/>
              </a:cxn>
              <a:cxn ang="0">
                <a:pos x="850" y="783"/>
              </a:cxn>
              <a:cxn ang="0">
                <a:pos x="850" y="791"/>
              </a:cxn>
              <a:cxn ang="0">
                <a:pos x="845" y="805"/>
              </a:cxn>
              <a:cxn ang="0">
                <a:pos x="840" y="818"/>
              </a:cxn>
              <a:cxn ang="0">
                <a:pos x="833" y="829"/>
              </a:cxn>
              <a:cxn ang="0">
                <a:pos x="821" y="836"/>
              </a:cxn>
              <a:cxn ang="0">
                <a:pos x="809" y="842"/>
              </a:cxn>
              <a:cxn ang="0">
                <a:pos x="794" y="846"/>
              </a:cxn>
              <a:cxn ang="0">
                <a:pos x="786" y="846"/>
              </a:cxn>
              <a:cxn ang="0">
                <a:pos x="782" y="846"/>
              </a:cxn>
              <a:cxn ang="0">
                <a:pos x="779" y="848"/>
              </a:cxn>
              <a:cxn ang="0">
                <a:pos x="72" y="848"/>
              </a:cxn>
              <a:cxn ang="0">
                <a:pos x="53" y="846"/>
              </a:cxn>
              <a:cxn ang="0">
                <a:pos x="39" y="842"/>
              </a:cxn>
              <a:cxn ang="0">
                <a:pos x="26" y="836"/>
              </a:cxn>
              <a:cxn ang="0">
                <a:pos x="17" y="829"/>
              </a:cxn>
              <a:cxn ang="0">
                <a:pos x="8" y="818"/>
              </a:cxn>
              <a:cxn ang="0">
                <a:pos x="4" y="805"/>
              </a:cxn>
              <a:cxn ang="0">
                <a:pos x="0" y="791"/>
              </a:cxn>
              <a:cxn ang="0">
                <a:pos x="0" y="776"/>
              </a:cxn>
              <a:cxn ang="0">
                <a:pos x="0" y="71"/>
              </a:cxn>
              <a:cxn ang="0">
                <a:pos x="0" y="52"/>
              </a:cxn>
              <a:cxn ang="0">
                <a:pos x="4" y="38"/>
              </a:cxn>
              <a:cxn ang="0">
                <a:pos x="8" y="26"/>
              </a:cxn>
              <a:cxn ang="0">
                <a:pos x="17" y="17"/>
              </a:cxn>
              <a:cxn ang="0">
                <a:pos x="26" y="9"/>
              </a:cxn>
              <a:cxn ang="0">
                <a:pos x="39" y="5"/>
              </a:cxn>
              <a:cxn ang="0">
                <a:pos x="53" y="0"/>
              </a:cxn>
              <a:cxn ang="0">
                <a:pos x="72" y="0"/>
              </a:cxn>
            </a:cxnLst>
            <a:rect l="0" t="0" r="r" b="b"/>
            <a:pathLst>
              <a:path w="851" h="848">
                <a:moveTo>
                  <a:pt x="72" y="0"/>
                </a:moveTo>
                <a:lnTo>
                  <a:pt x="779" y="0"/>
                </a:lnTo>
                <a:lnTo>
                  <a:pt x="794" y="0"/>
                </a:lnTo>
                <a:lnTo>
                  <a:pt x="809" y="5"/>
                </a:lnTo>
                <a:lnTo>
                  <a:pt x="821" y="9"/>
                </a:lnTo>
                <a:lnTo>
                  <a:pt x="833" y="17"/>
                </a:lnTo>
                <a:lnTo>
                  <a:pt x="840" y="26"/>
                </a:lnTo>
                <a:lnTo>
                  <a:pt x="845" y="38"/>
                </a:lnTo>
                <a:lnTo>
                  <a:pt x="850" y="52"/>
                </a:lnTo>
                <a:lnTo>
                  <a:pt x="851" y="71"/>
                </a:lnTo>
                <a:lnTo>
                  <a:pt x="851" y="776"/>
                </a:lnTo>
                <a:lnTo>
                  <a:pt x="850" y="779"/>
                </a:lnTo>
                <a:lnTo>
                  <a:pt x="850" y="783"/>
                </a:lnTo>
                <a:lnTo>
                  <a:pt x="850" y="791"/>
                </a:lnTo>
                <a:lnTo>
                  <a:pt x="845" y="805"/>
                </a:lnTo>
                <a:lnTo>
                  <a:pt x="840" y="818"/>
                </a:lnTo>
                <a:lnTo>
                  <a:pt x="833" y="829"/>
                </a:lnTo>
                <a:lnTo>
                  <a:pt x="821" y="836"/>
                </a:lnTo>
                <a:lnTo>
                  <a:pt x="809" y="842"/>
                </a:lnTo>
                <a:lnTo>
                  <a:pt x="794" y="846"/>
                </a:lnTo>
                <a:lnTo>
                  <a:pt x="786" y="846"/>
                </a:lnTo>
                <a:lnTo>
                  <a:pt x="782" y="846"/>
                </a:lnTo>
                <a:lnTo>
                  <a:pt x="779" y="848"/>
                </a:lnTo>
                <a:lnTo>
                  <a:pt x="72" y="848"/>
                </a:lnTo>
                <a:lnTo>
                  <a:pt x="53" y="846"/>
                </a:lnTo>
                <a:lnTo>
                  <a:pt x="39" y="842"/>
                </a:lnTo>
                <a:lnTo>
                  <a:pt x="26" y="836"/>
                </a:lnTo>
                <a:lnTo>
                  <a:pt x="17" y="829"/>
                </a:lnTo>
                <a:lnTo>
                  <a:pt x="8" y="818"/>
                </a:lnTo>
                <a:lnTo>
                  <a:pt x="4" y="805"/>
                </a:lnTo>
                <a:lnTo>
                  <a:pt x="0" y="791"/>
                </a:lnTo>
                <a:lnTo>
                  <a:pt x="0" y="776"/>
                </a:lnTo>
                <a:lnTo>
                  <a:pt x="0" y="71"/>
                </a:lnTo>
                <a:lnTo>
                  <a:pt x="0" y="52"/>
                </a:lnTo>
                <a:lnTo>
                  <a:pt x="4" y="38"/>
                </a:lnTo>
                <a:lnTo>
                  <a:pt x="8" y="26"/>
                </a:lnTo>
                <a:lnTo>
                  <a:pt x="17" y="17"/>
                </a:lnTo>
                <a:lnTo>
                  <a:pt x="26" y="9"/>
                </a:lnTo>
                <a:lnTo>
                  <a:pt x="39" y="5"/>
                </a:lnTo>
                <a:lnTo>
                  <a:pt x="53" y="0"/>
                </a:lnTo>
                <a:lnTo>
                  <a:pt x="72" y="0"/>
                </a:lnTo>
              </a:path>
            </a:pathLst>
          </a:custGeom>
          <a:solidFill>
            <a:srgbClr val="CC0000"/>
          </a:solidFill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272397" name="Freeform 13"/>
          <p:cNvSpPr>
            <a:spLocks/>
          </p:cNvSpPr>
          <p:nvPr/>
        </p:nvSpPr>
        <p:spPr bwMode="auto">
          <a:xfrm>
            <a:off x="411163" y="382588"/>
            <a:ext cx="107950" cy="198437"/>
          </a:xfrm>
          <a:custGeom>
            <a:avLst/>
            <a:gdLst/>
            <a:ahLst/>
            <a:cxnLst>
              <a:cxn ang="0">
                <a:pos x="252" y="248"/>
              </a:cxn>
              <a:cxn ang="0">
                <a:pos x="0" y="0"/>
              </a:cxn>
              <a:cxn ang="0">
                <a:pos x="0" y="500"/>
              </a:cxn>
              <a:cxn ang="0">
                <a:pos x="252" y="248"/>
              </a:cxn>
            </a:cxnLst>
            <a:rect l="0" t="0" r="r" b="b"/>
            <a:pathLst>
              <a:path w="252" h="500">
                <a:moveTo>
                  <a:pt x="252" y="248"/>
                </a:moveTo>
                <a:lnTo>
                  <a:pt x="0" y="0"/>
                </a:lnTo>
                <a:lnTo>
                  <a:pt x="0" y="500"/>
                </a:lnTo>
                <a:lnTo>
                  <a:pt x="252" y="24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dt="0"/>
  <p:txStyles>
    <p:titleStyle>
      <a:lvl1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charset="0"/>
        </a:defRPr>
      </a:lvl5pPr>
      <a:lvl6pPr marL="4572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charset="0"/>
        </a:defRPr>
      </a:lvl6pPr>
      <a:lvl7pPr marL="9144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charset="0"/>
        </a:defRPr>
      </a:lvl7pPr>
      <a:lvl8pPr marL="13716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charset="0"/>
        </a:defRPr>
      </a:lvl8pPr>
      <a:lvl9pPr marL="18288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charset="0"/>
        </a:defRPr>
      </a:lvl9pPr>
    </p:titleStyle>
    <p:bodyStyle>
      <a:lvl1pPr marL="285750" indent="-285750" algn="l" defTabSz="630238" rtl="0" eaLnBrk="0" fontAlgn="base" hangingPunct="0">
        <a:spcBef>
          <a:spcPct val="100000"/>
        </a:spcBef>
        <a:spcAft>
          <a:spcPct val="0"/>
        </a:spcAft>
        <a:buClr>
          <a:srgbClr val="00337F"/>
        </a:buClr>
        <a:buSzPct val="150000"/>
        <a:buFont typeface="Wingdings" pitchFamily="2" charset="2"/>
        <a:buBlip>
          <a:blip r:embed="rId13"/>
        </a:buBlip>
        <a:tabLst>
          <a:tab pos="285750" algn="l"/>
        </a:tabLst>
        <a:defRPr sz="2000">
          <a:solidFill>
            <a:srgbClr val="000000"/>
          </a:solidFill>
          <a:latin typeface="+mn-lt"/>
          <a:ea typeface="+mn-ea"/>
          <a:cs typeface="+mn-cs"/>
        </a:defRPr>
      </a:lvl1pPr>
      <a:lvl2pPr marL="762000" indent="-285750" algn="l" defTabSz="630238" rtl="0" eaLnBrk="0" fontAlgn="base" hangingPunct="0">
        <a:spcBef>
          <a:spcPct val="20000"/>
        </a:spcBef>
        <a:spcAft>
          <a:spcPct val="0"/>
        </a:spcAft>
        <a:buClr>
          <a:srgbClr val="00337F"/>
        </a:buClr>
        <a:buSzPct val="150000"/>
        <a:buFont typeface="Wingdings" pitchFamily="2" charset="2"/>
        <a:buBlip>
          <a:blip r:embed="rId13"/>
        </a:buBlip>
        <a:tabLst>
          <a:tab pos="285750" algn="l"/>
        </a:tabLst>
        <a:defRPr>
          <a:solidFill>
            <a:srgbClr val="000000"/>
          </a:solidFill>
          <a:latin typeface="+mn-lt"/>
        </a:defRPr>
      </a:lvl2pPr>
      <a:lvl3pPr marL="1181100" indent="-228600" algn="l" defTabSz="630238" rtl="0" eaLnBrk="0" fontAlgn="base" hangingPunct="0">
        <a:spcBef>
          <a:spcPct val="0"/>
        </a:spcBef>
        <a:spcAft>
          <a:spcPct val="0"/>
        </a:spcAft>
        <a:buClr>
          <a:srgbClr val="00337F"/>
        </a:buClr>
        <a:buSzPct val="150000"/>
        <a:buBlip>
          <a:blip r:embed="rId13"/>
        </a:buBlip>
        <a:tabLst>
          <a:tab pos="285750" algn="l"/>
        </a:tabLst>
        <a:defRPr sz="1600">
          <a:solidFill>
            <a:schemeClr val="tx1"/>
          </a:solidFill>
          <a:latin typeface="+mn-lt"/>
        </a:defRPr>
      </a:lvl3pPr>
      <a:lvl4pPr marL="16002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7F"/>
        </a:buClr>
        <a:buSzPct val="150000"/>
        <a:buFont typeface="Wingdings" pitchFamily="2" charset="2"/>
        <a:buBlip>
          <a:blip r:embed="rId13"/>
        </a:buBlip>
        <a:tabLst>
          <a:tab pos="285750" algn="l"/>
        </a:tabLst>
        <a:defRPr sz="1400">
          <a:solidFill>
            <a:schemeClr val="tx1"/>
          </a:solidFill>
          <a:latin typeface="+mn-lt"/>
        </a:defRPr>
      </a:lvl4pPr>
      <a:lvl5pPr marL="20193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5pPr>
      <a:lvl6pPr marL="24765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6pPr>
      <a:lvl7pPr marL="29337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7pPr>
      <a:lvl8pPr marL="33909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8pPr>
      <a:lvl9pPr marL="38481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java.sun.com/docs/book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javabuch.de/" TargetMode="External"/><Relationship Id="rId4" Type="http://schemas.openxmlformats.org/officeDocument/2006/relationships/hyperlink" Target="http://www.galileocomputing.de/openbook/javainsel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1650" y="2138363"/>
            <a:ext cx="8780463" cy="565150"/>
          </a:xfrm>
        </p:spPr>
        <p:txBody>
          <a:bodyPr anchor="ctr" anchorCtr="1"/>
          <a:lstStyle/>
          <a:p>
            <a:r>
              <a:rPr lang="en-GB" dirty="0" err="1"/>
              <a:t>Programmieren</a:t>
            </a:r>
            <a:r>
              <a:rPr lang="en-GB" dirty="0"/>
              <a:t> 3</a:t>
            </a:r>
          </a:p>
        </p:txBody>
      </p:sp>
      <p:pic>
        <p:nvPicPr>
          <p:cNvPr id="285704" name="Picture 8" descr="LogoNeu_mit_Tex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53213" y="369888"/>
            <a:ext cx="2847975" cy="6572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265113"/>
            <a:ext cx="8736013" cy="427037"/>
          </a:xfrm>
        </p:spPr>
        <p:txBody>
          <a:bodyPr/>
          <a:lstStyle/>
          <a:p>
            <a:r>
              <a:rPr lang="de-DE" b="1"/>
              <a:t>Organisation</a:t>
            </a:r>
            <a:endParaRPr lang="en-US" b="1"/>
          </a:p>
        </p:txBody>
      </p:sp>
      <p:sp>
        <p:nvSpPr>
          <p:cNvPr id="313348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de-DE"/>
              <a:t> </a:t>
            </a:r>
            <a:endParaRPr lang="en-US"/>
          </a:p>
        </p:txBody>
      </p:sp>
      <p:sp>
        <p:nvSpPr>
          <p:cNvPr id="313349" name="Rectangle 5"/>
          <p:cNvSpPr>
            <a:spLocks noChangeArrowheads="1"/>
          </p:cNvSpPr>
          <p:nvPr/>
        </p:nvSpPr>
        <p:spPr bwMode="auto">
          <a:xfrm>
            <a:off x="433388" y="1390650"/>
            <a:ext cx="9421812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85750" indent="-285750" defTabSz="630238">
              <a:lnSpc>
                <a:spcPct val="90000"/>
              </a:lnSpc>
              <a:spcBef>
                <a:spcPct val="100000"/>
              </a:spcBef>
              <a:buFont typeface="Wingdings" pitchFamily="2" charset="2"/>
              <a:buBlip>
                <a:blip r:embed="rId3"/>
              </a:buBlip>
              <a:tabLst>
                <a:tab pos="285750" algn="l"/>
              </a:tabLst>
            </a:pPr>
            <a:r>
              <a:rPr lang="de-DE" sz="2000" dirty="0">
                <a:latin typeface="Arial" charset="0"/>
              </a:rPr>
              <a:t>Voraussetzung</a:t>
            </a:r>
          </a:p>
          <a:p>
            <a:pPr marL="762000" lvl="1" indent="-285750" defTabSz="630238">
              <a:lnSpc>
                <a:spcPct val="90000"/>
              </a:lnSpc>
              <a:spcBef>
                <a:spcPct val="20000"/>
              </a:spcBef>
              <a:buFont typeface="Wingdings" pitchFamily="2" charset="2"/>
              <a:buBlip>
                <a:blip r:embed="rId3"/>
              </a:buBlip>
              <a:tabLst>
                <a:tab pos="285750" algn="l"/>
              </a:tabLst>
            </a:pPr>
            <a:r>
              <a:rPr lang="de-DE" sz="1800" dirty="0">
                <a:latin typeface="Arial" charset="0"/>
              </a:rPr>
              <a:t>Programmieren 1 und 2</a:t>
            </a:r>
          </a:p>
          <a:p>
            <a:pPr marL="285750" indent="-285750" defTabSz="630238">
              <a:lnSpc>
                <a:spcPct val="90000"/>
              </a:lnSpc>
              <a:spcBef>
                <a:spcPct val="100000"/>
              </a:spcBef>
              <a:buFont typeface="Wingdings" pitchFamily="2" charset="2"/>
              <a:buBlip>
                <a:blip r:embed="rId3"/>
              </a:buBlip>
              <a:tabLst>
                <a:tab pos="285750" algn="l"/>
              </a:tabLst>
            </a:pPr>
            <a:r>
              <a:rPr lang="de-DE" sz="2000" dirty="0">
                <a:latin typeface="Arial" charset="0"/>
              </a:rPr>
              <a:t>Ablauf: 2 Stunden Vorlesung, 2 Stunden Übung pro </a:t>
            </a:r>
            <a:r>
              <a:rPr lang="de-DE" sz="2000" dirty="0" smtClean="0">
                <a:latin typeface="Arial" charset="0"/>
              </a:rPr>
              <a:t>Woche</a:t>
            </a:r>
          </a:p>
          <a:p>
            <a:pPr marL="285750" indent="-285750" defTabSz="630238">
              <a:lnSpc>
                <a:spcPct val="90000"/>
              </a:lnSpc>
              <a:spcBef>
                <a:spcPct val="100000"/>
              </a:spcBef>
              <a:buFont typeface="Wingdings" pitchFamily="2" charset="2"/>
              <a:buBlip>
                <a:blip r:embed="rId3"/>
              </a:buBlip>
              <a:tabLst>
                <a:tab pos="285750" algn="l"/>
              </a:tabLst>
            </a:pPr>
            <a:r>
              <a:rPr lang="de-DE" sz="2000" dirty="0" smtClean="0">
                <a:latin typeface="Arial" charset="0"/>
              </a:rPr>
              <a:t>Prüfung</a:t>
            </a:r>
            <a:r>
              <a:rPr lang="de-DE" sz="2000" dirty="0">
                <a:latin typeface="Arial" charset="0"/>
              </a:rPr>
              <a:t>: Klausur, 90 Minuten, </a:t>
            </a:r>
            <a:br>
              <a:rPr lang="de-DE" sz="2000" dirty="0">
                <a:latin typeface="Arial" charset="0"/>
              </a:rPr>
            </a:br>
            <a:r>
              <a:rPr lang="de-DE" sz="2000" dirty="0">
                <a:latin typeface="Arial" charset="0"/>
              </a:rPr>
              <a:t>Hilfsmittel: Ein Fachbuch freier Wahl mit ISBN Nummer oder ein RZ-Handbuch, </a:t>
            </a:r>
            <a:br>
              <a:rPr lang="de-DE" sz="2000" dirty="0">
                <a:latin typeface="Arial" charset="0"/>
              </a:rPr>
            </a:br>
            <a:r>
              <a:rPr lang="de-DE" sz="2000" dirty="0">
                <a:latin typeface="Arial" charset="0"/>
              </a:rPr>
              <a:t>jeweils ohne persönliche Notizen</a:t>
            </a:r>
          </a:p>
          <a:p>
            <a:pPr marL="285750" indent="-285750" defTabSz="630238">
              <a:lnSpc>
                <a:spcPct val="90000"/>
              </a:lnSpc>
              <a:spcBef>
                <a:spcPct val="100000"/>
              </a:spcBef>
              <a:buFont typeface="Wingdings" pitchFamily="2" charset="2"/>
              <a:buBlip>
                <a:blip r:embed="rId3"/>
              </a:buBlip>
              <a:tabLst>
                <a:tab pos="285750" algn="l"/>
              </a:tabLst>
            </a:pPr>
            <a:r>
              <a:rPr lang="de-DE" sz="2000" dirty="0">
                <a:latin typeface="Arial" charset="0"/>
              </a:rPr>
              <a:t>Die Folien sind kein vollständiges </a:t>
            </a:r>
            <a:r>
              <a:rPr lang="de-DE" sz="2000" dirty="0" smtClean="0">
                <a:latin typeface="Arial" charset="0"/>
              </a:rPr>
              <a:t>Skript!</a:t>
            </a:r>
            <a:r>
              <a:rPr lang="de-DE" sz="2000" dirty="0">
                <a:latin typeface="Arial" charset="0"/>
              </a:rPr>
              <a:t/>
            </a:r>
            <a:br>
              <a:rPr lang="de-DE" sz="2000" dirty="0">
                <a:latin typeface="Arial" charset="0"/>
              </a:rPr>
            </a:br>
            <a:r>
              <a:rPr lang="de-DE" sz="2000" dirty="0">
                <a:latin typeface="Arial" charset="0"/>
              </a:rPr>
              <a:t>Zur Prüfung sind zusätzliche persönliche Mitschriften und Literaturstudien  sowie Teilnahme an den Übungen notwendig.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864258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265113"/>
            <a:ext cx="7413625" cy="427037"/>
          </a:xfrm>
        </p:spPr>
        <p:txBody>
          <a:bodyPr/>
          <a:lstStyle/>
          <a:p>
            <a:r>
              <a:rPr lang="de-DE" b="1"/>
              <a:t>Inhalte von Programmieren 1 und Programmieren 2</a:t>
            </a:r>
          </a:p>
        </p:txBody>
      </p:sp>
      <p:sp>
        <p:nvSpPr>
          <p:cNvPr id="864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70463" y="1082675"/>
            <a:ext cx="4718050" cy="3114675"/>
          </a:xfrm>
          <a:solidFill>
            <a:srgbClr val="FFFFCC"/>
          </a:solidFill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de-DE" sz="1800" b="1"/>
              <a:t>Prg2: OOP in Java</a:t>
            </a:r>
            <a:br>
              <a:rPr lang="de-DE" sz="1800" b="1"/>
            </a:br>
            <a:r>
              <a:rPr lang="de-DE" sz="1800" b="1"/>
              <a:t>     (Objektorientierte Programmierung)</a:t>
            </a:r>
          </a:p>
          <a:p>
            <a:pPr>
              <a:lnSpc>
                <a:spcPct val="80000"/>
              </a:lnSpc>
            </a:pPr>
            <a:r>
              <a:rPr lang="de-DE" sz="1800"/>
              <a:t>Klassen und Objekte</a:t>
            </a:r>
          </a:p>
          <a:p>
            <a:pPr>
              <a:lnSpc>
                <a:spcPct val="80000"/>
              </a:lnSpc>
            </a:pPr>
            <a:r>
              <a:rPr lang="de-DE" sz="1800"/>
              <a:t>Interfaces und Vererbung</a:t>
            </a:r>
          </a:p>
          <a:p>
            <a:pPr>
              <a:lnSpc>
                <a:spcPct val="80000"/>
              </a:lnSpc>
            </a:pPr>
            <a:r>
              <a:rPr lang="de-DE" sz="1800"/>
              <a:t>Behälter und Iteratoren</a:t>
            </a:r>
          </a:p>
          <a:p>
            <a:pPr>
              <a:lnSpc>
                <a:spcPct val="80000"/>
              </a:lnSpc>
            </a:pPr>
            <a:r>
              <a:rPr lang="de-DE" sz="1800"/>
              <a:t>Fehler und Ausnahmen</a:t>
            </a:r>
          </a:p>
          <a:p>
            <a:pPr>
              <a:lnSpc>
                <a:spcPct val="80000"/>
              </a:lnSpc>
            </a:pPr>
            <a:r>
              <a:rPr lang="de-DE" sz="1800"/>
              <a:t>Programmierregeln und Konventionen </a:t>
            </a:r>
          </a:p>
        </p:txBody>
      </p:sp>
      <p:sp>
        <p:nvSpPr>
          <p:cNvPr id="864260" name="Rectangle 4"/>
          <p:cNvSpPr>
            <a:spLocks noChangeArrowheads="1"/>
          </p:cNvSpPr>
          <p:nvPr/>
        </p:nvSpPr>
        <p:spPr bwMode="auto">
          <a:xfrm>
            <a:off x="288925" y="1031875"/>
            <a:ext cx="4600575" cy="497840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85750" indent="-285750" defTabSz="630238">
              <a:lnSpc>
                <a:spcPct val="100000"/>
              </a:lnSpc>
              <a:spcBef>
                <a:spcPct val="100000"/>
              </a:spcBef>
              <a:tabLst>
                <a:tab pos="285750" algn="l"/>
              </a:tabLst>
            </a:pPr>
            <a:r>
              <a:rPr lang="de-DE" sz="1800" b="1">
                <a:latin typeface="Arial" charset="0"/>
              </a:rPr>
              <a:t>Prg1: Grundlagen der Programmierung </a:t>
            </a:r>
            <a:br>
              <a:rPr lang="de-DE" sz="1800" b="1">
                <a:latin typeface="Arial" charset="0"/>
              </a:rPr>
            </a:br>
            <a:r>
              <a:rPr lang="de-DE" sz="1800" b="1">
                <a:latin typeface="Arial" charset="0"/>
              </a:rPr>
              <a:t>      in C</a:t>
            </a:r>
            <a:br>
              <a:rPr lang="de-DE" sz="1800" b="1">
                <a:latin typeface="Arial" charset="0"/>
              </a:rPr>
            </a:br>
            <a:r>
              <a:rPr lang="de-DE" sz="1800" b="1">
                <a:latin typeface="Arial" charset="0"/>
              </a:rPr>
              <a:t>      (prozedurale Programmierung)</a:t>
            </a:r>
          </a:p>
          <a:p>
            <a:pPr marL="285750" indent="-285750" defTabSz="630238">
              <a:lnSpc>
                <a:spcPct val="100000"/>
              </a:lnSpc>
              <a:spcBef>
                <a:spcPct val="100000"/>
              </a:spcBef>
              <a:buFont typeface="Wingdings" pitchFamily="2" charset="2"/>
              <a:buBlip>
                <a:blip r:embed="rId2"/>
              </a:buBlip>
              <a:tabLst>
                <a:tab pos="285750" algn="l"/>
              </a:tabLst>
            </a:pPr>
            <a:r>
              <a:rPr lang="de-DE" sz="1800">
                <a:latin typeface="Arial" charset="0"/>
              </a:rPr>
              <a:t>Grundelemente </a:t>
            </a:r>
            <a:br>
              <a:rPr lang="de-DE" sz="1800">
                <a:latin typeface="Arial" charset="0"/>
              </a:rPr>
            </a:br>
            <a:r>
              <a:rPr lang="de-DE" sz="1800">
                <a:latin typeface="Arial" charset="0"/>
              </a:rPr>
              <a:t>(Variablen, Ausdrücke, Operatoren, Ablaufstrukturen, Funktionen, Parameterübergabe, Ein- Ausgabe, Dateiverarbeitung)</a:t>
            </a:r>
          </a:p>
          <a:p>
            <a:pPr marL="285750" indent="-285750" defTabSz="630238">
              <a:lnSpc>
                <a:spcPct val="100000"/>
              </a:lnSpc>
              <a:spcBef>
                <a:spcPct val="100000"/>
              </a:spcBef>
              <a:buFont typeface="Wingdings" pitchFamily="2" charset="2"/>
              <a:buBlip>
                <a:blip r:embed="rId2"/>
              </a:buBlip>
              <a:tabLst>
                <a:tab pos="285750" algn="l"/>
              </a:tabLst>
            </a:pPr>
            <a:r>
              <a:rPr lang="de-DE" sz="1800">
                <a:latin typeface="Arial" charset="0"/>
              </a:rPr>
              <a:t>Datenstrukturen</a:t>
            </a:r>
            <a:br>
              <a:rPr lang="de-DE" sz="1800">
                <a:latin typeface="Arial" charset="0"/>
              </a:rPr>
            </a:br>
            <a:r>
              <a:rPr lang="de-DE" sz="1800">
                <a:latin typeface="Arial" charset="0"/>
              </a:rPr>
              <a:t>(Aufzählungstypen, Felder, Strukturen, Bitfelder, Zeiger, dynamische Strukturen, Listen)</a:t>
            </a:r>
          </a:p>
          <a:p>
            <a:pPr marL="285750" indent="-285750" defTabSz="630238">
              <a:lnSpc>
                <a:spcPct val="100000"/>
              </a:lnSpc>
              <a:spcBef>
                <a:spcPct val="100000"/>
              </a:spcBef>
              <a:buFont typeface="Wingdings" pitchFamily="2" charset="2"/>
              <a:buBlip>
                <a:blip r:embed="rId2"/>
              </a:buBlip>
              <a:tabLst>
                <a:tab pos="285750" algn="l"/>
              </a:tabLst>
            </a:pPr>
            <a:r>
              <a:rPr lang="de-DE" sz="1800">
                <a:latin typeface="Arial" charset="0"/>
              </a:rPr>
              <a:t>Strukturierte Programmentwicklung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86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265113"/>
            <a:ext cx="8861425" cy="701675"/>
          </a:xfrm>
        </p:spPr>
        <p:txBody>
          <a:bodyPr/>
          <a:lstStyle/>
          <a:p>
            <a:r>
              <a:rPr lang="de-DE" sz="2000" b="1"/>
              <a:t>Motivation für Programmieren 3: </a:t>
            </a:r>
            <a:br>
              <a:rPr lang="de-DE" sz="2000" b="1"/>
            </a:br>
            <a:r>
              <a:rPr lang="de-DE" sz="2000" b="1"/>
              <a:t>Programmieren von großen Systemen</a:t>
            </a:r>
          </a:p>
        </p:txBody>
      </p:sp>
      <p:sp>
        <p:nvSpPr>
          <p:cNvPr id="865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988" y="1579563"/>
            <a:ext cx="9421812" cy="4635500"/>
          </a:xfrm>
        </p:spPr>
        <p:txBody>
          <a:bodyPr/>
          <a:lstStyle/>
          <a:p>
            <a:r>
              <a:rPr lang="de-DE" b="1" dirty="0"/>
              <a:t>typische Probleme im Programmcode großer Systeme</a:t>
            </a:r>
            <a:br>
              <a:rPr lang="de-DE" b="1" dirty="0"/>
            </a:br>
            <a:endParaRPr lang="de-DE" dirty="0"/>
          </a:p>
          <a:p>
            <a:pPr lvl="1"/>
            <a:r>
              <a:rPr lang="de-DE" dirty="0"/>
              <a:t>Unverständlichkeit (Kommentierung, Bezeichner, Code-Layout)</a:t>
            </a:r>
            <a:br>
              <a:rPr lang="de-DE" dirty="0"/>
            </a:br>
            <a:endParaRPr lang="de-DE" dirty="0"/>
          </a:p>
          <a:p>
            <a:pPr lvl="1"/>
            <a:r>
              <a:rPr lang="de-DE" dirty="0"/>
              <a:t>Redundanz</a:t>
            </a:r>
            <a:br>
              <a:rPr lang="de-DE" dirty="0"/>
            </a:br>
            <a:endParaRPr lang="de-DE" dirty="0"/>
          </a:p>
          <a:p>
            <a:pPr lvl="1"/>
            <a:r>
              <a:rPr lang="de-DE" dirty="0"/>
              <a:t>Überfrachtung (z.B</a:t>
            </a:r>
            <a:r>
              <a:rPr lang="de-DE" dirty="0" smtClean="0"/>
              <a:t>. lange </a:t>
            </a:r>
            <a:r>
              <a:rPr lang="de-DE" dirty="0"/>
              <a:t>Methoden/Funktionen)</a:t>
            </a:r>
            <a:br>
              <a:rPr lang="de-DE" dirty="0"/>
            </a:br>
            <a:endParaRPr lang="de-DE" dirty="0"/>
          </a:p>
          <a:p>
            <a:pPr lvl="1"/>
            <a:r>
              <a:rPr lang="de-DE" dirty="0"/>
              <a:t>Vergesse Details (z.B. </a:t>
            </a:r>
            <a:r>
              <a:rPr lang="de-DE" i="1" dirty="0" err="1"/>
              <a:t>equals</a:t>
            </a:r>
            <a:r>
              <a:rPr lang="de-DE" dirty="0"/>
              <a:t> und </a:t>
            </a:r>
            <a:r>
              <a:rPr lang="de-DE" i="1" dirty="0" err="1"/>
              <a:t>hashCode</a:t>
            </a:r>
            <a:r>
              <a:rPr lang="de-DE" dirty="0"/>
              <a:t>)</a:t>
            </a:r>
            <a:br>
              <a:rPr lang="de-DE" dirty="0"/>
            </a:br>
            <a:endParaRPr lang="de-DE" dirty="0"/>
          </a:p>
          <a:p>
            <a:pPr lvl="1"/>
            <a:r>
              <a:rPr lang="de-DE" dirty="0"/>
              <a:t>Ungeeignete Datenstrukturen (z.B. </a:t>
            </a:r>
            <a:r>
              <a:rPr lang="de-DE" i="1" dirty="0"/>
              <a:t>List</a:t>
            </a:r>
            <a:r>
              <a:rPr lang="de-DE" dirty="0"/>
              <a:t> statt </a:t>
            </a:r>
            <a:r>
              <a:rPr lang="de-DE" i="1" dirty="0"/>
              <a:t>Set</a:t>
            </a:r>
            <a:r>
              <a:rPr lang="de-DE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87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265113"/>
            <a:ext cx="8861425" cy="396875"/>
          </a:xfrm>
        </p:spPr>
        <p:txBody>
          <a:bodyPr/>
          <a:lstStyle/>
          <a:p>
            <a:r>
              <a:rPr lang="de-DE" sz="2000" b="1" dirty="0"/>
              <a:t>T</a:t>
            </a:r>
            <a:r>
              <a:rPr lang="de-DE" sz="2000" b="1" dirty="0" smtClean="0"/>
              <a:t>ypische </a:t>
            </a:r>
            <a:r>
              <a:rPr lang="de-DE" sz="2000" b="1" dirty="0"/>
              <a:t>Probleme im Programmcode großer </a:t>
            </a:r>
            <a:r>
              <a:rPr lang="de-DE" sz="2000" b="1" dirty="0" smtClean="0"/>
              <a:t>Systeme</a:t>
            </a:r>
            <a:endParaRPr lang="de-DE" sz="2000" b="1" dirty="0"/>
          </a:p>
        </p:txBody>
      </p:sp>
      <p:sp>
        <p:nvSpPr>
          <p:cNvPr id="871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988" y="1181100"/>
            <a:ext cx="9421812" cy="5033963"/>
          </a:xfrm>
        </p:spPr>
        <p:txBody>
          <a:bodyPr/>
          <a:lstStyle/>
          <a:p>
            <a:r>
              <a:rPr lang="de-DE" dirty="0"/>
              <a:t>Ungeeignete/Falsche Algorithmen (z.B. </a:t>
            </a:r>
            <a:r>
              <a:rPr lang="de-DE" dirty="0" err="1"/>
              <a:t>Bubblesort</a:t>
            </a:r>
            <a:r>
              <a:rPr lang="de-DE" dirty="0"/>
              <a:t> statt </a:t>
            </a:r>
            <a:r>
              <a:rPr lang="de-DE" dirty="0" err="1"/>
              <a:t>Quicksort</a:t>
            </a:r>
            <a:r>
              <a:rPr lang="de-DE" dirty="0"/>
              <a:t>).</a:t>
            </a:r>
          </a:p>
          <a:p>
            <a:r>
              <a:rPr lang="de-DE" dirty="0"/>
              <a:t>Unklare Verträge zwischen Methode und Benutzer (Übergabe von </a:t>
            </a:r>
            <a:r>
              <a:rPr lang="de-DE" i="1" dirty="0"/>
              <a:t>null, </a:t>
            </a:r>
            <a:r>
              <a:rPr lang="de-DE" dirty="0"/>
              <a:t>Reihenfolge von Aufrufen)</a:t>
            </a:r>
          </a:p>
          <a:p>
            <a:r>
              <a:rPr lang="de-DE" dirty="0"/>
              <a:t>Wachsende physikalische Abhängigkeiten (</a:t>
            </a:r>
            <a:r>
              <a:rPr lang="de-DE" i="1" dirty="0" err="1"/>
              <a:t>import</a:t>
            </a:r>
            <a:r>
              <a:rPr lang="de-DE" dirty="0"/>
              <a:t>) (Seiteneffekte, Tests, </a:t>
            </a:r>
            <a:r>
              <a:rPr lang="de-DE" dirty="0" err="1"/>
              <a:t>Compilezeit</a:t>
            </a:r>
            <a:r>
              <a:rPr lang="de-DE" dirty="0"/>
              <a:t>)</a:t>
            </a:r>
          </a:p>
          <a:p>
            <a:r>
              <a:rPr lang="de-DE" dirty="0"/>
              <a:t>Wachsende Abhängigkeiten von Basistechnologien (Applikationsserver, Datenbank, GUI)</a:t>
            </a:r>
          </a:p>
          <a:p>
            <a:r>
              <a:rPr lang="de-DE" dirty="0"/>
              <a:t>Konzeptionelles Chaos (Fehlerbehandlung, </a:t>
            </a:r>
            <a:r>
              <a:rPr lang="de-DE" dirty="0" err="1"/>
              <a:t>Logging</a:t>
            </a:r>
            <a:r>
              <a:rPr lang="de-DE" dirty="0"/>
              <a:t>/</a:t>
            </a:r>
            <a:r>
              <a:rPr lang="de-DE" dirty="0" err="1"/>
              <a:t>Tracing</a:t>
            </a:r>
            <a:r>
              <a:rPr lang="de-DE" dirty="0"/>
              <a:t>, Nebenläufigkeit)</a:t>
            </a:r>
          </a:p>
          <a:p>
            <a:r>
              <a:rPr lang="de-DE" dirty="0"/>
              <a:t>Wachsende Komplexität des Codes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86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So sehen große SW-Systeme oft aus</a:t>
            </a:r>
          </a:p>
        </p:txBody>
      </p:sp>
      <p:pic>
        <p:nvPicPr>
          <p:cNvPr id="867331" name="Picture 3" descr="Shantytow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9550" y="941388"/>
            <a:ext cx="5153025" cy="3225800"/>
          </a:xfrm>
          <a:prstGeom prst="rect">
            <a:avLst/>
          </a:prstGeom>
          <a:noFill/>
        </p:spPr>
      </p:pic>
      <p:sp>
        <p:nvSpPr>
          <p:cNvPr id="8673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365250" y="4556125"/>
            <a:ext cx="7834313" cy="1501775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de-DE" sz="1400"/>
              <a:t>Wachstum nicht geplant und unkontrolliert</a:t>
            </a:r>
          </a:p>
          <a:p>
            <a:pPr>
              <a:lnSpc>
                <a:spcPct val="80000"/>
              </a:lnSpc>
            </a:pPr>
            <a:r>
              <a:rPr lang="de-DE" sz="1400"/>
              <a:t>viele verschiedene „Architekten“ </a:t>
            </a:r>
          </a:p>
          <a:p>
            <a:pPr>
              <a:lnSpc>
                <a:spcPct val="80000"/>
              </a:lnSpc>
            </a:pPr>
            <a:r>
              <a:rPr lang="de-DE" sz="1400"/>
              <a:t>jedes Haus ist anders, viele sind instabil</a:t>
            </a:r>
          </a:p>
          <a:p>
            <a:pPr>
              <a:lnSpc>
                <a:spcPct val="80000"/>
              </a:lnSpc>
            </a:pPr>
            <a:r>
              <a:rPr lang="de-DE" sz="1400"/>
              <a:t>Infrastruktur ist ungenügend oder fehlt.</a:t>
            </a:r>
            <a:endParaRPr lang="de-DE" sz="140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86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265113"/>
            <a:ext cx="7780338" cy="427037"/>
          </a:xfrm>
        </p:spPr>
        <p:txBody>
          <a:bodyPr/>
          <a:lstStyle/>
          <a:p>
            <a:r>
              <a:rPr lang="de-DE" b="1"/>
              <a:t>Ziele von Programmieren 3</a:t>
            </a:r>
          </a:p>
        </p:txBody>
      </p:sp>
      <p:sp>
        <p:nvSpPr>
          <p:cNvPr id="869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988" y="976313"/>
            <a:ext cx="9421812" cy="54229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de-DE" dirty="0"/>
              <a:t>Auf die Details kommt es an!  (</a:t>
            </a:r>
            <a:r>
              <a:rPr lang="de-DE" dirty="0" err="1"/>
              <a:t>equals</a:t>
            </a:r>
            <a:r>
              <a:rPr lang="de-DE" dirty="0"/>
              <a:t>, </a:t>
            </a:r>
            <a:r>
              <a:rPr lang="de-DE" dirty="0" err="1"/>
              <a:t>hashCode</a:t>
            </a:r>
            <a:r>
              <a:rPr lang="de-DE" dirty="0"/>
              <a:t>, </a:t>
            </a:r>
            <a:r>
              <a:rPr lang="de-DE" dirty="0" err="1"/>
              <a:t>toString</a:t>
            </a:r>
            <a:r>
              <a:rPr lang="de-DE" dirty="0"/>
              <a:t>, </a:t>
            </a:r>
            <a:r>
              <a:rPr lang="de-DE" dirty="0" err="1"/>
              <a:t>compareTo</a:t>
            </a:r>
            <a:r>
              <a:rPr lang="de-DE" dirty="0"/>
              <a:t>).</a:t>
            </a:r>
          </a:p>
          <a:p>
            <a:pPr>
              <a:lnSpc>
                <a:spcPct val="90000"/>
              </a:lnSpc>
            </a:pPr>
            <a:r>
              <a:rPr lang="de-DE" dirty="0"/>
              <a:t>Richtige Verwendung vorhandener Algorithmen (z.B. Sortieren, Anagramm)</a:t>
            </a:r>
          </a:p>
          <a:p>
            <a:pPr>
              <a:lnSpc>
                <a:spcPct val="90000"/>
              </a:lnSpc>
            </a:pPr>
            <a:r>
              <a:rPr lang="de-DE" dirty="0" smtClean="0"/>
              <a:t>Wahl </a:t>
            </a:r>
            <a:r>
              <a:rPr lang="de-DE" dirty="0"/>
              <a:t>der richtigen Datenstrukturen (List, Set, </a:t>
            </a:r>
            <a:r>
              <a:rPr lang="de-DE" dirty="0" err="1"/>
              <a:t>Map</a:t>
            </a:r>
            <a:r>
              <a:rPr lang="de-DE" dirty="0"/>
              <a:t>, Intervalle, Index, fachliche Datentypen)</a:t>
            </a:r>
          </a:p>
          <a:p>
            <a:pPr>
              <a:lnSpc>
                <a:spcPct val="90000"/>
              </a:lnSpc>
            </a:pPr>
            <a:r>
              <a:rPr lang="de-DE" dirty="0" smtClean="0"/>
              <a:t>Verwendung </a:t>
            </a:r>
            <a:r>
              <a:rPr lang="de-DE" dirty="0"/>
              <a:t>vorhandener Mikro-Designs (Entwurfsmuster).</a:t>
            </a:r>
          </a:p>
          <a:p>
            <a:pPr>
              <a:lnSpc>
                <a:spcPct val="90000"/>
              </a:lnSpc>
            </a:pPr>
            <a:r>
              <a:rPr lang="de-DE" dirty="0"/>
              <a:t>Entwerfen mit Komponenten und Schnittstellen</a:t>
            </a:r>
          </a:p>
          <a:p>
            <a:pPr>
              <a:lnSpc>
                <a:spcPct val="90000"/>
              </a:lnSpc>
            </a:pPr>
            <a:r>
              <a:rPr lang="de-DE" dirty="0" smtClean="0"/>
              <a:t>Fortgeschrittene </a:t>
            </a:r>
            <a:r>
              <a:rPr lang="de-DE" dirty="0"/>
              <a:t>Programmierkonzepte (Threads, </a:t>
            </a:r>
            <a:r>
              <a:rPr lang="de-DE" dirty="0" err="1" smtClean="0"/>
              <a:t>Generics</a:t>
            </a:r>
            <a:r>
              <a:rPr lang="de-DE" dirty="0" smtClean="0"/>
              <a:t>, Funktionale </a:t>
            </a:r>
            <a:r>
              <a:rPr lang="de-DE" dirty="0"/>
              <a:t>Programmierung, </a:t>
            </a:r>
            <a:r>
              <a:rPr lang="de-DE" dirty="0" smtClean="0"/>
              <a:t>Annotationen, Ausnahmebehandlung </a:t>
            </a:r>
            <a:r>
              <a:rPr lang="de-DE" dirty="0"/>
              <a:t>auf Komponentenebene)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Inhalt Programmieren 3</a:t>
            </a:r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988" y="960438"/>
            <a:ext cx="9421812" cy="50752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de-DE" sz="1800" dirty="0"/>
              <a:t>Kapitel 1:	</a:t>
            </a:r>
            <a:r>
              <a:rPr lang="de-DE" sz="1800" dirty="0" smtClean="0"/>
              <a:t>	</a:t>
            </a:r>
            <a:r>
              <a:rPr lang="de-DE" sz="1800" dirty="0" err="1" smtClean="0"/>
              <a:t>Generics</a:t>
            </a:r>
            <a:endParaRPr lang="de-DE" sz="1800" dirty="0"/>
          </a:p>
          <a:p>
            <a:pPr>
              <a:lnSpc>
                <a:spcPct val="90000"/>
              </a:lnSpc>
            </a:pPr>
            <a:r>
              <a:rPr lang="de-DE" sz="1800" dirty="0"/>
              <a:t>Kapitel 2:	</a:t>
            </a:r>
            <a:r>
              <a:rPr lang="de-DE" sz="1800" dirty="0" smtClean="0"/>
              <a:t>	Klassen und Schnittstellen</a:t>
            </a:r>
            <a:endParaRPr lang="de-DE" sz="1800" dirty="0"/>
          </a:p>
          <a:p>
            <a:pPr>
              <a:lnSpc>
                <a:spcPct val="90000"/>
              </a:lnSpc>
            </a:pPr>
            <a:r>
              <a:rPr lang="de-DE" sz="1800" dirty="0" smtClean="0"/>
              <a:t>Kapitel 3:	</a:t>
            </a:r>
            <a:r>
              <a:rPr lang="de-DE" sz="1800" dirty="0"/>
              <a:t>	</a:t>
            </a:r>
            <a:r>
              <a:rPr lang="de-DE" sz="1800" dirty="0" smtClean="0"/>
              <a:t>Entwurfsmuster</a:t>
            </a:r>
            <a:endParaRPr lang="de-DE" sz="1800" dirty="0"/>
          </a:p>
          <a:p>
            <a:pPr>
              <a:lnSpc>
                <a:spcPct val="90000"/>
              </a:lnSpc>
            </a:pPr>
            <a:r>
              <a:rPr lang="de-DE" sz="1800" dirty="0"/>
              <a:t>Kapitel </a:t>
            </a:r>
            <a:r>
              <a:rPr lang="de-DE" sz="1800" dirty="0" smtClean="0"/>
              <a:t>4:	</a:t>
            </a:r>
            <a:r>
              <a:rPr lang="de-DE" sz="1800" dirty="0"/>
              <a:t>	</a:t>
            </a:r>
            <a:r>
              <a:rPr lang="de-DE" sz="1800" dirty="0" smtClean="0"/>
              <a:t>Komponenten und Schnittstellen </a:t>
            </a:r>
            <a:endParaRPr lang="de-DE" sz="1800" dirty="0"/>
          </a:p>
          <a:p>
            <a:pPr>
              <a:lnSpc>
                <a:spcPct val="90000"/>
              </a:lnSpc>
            </a:pPr>
            <a:r>
              <a:rPr lang="de-DE" sz="1800" dirty="0" smtClean="0"/>
              <a:t>Kapitel 5: 	Anwendungsprogrammierung</a:t>
            </a:r>
            <a:endParaRPr lang="de-DE" sz="1800" dirty="0"/>
          </a:p>
          <a:p>
            <a:pPr>
              <a:lnSpc>
                <a:spcPct val="90000"/>
              </a:lnSpc>
            </a:pPr>
            <a:r>
              <a:rPr lang="de-DE" sz="1800" dirty="0"/>
              <a:t>Kapitel </a:t>
            </a:r>
            <a:r>
              <a:rPr lang="de-DE" sz="1800" dirty="0" smtClean="0"/>
              <a:t>6:</a:t>
            </a:r>
            <a:r>
              <a:rPr lang="de-DE" sz="1800" dirty="0"/>
              <a:t>	</a:t>
            </a:r>
            <a:r>
              <a:rPr lang="de-DE" sz="1800" dirty="0" smtClean="0"/>
              <a:t>	Fehler und Ausnahmen</a:t>
            </a:r>
          </a:p>
          <a:p>
            <a:pPr>
              <a:lnSpc>
                <a:spcPct val="90000"/>
              </a:lnSpc>
            </a:pPr>
            <a:r>
              <a:rPr lang="de-DE" sz="1800" dirty="0" smtClean="0"/>
              <a:t>Kapitel 7:  	Threads</a:t>
            </a:r>
          </a:p>
          <a:p>
            <a:pPr>
              <a:lnSpc>
                <a:spcPct val="90000"/>
              </a:lnSpc>
            </a:pPr>
            <a:r>
              <a:rPr lang="de-DE" sz="1800" dirty="0" smtClean="0"/>
              <a:t>Kapitel 8:		Annotationen 	</a:t>
            </a:r>
          </a:p>
          <a:p>
            <a:pPr>
              <a:lnSpc>
                <a:spcPct val="90000"/>
              </a:lnSpc>
            </a:pPr>
            <a:r>
              <a:rPr lang="de-DE" sz="1800" dirty="0" smtClean="0"/>
              <a:t>Kapitel 9:		Antipatterns (Gruselkabinett)</a:t>
            </a:r>
            <a:endParaRPr lang="de-DE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Literatur (1)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988" y="1060450"/>
            <a:ext cx="9421812" cy="5137150"/>
          </a:xfrm>
        </p:spPr>
        <p:txBody>
          <a:bodyPr/>
          <a:lstStyle/>
          <a:p>
            <a:r>
              <a:rPr lang="de-DE" sz="1600" dirty="0"/>
              <a:t>Joshua Bloch: Effektiv Java programmieren,  Addison Wesley (2008)</a:t>
            </a:r>
          </a:p>
          <a:p>
            <a:r>
              <a:rPr lang="de-DE" sz="1600" dirty="0"/>
              <a:t>Robert C. Martin: Clean Code, </a:t>
            </a:r>
            <a:r>
              <a:rPr lang="de-DE" sz="1600" dirty="0" err="1"/>
              <a:t>mitp</a:t>
            </a:r>
            <a:r>
              <a:rPr lang="de-DE" sz="1600" dirty="0"/>
              <a:t> (2009)</a:t>
            </a:r>
          </a:p>
          <a:p>
            <a:r>
              <a:rPr lang="de-DE" sz="1600" dirty="0" smtClean="0"/>
              <a:t>Andrew </a:t>
            </a:r>
            <a:r>
              <a:rPr lang="de-DE" sz="1600" dirty="0" err="1"/>
              <a:t>Hunt</a:t>
            </a:r>
            <a:r>
              <a:rPr lang="de-DE" sz="1600" dirty="0"/>
              <a:t>, David Thomas: Der pragmatische Programmierer, Hanser Verlag (2003)</a:t>
            </a:r>
          </a:p>
          <a:p>
            <a:pPr>
              <a:lnSpc>
                <a:spcPct val="90000"/>
              </a:lnSpc>
            </a:pPr>
            <a:r>
              <a:rPr lang="de-DE" sz="1600" dirty="0" smtClean="0"/>
              <a:t>Johannes </a:t>
            </a:r>
            <a:r>
              <a:rPr lang="de-DE" sz="1600" dirty="0" err="1"/>
              <a:t>Siedersleben</a:t>
            </a:r>
            <a:r>
              <a:rPr lang="de-DE" sz="1600" dirty="0"/>
              <a:t>: Moderne Softwarearchitektur, </a:t>
            </a:r>
            <a:r>
              <a:rPr lang="de-DE" sz="1600" dirty="0" err="1"/>
              <a:t>dpunkt.verlag</a:t>
            </a:r>
            <a:r>
              <a:rPr lang="de-DE" sz="1600" dirty="0"/>
              <a:t> (2004)</a:t>
            </a:r>
          </a:p>
          <a:p>
            <a:pPr>
              <a:lnSpc>
                <a:spcPct val="90000"/>
              </a:lnSpc>
            </a:pPr>
            <a:r>
              <a:rPr lang="de-DE" sz="1600" dirty="0" smtClean="0"/>
              <a:t>Martin Fowler: </a:t>
            </a:r>
            <a:r>
              <a:rPr lang="de-DE" sz="1600" dirty="0" err="1" smtClean="0"/>
              <a:t>Refactoring</a:t>
            </a:r>
            <a:r>
              <a:rPr lang="de-DE" sz="1600" dirty="0" smtClean="0"/>
              <a:t>, Addison Wesley (1999)</a:t>
            </a:r>
          </a:p>
          <a:p>
            <a:pPr>
              <a:lnSpc>
                <a:spcPct val="90000"/>
              </a:lnSpc>
            </a:pPr>
            <a:r>
              <a:rPr lang="de-DE" sz="1600" dirty="0" err="1" smtClean="0"/>
              <a:t>Liquori</a:t>
            </a:r>
            <a:r>
              <a:rPr lang="de-DE" sz="1600" dirty="0" smtClean="0"/>
              <a:t>, R., </a:t>
            </a:r>
            <a:r>
              <a:rPr lang="de-DE" sz="1600" dirty="0" err="1" smtClean="0"/>
              <a:t>Liquori</a:t>
            </a:r>
            <a:r>
              <a:rPr lang="de-DE" sz="1600" dirty="0" smtClean="0"/>
              <a:t> P. und Schulten L.: Java kurz und gut. </a:t>
            </a:r>
            <a:r>
              <a:rPr lang="de-DE" sz="1600" dirty="0" err="1" smtClean="0"/>
              <a:t>O‘Reilly</a:t>
            </a:r>
            <a:r>
              <a:rPr lang="de-DE" sz="1600" dirty="0" smtClean="0"/>
              <a:t> (2008)</a:t>
            </a:r>
            <a:endParaRPr lang="de-DE" sz="1600" dirty="0"/>
          </a:p>
          <a:p>
            <a:pPr>
              <a:lnSpc>
                <a:spcPct val="90000"/>
              </a:lnSpc>
            </a:pPr>
            <a:r>
              <a:rPr lang="de-DE" sz="1600" dirty="0"/>
              <a:t>Johannes Nowak: Fortgeschrittene Programmierung mit Java 5, </a:t>
            </a:r>
            <a:r>
              <a:rPr lang="de-DE" sz="1600" dirty="0" err="1" smtClean="0"/>
              <a:t>dpunkt.verlag</a:t>
            </a:r>
            <a:r>
              <a:rPr lang="de-DE" sz="1600" dirty="0" smtClean="0"/>
              <a:t> (2004)</a:t>
            </a:r>
          </a:p>
          <a:p>
            <a:pPr>
              <a:lnSpc>
                <a:spcPct val="90000"/>
              </a:lnSpc>
            </a:pPr>
            <a:r>
              <a:rPr lang="de-DE" sz="1600" dirty="0" smtClean="0">
                <a:solidFill>
                  <a:schemeClr val="tx1"/>
                </a:solidFill>
              </a:rPr>
              <a:t>Louis, D., Müller P.: Das Java 6-Codebook, Addison-Wesley (2008)</a:t>
            </a:r>
          </a:p>
          <a:p>
            <a:pPr>
              <a:lnSpc>
                <a:spcPct val="90000"/>
              </a:lnSpc>
            </a:pPr>
            <a:r>
              <a:rPr lang="de-DE" sz="1600" dirty="0" err="1" smtClean="0">
                <a:solidFill>
                  <a:schemeClr val="tx1"/>
                </a:solidFill>
              </a:rPr>
              <a:t>Schiedermeier</a:t>
            </a:r>
            <a:r>
              <a:rPr lang="de-DE" sz="1600" dirty="0" smtClean="0">
                <a:solidFill>
                  <a:schemeClr val="tx1"/>
                </a:solidFill>
              </a:rPr>
              <a:t>, R, Köhler, K.: Das Java-Praktikum, </a:t>
            </a:r>
            <a:r>
              <a:rPr lang="de-DE" sz="1600" dirty="0" err="1" smtClean="0">
                <a:solidFill>
                  <a:schemeClr val="tx1"/>
                </a:solidFill>
              </a:rPr>
              <a:t>dpunkt.verlag</a:t>
            </a:r>
            <a:r>
              <a:rPr lang="de-DE" sz="1600" dirty="0" smtClean="0">
                <a:solidFill>
                  <a:schemeClr val="tx1"/>
                </a:solidFill>
              </a:rPr>
              <a:t> (2008)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de-DE" sz="1600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de-DE" sz="18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6328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Literatur (2)</a:t>
            </a:r>
          </a:p>
        </p:txBody>
      </p:sp>
      <p:sp>
        <p:nvSpPr>
          <p:cNvPr id="6328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80988" y="1060450"/>
            <a:ext cx="9421812" cy="4773613"/>
          </a:xfrm>
        </p:spPr>
        <p:txBody>
          <a:bodyPr/>
          <a:lstStyle/>
          <a:p>
            <a:r>
              <a:rPr lang="de-DE" sz="1600" dirty="0" smtClean="0"/>
              <a:t>Freeman, Freeman, Sierra: Entwurfsmuster von Kopf bis Fuß, </a:t>
            </a:r>
            <a:r>
              <a:rPr lang="de-DE" sz="1600" dirty="0" err="1" smtClean="0"/>
              <a:t>O'Reilly</a:t>
            </a:r>
            <a:r>
              <a:rPr lang="de-DE" sz="1600" dirty="0" smtClean="0"/>
              <a:t> (2005)</a:t>
            </a:r>
          </a:p>
          <a:p>
            <a:r>
              <a:rPr lang="de-DE" sz="1600" dirty="0" smtClean="0"/>
              <a:t>Martin </a:t>
            </a:r>
            <a:r>
              <a:rPr lang="de-DE" sz="1600" dirty="0"/>
              <a:t>Fowler: Patterns für Enterprise </a:t>
            </a:r>
            <a:r>
              <a:rPr lang="de-DE" sz="1600" dirty="0" err="1"/>
              <a:t>Application</a:t>
            </a:r>
            <a:r>
              <a:rPr lang="de-DE" sz="1600" dirty="0"/>
              <a:t>-Architekturen, </a:t>
            </a:r>
            <a:r>
              <a:rPr lang="de-DE" sz="1600" dirty="0" err="1"/>
              <a:t>mitp</a:t>
            </a:r>
            <a:r>
              <a:rPr lang="de-DE" sz="1600" dirty="0"/>
              <a:t> </a:t>
            </a:r>
            <a:r>
              <a:rPr lang="de-DE" sz="1600" dirty="0" smtClean="0"/>
              <a:t>Verlag (2003)</a:t>
            </a:r>
          </a:p>
          <a:p>
            <a:r>
              <a:rPr lang="de-DE" sz="1600" dirty="0" smtClean="0"/>
              <a:t>William J. Brown et al.: AntiPatterns, </a:t>
            </a:r>
            <a:r>
              <a:rPr lang="de-DE" sz="1600" dirty="0" err="1" smtClean="0"/>
              <a:t>mitp</a:t>
            </a:r>
            <a:r>
              <a:rPr lang="de-DE" sz="1600" dirty="0" smtClean="0"/>
              <a:t> Verlag (2007)</a:t>
            </a:r>
          </a:p>
          <a:p>
            <a:r>
              <a:rPr lang="de-DE" sz="1600" dirty="0" smtClean="0"/>
              <a:t>Erich </a:t>
            </a:r>
            <a:r>
              <a:rPr lang="de-DE" sz="1600" dirty="0"/>
              <a:t>Gamma et al.: Entwurfsmuster, </a:t>
            </a:r>
            <a:r>
              <a:rPr lang="de-DE" sz="1600" dirty="0" smtClean="0"/>
              <a:t>Addison-Wesley (1994)</a:t>
            </a:r>
            <a:endParaRPr lang="de-DE" sz="1600" dirty="0"/>
          </a:p>
          <a:p>
            <a:r>
              <a:rPr lang="de-DE" sz="1600" dirty="0" smtClean="0"/>
              <a:t>UML </a:t>
            </a:r>
            <a:r>
              <a:rPr lang="de-DE" sz="1600" dirty="0"/>
              <a:t>2 glasklar, </a:t>
            </a:r>
            <a:r>
              <a:rPr lang="de-DE" sz="1600" dirty="0" err="1"/>
              <a:t>Jeckle</a:t>
            </a:r>
            <a:r>
              <a:rPr lang="de-DE" sz="1600" dirty="0"/>
              <a:t>, Rupp, Hahn, </a:t>
            </a:r>
            <a:r>
              <a:rPr lang="de-DE" sz="1600" dirty="0" err="1"/>
              <a:t>Zengler</a:t>
            </a:r>
            <a:r>
              <a:rPr lang="de-DE" sz="1600" dirty="0"/>
              <a:t>, </a:t>
            </a:r>
            <a:r>
              <a:rPr lang="de-DE" sz="1600" dirty="0" err="1"/>
              <a:t>Queins</a:t>
            </a:r>
            <a:r>
              <a:rPr lang="de-DE" sz="1600" dirty="0"/>
              <a:t>, </a:t>
            </a:r>
            <a:r>
              <a:rPr lang="de-DE" sz="1600" dirty="0" err="1" smtClean="0"/>
              <a:t>dpunkt.verlag</a:t>
            </a:r>
            <a:r>
              <a:rPr lang="de-DE" sz="1600" dirty="0" smtClean="0"/>
              <a:t> (2007)</a:t>
            </a:r>
          </a:p>
          <a:p>
            <a:pPr>
              <a:lnSpc>
                <a:spcPct val="90000"/>
              </a:lnSpc>
            </a:pPr>
            <a:endParaRPr lang="de-DE" sz="16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de-DE" sz="1600" dirty="0">
                <a:solidFill>
                  <a:schemeClr val="tx1"/>
                </a:solidFill>
              </a:rPr>
              <a:t>http://</a:t>
            </a:r>
            <a:r>
              <a:rPr lang="de-DE" sz="1600" dirty="0" smtClean="0">
                <a:solidFill>
                  <a:schemeClr val="tx1"/>
                </a:solidFill>
              </a:rPr>
              <a:t>java.oracle.com  </a:t>
            </a:r>
            <a:r>
              <a:rPr lang="de-DE" sz="1600" dirty="0"/>
              <a:t>insbesondere </a:t>
            </a:r>
            <a:r>
              <a:rPr lang="de-DE" sz="1600" dirty="0">
                <a:solidFill>
                  <a:schemeClr val="accent2"/>
                </a:solidFill>
                <a:hlinkClick r:id="rId3"/>
              </a:rPr>
              <a:t>http://</a:t>
            </a:r>
            <a:r>
              <a:rPr lang="de-DE" sz="1600" dirty="0" smtClean="0">
                <a:solidFill>
                  <a:schemeClr val="accent2"/>
                </a:solidFill>
                <a:hlinkClick r:id="rId3"/>
              </a:rPr>
              <a:t>java.oracle.com/docs/books</a:t>
            </a:r>
            <a:r>
              <a:rPr lang="de-DE" sz="1600" dirty="0">
                <a:solidFill>
                  <a:schemeClr val="accent2"/>
                </a:solidFill>
                <a:hlinkClick r:id="rId3"/>
              </a:rPr>
              <a:t>/</a:t>
            </a:r>
            <a:endParaRPr lang="de-DE" sz="1600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r>
              <a:rPr lang="de-DE" sz="1600" dirty="0" err="1">
                <a:cs typeface="Arial" charset="0"/>
              </a:rPr>
              <a:t>Ullenboom</a:t>
            </a:r>
            <a:r>
              <a:rPr lang="de-DE" sz="1600" dirty="0">
                <a:cs typeface="Arial" charset="0"/>
              </a:rPr>
              <a:t>, </a:t>
            </a:r>
            <a:r>
              <a:rPr lang="de-DE" sz="1600" dirty="0" err="1">
                <a:cs typeface="Arial" charset="0"/>
              </a:rPr>
              <a:t>Ch</a:t>
            </a:r>
            <a:r>
              <a:rPr lang="de-DE" sz="1600" dirty="0">
                <a:cs typeface="Arial" charset="0"/>
              </a:rPr>
              <a:t>.: Java ist auch eine Insel </a:t>
            </a:r>
            <a:r>
              <a:rPr lang="de-DE" sz="1600" dirty="0" smtClean="0">
                <a:solidFill>
                  <a:schemeClr val="accent2"/>
                </a:solidFill>
                <a:hlinkClick r:id="rId4"/>
              </a:rPr>
              <a:t>www.galileocomputing.de/openbook/javainsel/</a:t>
            </a:r>
            <a:r>
              <a:rPr lang="de-DE" sz="1600" dirty="0" smtClean="0">
                <a:solidFill>
                  <a:schemeClr val="accent2"/>
                </a:solidFill>
              </a:rPr>
              <a:t>   </a:t>
            </a:r>
            <a:r>
              <a:rPr lang="de-DE" sz="1600" dirty="0">
                <a:solidFill>
                  <a:schemeClr val="tx1"/>
                </a:solidFill>
              </a:rPr>
              <a:t>(</a:t>
            </a:r>
            <a:r>
              <a:rPr lang="de-DE" sz="1600" dirty="0" smtClean="0">
                <a:solidFill>
                  <a:schemeClr val="tx1"/>
                </a:solidFill>
              </a:rPr>
              <a:t>2011)</a:t>
            </a:r>
            <a:endParaRPr lang="de-DE" sz="16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de-DE" sz="1600" dirty="0"/>
              <a:t>Guido Krüger:</a:t>
            </a:r>
            <a:br>
              <a:rPr lang="de-DE" sz="1600" dirty="0"/>
            </a:br>
            <a:r>
              <a:rPr lang="de-DE" sz="1600" dirty="0"/>
              <a:t>Handbuch der Java-Programmierung, Addison Wesley,  </a:t>
            </a:r>
            <a:r>
              <a:rPr lang="de-DE" sz="1600" dirty="0">
                <a:solidFill>
                  <a:schemeClr val="accent2"/>
                </a:solidFill>
                <a:hlinkClick r:id="rId5"/>
              </a:rPr>
              <a:t>http://www.javabuch.de</a:t>
            </a:r>
            <a:r>
              <a:rPr lang="de-DE" sz="1600" dirty="0">
                <a:solidFill>
                  <a:schemeClr val="accent2"/>
                </a:solidFill>
              </a:rPr>
              <a:t>  </a:t>
            </a:r>
            <a:r>
              <a:rPr lang="de-DE" sz="1600" dirty="0" smtClean="0">
                <a:solidFill>
                  <a:schemeClr val="tx1"/>
                </a:solidFill>
              </a:rPr>
              <a:t>(2015)</a:t>
            </a:r>
            <a:endParaRPr lang="de-DE" sz="1600" dirty="0">
              <a:solidFill>
                <a:schemeClr val="tx1"/>
              </a:solidFill>
            </a:endParaRPr>
          </a:p>
          <a:p>
            <a:endParaRPr lang="de-DE" sz="1600" dirty="0"/>
          </a:p>
          <a:p>
            <a:endParaRPr lang="de-DE" sz="1600" dirty="0">
              <a:solidFill>
                <a:schemeClr val="accent2"/>
              </a:solidFill>
            </a:endParaRPr>
          </a:p>
          <a:p>
            <a:pPr>
              <a:buFont typeface="Wingdings" pitchFamily="2" charset="2"/>
              <a:buNone/>
            </a:pPr>
            <a:endParaRPr lang="de-DE" sz="16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610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SEU / IDE</a:t>
            </a:r>
          </a:p>
        </p:txBody>
      </p:sp>
      <p:sp>
        <p:nvSpPr>
          <p:cNvPr id="610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988" y="1060450"/>
            <a:ext cx="9421812" cy="4673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de-DE" sz="1800" dirty="0">
                <a:solidFill>
                  <a:schemeClr val="tx1"/>
                </a:solidFill>
              </a:rPr>
              <a:t>Software-Entwicklungsumgebung(SEU)/ </a:t>
            </a:r>
            <a:r>
              <a:rPr lang="en-US" sz="1800" dirty="0">
                <a:solidFill>
                  <a:schemeClr val="tx1"/>
                </a:solidFill>
              </a:rPr>
              <a:t>Integrated Development Environment</a:t>
            </a:r>
            <a:r>
              <a:rPr lang="de-DE" sz="1800" dirty="0">
                <a:solidFill>
                  <a:schemeClr val="tx1"/>
                </a:solidFill>
              </a:rPr>
              <a:t> (IDE), z.B.</a:t>
            </a:r>
          </a:p>
          <a:p>
            <a:pPr>
              <a:spcBef>
                <a:spcPct val="50000"/>
              </a:spcBef>
            </a:pPr>
            <a:r>
              <a:rPr lang="de-DE" sz="1800" dirty="0" err="1">
                <a:solidFill>
                  <a:schemeClr val="tx1"/>
                </a:solidFill>
              </a:rPr>
              <a:t>Eclipse</a:t>
            </a:r>
            <a:r>
              <a:rPr lang="de-DE" sz="1800" dirty="0">
                <a:solidFill>
                  <a:schemeClr val="tx1"/>
                </a:solidFill>
              </a:rPr>
              <a:t>: </a:t>
            </a:r>
            <a:r>
              <a:rPr lang="de-DE" sz="1800" dirty="0">
                <a:solidFill>
                  <a:schemeClr val="accent2"/>
                </a:solidFill>
              </a:rPr>
              <a:t>http://www.eclipse.org/</a:t>
            </a:r>
          </a:p>
          <a:p>
            <a:pPr>
              <a:spcBef>
                <a:spcPct val="50000"/>
              </a:spcBef>
            </a:pPr>
            <a:r>
              <a:rPr lang="de-DE" sz="1800" dirty="0" err="1" smtClean="0"/>
              <a:t>Netbeans</a:t>
            </a:r>
            <a:r>
              <a:rPr lang="de-DE" sz="1800" dirty="0" smtClean="0"/>
              <a:t>:  </a:t>
            </a:r>
            <a:r>
              <a:rPr lang="de-DE" sz="1800" dirty="0" smtClean="0">
                <a:solidFill>
                  <a:schemeClr val="accent2"/>
                </a:solidFill>
              </a:rPr>
              <a:t>http://</a:t>
            </a:r>
            <a:r>
              <a:rPr lang="de-DE" sz="1800" dirty="0">
                <a:solidFill>
                  <a:schemeClr val="accent2"/>
                </a:solidFill>
              </a:rPr>
              <a:t>netbeans.org/</a:t>
            </a:r>
          </a:p>
          <a:p>
            <a:pPr>
              <a:spcBef>
                <a:spcPct val="50000"/>
              </a:spcBef>
            </a:pPr>
            <a:r>
              <a:rPr lang="de-DE" sz="1800" dirty="0" smtClean="0">
                <a:solidFill>
                  <a:schemeClr val="tx1"/>
                </a:solidFill>
              </a:rPr>
              <a:t>weitere</a:t>
            </a:r>
            <a:r>
              <a:rPr lang="de-DE" sz="1800" dirty="0">
                <a:solidFill>
                  <a:schemeClr val="tx1"/>
                </a:solidFill>
              </a:rPr>
              <a:t>, z.B. </a:t>
            </a:r>
            <a:r>
              <a:rPr lang="de-DE" sz="1800" dirty="0" err="1" smtClean="0">
                <a:solidFill>
                  <a:schemeClr val="tx1"/>
                </a:solidFill>
              </a:rPr>
              <a:t>IntelliJ</a:t>
            </a:r>
            <a:r>
              <a:rPr lang="de-DE" sz="1800" dirty="0" smtClean="0">
                <a:solidFill>
                  <a:schemeClr val="tx1"/>
                </a:solidFill>
              </a:rPr>
              <a:t>, </a:t>
            </a:r>
            <a:r>
              <a:rPr lang="de-DE" sz="1800" dirty="0">
                <a:solidFill>
                  <a:schemeClr val="tx1"/>
                </a:solidFill>
              </a:rPr>
              <a:t>…</a:t>
            </a:r>
          </a:p>
          <a:p>
            <a:pPr>
              <a:buFont typeface="Wingdings" pitchFamily="2" charset="2"/>
              <a:buNone/>
            </a:pPr>
            <a:r>
              <a:rPr lang="de-DE" sz="1800" dirty="0">
                <a:solidFill>
                  <a:schemeClr val="tx1"/>
                </a:solidFill>
              </a:rPr>
              <a:t>Die SEU / IDE bietet vielseitige Unterstützung: </a:t>
            </a:r>
          </a:p>
          <a:p>
            <a:pPr>
              <a:spcBef>
                <a:spcPct val="50000"/>
              </a:spcBef>
            </a:pPr>
            <a:r>
              <a:rPr lang="de-DE" sz="1800" dirty="0">
                <a:solidFill>
                  <a:schemeClr val="tx1"/>
                </a:solidFill>
              </a:rPr>
              <a:t>Code-Vervollständigung und Code-Generierung (z.B. durch </a:t>
            </a:r>
            <a:r>
              <a:rPr lang="de-DE" sz="1800" dirty="0" err="1">
                <a:solidFill>
                  <a:schemeClr val="tx1"/>
                </a:solidFill>
              </a:rPr>
              <a:t>stubs</a:t>
            </a:r>
            <a:r>
              <a:rPr lang="de-DE" sz="1800" dirty="0">
                <a:solidFill>
                  <a:schemeClr val="tx1"/>
                </a:solidFill>
              </a:rPr>
              <a:t> oder </a:t>
            </a:r>
            <a:r>
              <a:rPr lang="de-DE" sz="1800" dirty="0" err="1">
                <a:solidFill>
                  <a:schemeClr val="tx1"/>
                </a:solidFill>
              </a:rPr>
              <a:t>import</a:t>
            </a:r>
            <a:r>
              <a:rPr lang="de-DE" sz="18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de-DE" sz="1800" dirty="0">
                <a:solidFill>
                  <a:schemeClr val="tx1"/>
                </a:solidFill>
              </a:rPr>
              <a:t>Formatierung des Quellcodes</a:t>
            </a:r>
          </a:p>
          <a:p>
            <a:pPr>
              <a:spcBef>
                <a:spcPct val="50000"/>
              </a:spcBef>
            </a:pPr>
            <a:r>
              <a:rPr lang="de-DE" sz="1800" dirty="0">
                <a:solidFill>
                  <a:schemeClr val="tx1"/>
                </a:solidFill>
              </a:rPr>
              <a:t>Generierung von Kommentarzeilen (</a:t>
            </a:r>
            <a:r>
              <a:rPr lang="de-DE" sz="1800" dirty="0" err="1">
                <a:solidFill>
                  <a:schemeClr val="tx1"/>
                </a:solidFill>
              </a:rPr>
              <a:t>JavaDoc</a:t>
            </a:r>
            <a:r>
              <a:rPr lang="de-DE" sz="1800" dirty="0">
                <a:solidFill>
                  <a:schemeClr val="tx1"/>
                </a:solidFill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de-DE" sz="1800" dirty="0">
                <a:solidFill>
                  <a:schemeClr val="tx1"/>
                </a:solidFill>
              </a:rPr>
              <a:t>DEBUG</a:t>
            </a:r>
          </a:p>
          <a:p>
            <a:pPr>
              <a:spcBef>
                <a:spcPct val="50000"/>
              </a:spcBef>
            </a:pPr>
            <a:r>
              <a:rPr lang="de-DE" sz="1800" dirty="0">
                <a:solidFill>
                  <a:schemeClr val="tx1"/>
                </a:solidFill>
              </a:rPr>
              <a:t>Tests mit </a:t>
            </a:r>
            <a:r>
              <a:rPr lang="de-DE" sz="1800" dirty="0" err="1">
                <a:solidFill>
                  <a:schemeClr val="tx1"/>
                </a:solidFill>
              </a:rPr>
              <a:t>JUnit</a:t>
            </a:r>
            <a:endParaRPr lang="de-DE" sz="1800" dirty="0">
              <a:solidFill>
                <a:schemeClr val="tx1"/>
              </a:solidFill>
            </a:endParaRPr>
          </a:p>
          <a:p>
            <a:pPr>
              <a:spcBef>
                <a:spcPct val="50000"/>
              </a:spcBef>
            </a:pPr>
            <a:r>
              <a:rPr lang="de-DE" sz="1800" dirty="0">
                <a:solidFill>
                  <a:schemeClr val="tx1"/>
                </a:solidFill>
              </a:rPr>
              <a:t>systematische Änderungen durch "</a:t>
            </a:r>
            <a:r>
              <a:rPr lang="de-DE" sz="1800" dirty="0" err="1">
                <a:solidFill>
                  <a:schemeClr val="tx1"/>
                </a:solidFill>
              </a:rPr>
              <a:t>Refactor</a:t>
            </a:r>
            <a:r>
              <a:rPr lang="de-DE" sz="1800" dirty="0">
                <a:solidFill>
                  <a:schemeClr val="tx1"/>
                </a:solidFill>
              </a:rPr>
              <a:t>"</a:t>
            </a:r>
          </a:p>
          <a:p>
            <a:pPr>
              <a:spcBef>
                <a:spcPct val="50000"/>
              </a:spcBef>
            </a:pPr>
            <a:endParaRPr lang="de-DE" sz="18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 smtClean="0"/>
              <a:t>Farbcode</a:t>
            </a:r>
            <a:endParaRPr lang="de-DE" b="1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dirty="0" smtClean="0"/>
              <a:t>Martin Binder      FH Rosenheim                           Programmieren 3                   Wintersemester 2015                                   © 2015  • Stand 01.10.13 •          Einleitung          </a:t>
            </a:r>
            <a:endParaRPr lang="en-GB" sz="1000" dirty="0"/>
          </a:p>
        </p:txBody>
      </p:sp>
      <p:sp>
        <p:nvSpPr>
          <p:cNvPr id="5" name="Textfeld 4"/>
          <p:cNvSpPr txBox="1"/>
          <p:nvPr/>
        </p:nvSpPr>
        <p:spPr>
          <a:xfrm>
            <a:off x="468923" y="1770184"/>
            <a:ext cx="3845170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2000" dirty="0" smtClean="0">
                <a:latin typeface="+mj-lt"/>
              </a:rPr>
              <a:t>Blau = Schnittstelle (Interface)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457201" y="2520461"/>
            <a:ext cx="3845170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de-DE" sz="2000" dirty="0" smtClean="0">
                <a:latin typeface="+mj-lt"/>
              </a:rPr>
              <a:t>Gelb = Klasse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492369" y="3329353"/>
            <a:ext cx="3845170" cy="404663"/>
          </a:xfrm>
          <a:prstGeom prst="rect">
            <a:avLst/>
          </a:prstGeom>
          <a:solidFill>
            <a:srgbClr val="66FF99"/>
          </a:solidFill>
        </p:spPr>
        <p:txBody>
          <a:bodyPr wrap="square" rtlCol="0">
            <a:spAutoFit/>
          </a:bodyPr>
          <a:lstStyle/>
          <a:p>
            <a:r>
              <a:rPr lang="de-DE" sz="2000" dirty="0" smtClean="0">
                <a:latin typeface="+mj-lt"/>
              </a:rPr>
              <a:t>Grün = Anwendung, Testtreiber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rvice_demo">
  <a:themeElements>
    <a:clrScheme name="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C5C1B9"/>
      </a:accent1>
      <a:accent2>
        <a:srgbClr val="0052BA"/>
      </a:accent2>
      <a:accent3>
        <a:srgbClr val="FFFFFF"/>
      </a:accent3>
      <a:accent4>
        <a:srgbClr val="000000"/>
      </a:accent4>
      <a:accent5>
        <a:srgbClr val="DFDDD9"/>
      </a:accent5>
      <a:accent6>
        <a:srgbClr val="0049A8"/>
      </a:accent6>
      <a:hlink>
        <a:srgbClr val="FF0000"/>
      </a:hlink>
      <a:folHlink>
        <a:srgbClr val="FFCC00"/>
      </a:folHlink>
    </a:clrScheme>
    <a:fontScheme name="service_dem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10000"/>
          </a:lnSpc>
          <a:spcBef>
            <a:spcPct val="30000"/>
          </a:spcBef>
          <a:spcAft>
            <a:spcPct val="0"/>
          </a:spcAft>
          <a:buClr>
            <a:srgbClr val="00337F"/>
          </a:buClr>
          <a:buSzPct val="150000"/>
          <a:buFont typeface="Wingdings" pitchFamily="2" charset="2"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ourier New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2075" tIns="46038" rIns="92075" bIns="46038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10000"/>
          </a:lnSpc>
          <a:spcBef>
            <a:spcPct val="30000"/>
          </a:spcBef>
          <a:spcAft>
            <a:spcPct val="0"/>
          </a:spcAft>
          <a:buClr>
            <a:srgbClr val="00337F"/>
          </a:buClr>
          <a:buSzPct val="150000"/>
          <a:buFont typeface="Wingdings" pitchFamily="2" charset="2"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ourier New" pitchFamily="49" charset="0"/>
          </a:defRPr>
        </a:defPPr>
      </a:lstStyle>
    </a:lnDef>
  </a:objectDefaults>
  <a:extraClrSchemeLst>
    <a:extraClrScheme>
      <a:clrScheme name="service_demo 1">
        <a:dk1>
          <a:srgbClr val="5F5F5F"/>
        </a:dk1>
        <a:lt1>
          <a:srgbClr val="FFFFFF"/>
        </a:lt1>
        <a:dk2>
          <a:srgbClr val="000000"/>
        </a:dk2>
        <a:lt2>
          <a:srgbClr val="333333"/>
        </a:lt2>
        <a:accent1>
          <a:srgbClr val="009999"/>
        </a:accent1>
        <a:accent2>
          <a:srgbClr val="0033CC"/>
        </a:accent2>
        <a:accent3>
          <a:srgbClr val="FFFFFF"/>
        </a:accent3>
        <a:accent4>
          <a:srgbClr val="505050"/>
        </a:accent4>
        <a:accent5>
          <a:srgbClr val="AACACA"/>
        </a:accent5>
        <a:accent6>
          <a:srgbClr val="002DB9"/>
        </a:accent6>
        <a:hlink>
          <a:srgbClr val="CC0066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D:\memIQ\Application\Demos\service_demo.pot</Template>
  <TotalTime>0</TotalTime>
  <Words>765</Words>
  <Application>Microsoft Office PowerPoint</Application>
  <PresentationFormat>A4-Papier (210x297 mm)</PresentationFormat>
  <Paragraphs>119</Paragraphs>
  <Slides>12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Arial</vt:lpstr>
      <vt:lpstr>Courier New</vt:lpstr>
      <vt:lpstr>Times</vt:lpstr>
      <vt:lpstr>Wingdings</vt:lpstr>
      <vt:lpstr>Zapf Dingbats</vt:lpstr>
      <vt:lpstr>service_demo</vt:lpstr>
      <vt:lpstr>Programmieren 3</vt:lpstr>
      <vt:lpstr>Organisation</vt:lpstr>
      <vt:lpstr>Inhalte von Programmieren 1 und Programmieren 2</vt:lpstr>
      <vt:lpstr>Motivation für Programmieren 3:  Programmieren von großen Systemen</vt:lpstr>
      <vt:lpstr>Typische Probleme im Programmcode großer Systeme</vt:lpstr>
      <vt:lpstr>So sehen große SW-Systeme oft aus</vt:lpstr>
      <vt:lpstr>Ziele von Programmieren 3</vt:lpstr>
      <vt:lpstr>Inhalt Programmieren 3</vt:lpstr>
      <vt:lpstr>Literatur (1)</vt:lpstr>
      <vt:lpstr>Literatur (2)</vt:lpstr>
      <vt:lpstr>SEU / IDE</vt:lpstr>
      <vt:lpstr>Farbcode</vt:lpstr>
    </vt:vector>
  </TitlesOfParts>
  <Manager/>
  <Company>FH Rosenheim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Programmieren 3</dc:title>
  <dc:creator>Reiner Hüttl;Martin Binder</dc:creator>
  <cp:lastModifiedBy>Martin Binder</cp:lastModifiedBy>
  <cp:revision>643</cp:revision>
  <cp:lastPrinted>1999-09-29T11:43:23Z</cp:lastPrinted>
  <dcterms:created xsi:type="dcterms:W3CDTF">1999-09-08T07:38:49Z</dcterms:created>
  <dcterms:modified xsi:type="dcterms:W3CDTF">2015-10-05T06:22:42Z</dcterms:modified>
</cp:coreProperties>
</file>